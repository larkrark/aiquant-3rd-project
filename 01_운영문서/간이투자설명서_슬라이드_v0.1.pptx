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간이투자설명서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 초안 v0.1 · 성과 항목은 백테스트 완료 후 기입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AI퀀트 3기 3차 프로젝트 · 교육용 제출물 (법정 투자설명서 아님) · 2026-07-22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914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578"/>
          </a:solidFill>
          <a:ln w="9525">
            <a:solidFill>
              <a:srgbClr val="4A5B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59568" y="914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408F"/>
          </a:solidFill>
          <a:ln w="9525">
            <a:solidFill>
              <a:srgbClr val="4A5B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26496" y="914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578"/>
          </a:solidFill>
          <a:ln w="9525">
            <a:solidFill>
              <a:srgbClr val="4A5B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4813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408F"/>
          </a:solidFill>
          <a:ln w="9525">
            <a:solidFill>
              <a:srgbClr val="4A5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59568" y="14813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578"/>
          </a:solidFill>
          <a:ln w="9525">
            <a:solidFill>
              <a:srgbClr val="4A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6496" y="14813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408F"/>
          </a:solidFill>
          <a:ln w="9525">
            <a:solidFill>
              <a:srgbClr val="4A5BB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성격과 체계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 제출물 고지  </a:t>
            </a:r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문서는 자본시장법상 투자설명서·집합투자규약이 아니며, 실제 금융상품의 발행·판매·권유와 무관한 교육용 문서입니다. 본 지수를 추종하는 상품은 가상의 설정입니다.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426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Mandate v0.1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64261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지수의 목적·범위·제약을 규정하는 최상위 설계 문서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75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구성·산출 룰북 v0.3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57530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규칙과 계산 순서를 정의한 구현 문서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079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결정로그 D-01~D-11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450799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팀 결정의 단일 원본 (근거·대안·기각사유 포함)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E7EDFB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간이투자설명서 (본 문서)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54406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문서에서 추출해 상품 관점으로 재구성한 제출물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개요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상품명(가칭)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 인덱스 — 가상 추종상품  [팀 결정]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305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유형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1305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테마형 패시브 커스텀 인덱스 (규칙 기반 · 비개인화)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기초지수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8094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(PR · 원화 · 기준값 1,000)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3133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비교지수(BM)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83133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합성 BM = KOSPI 200 PR + Russell 3000 PR · 지역비중 50:50 연동 · 동일 기준일 리베이스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817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위험등급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681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[백테스트 후 채움 — 변동성 실측 기준]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기준일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5532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[백테스트 후 채움 — 자료 공통 확보 가능한 최초 적용일]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투자목적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공시와 사전 정의한 구성규칙으로 세 테마의 구성과 시장성과를 측정한다.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초과수익 달성이나 가격 예측을 목적으로 하지 않으며, 투명성 · 재현성 · 추종가능성을 우선한다. 동일한 기준일·원자료·규칙 버전에서는 누가 산출해도 같은 구성종목·비중·지수값이 재현된다.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우주·방산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발사체 · 위성 · 군용항공 · 방산 시스템과 전용 핵심부품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32004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99432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AI·로보틱스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소프트웨어 · 협동로봇 · 자동화 · AI 데이터센터 인프라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32004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75904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에너지·전력 인프라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발전설비 · 송배전 · 변압기 · ESS · 전력관리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간 비중 1 : 1 : 1 — 성장전망 등 자의적 판단을 배제한 동등 측정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투자전략 ① — 종목 선정 파이프라인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유니버스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170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상장 적격 보통주 (코스피·코스닥 / 나스닥·NYSE·NYSE American)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2104" y="1755648"/>
            <a:ext cx="0" cy="301752"/>
          </a:xfrm>
          <a:prstGeom prst="line">
            <a:avLst/>
          </a:prstGeom>
          <a:noFill/>
          <a:ln w="19050">
            <a:solidFill>
              <a:srgbClr val="AEB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574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0391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적격성 게이트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03911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원문 기반 판정 · 2인 독립판정 · 출력: 통과 후보/관찰/제외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" y="2624328"/>
            <a:ext cx="0" cy="301752"/>
          </a:xfrm>
          <a:prstGeom prst="line">
            <a:avLst/>
          </a:prstGeom>
          <a:noFill/>
          <a:ln w="19050">
            <a:solidFill>
              <a:srgbClr val="AEB9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9077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충분성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29077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 후 유효관측일수 90일 (시즈닝)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" y="3493008"/>
            <a:ext cx="0" cy="301752"/>
          </a:xfrm>
          <a:prstGeom prst="line">
            <a:avLst/>
          </a:prstGeom>
          <a:noFill/>
          <a:ln w="19050">
            <a:solidFill>
              <a:srgbClr val="AEB9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776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37764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ADTV90 시장별 고정 하한  [하한값: 분포 확인 후]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" y="4361688"/>
            <a:ext cx="0" cy="301752"/>
          </a:xfrm>
          <a:prstGeom prst="line">
            <a:avLst/>
          </a:prstGeom>
          <a:noFill/>
          <a:ln w="19050">
            <a:solidFill>
              <a:srgbClr val="AEB9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6451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신호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97680" y="464515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 명백 부실만 제외 (관리종목·감사의견 거절 등) · 당좌비율은 보조진단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" y="5230368"/>
            <a:ext cx="0" cy="301752"/>
          </a:xfrm>
          <a:prstGeom prst="line">
            <a:avLst/>
          </a:prstGeom>
          <a:noFill/>
          <a:ln w="19050">
            <a:solidFill>
              <a:srgbClr val="AEB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32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532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5513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구성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297680" y="55138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편입·유지 버퍼 · 셀 부족 시 같은 테마 내 재배분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투자전략 ② — 가중 · 정기변경 · 산출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목표비중: 테마 × 지역 6셀, 각 1/6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우주·방산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27248" y="1691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AI·로보틱스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5696" y="1691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에너지·인프라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50%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0" y="2057400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0574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27248" y="2057400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0574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25696" y="2057400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20574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50%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0" y="3081528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081528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127248" y="3081528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3081528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25696" y="3081528"/>
            <a:ext cx="1225296" cy="914400"/>
          </a:xfrm>
          <a:prstGeom prst="roundRect">
            <a:avLst>
              <a:gd name="adj" fmla="val 8000"/>
            </a:avLst>
          </a:prstGeom>
          <a:solidFill>
            <a:srgbClr val="E7EDFB"/>
          </a:solidFill>
          <a:ln w="12700">
            <a:solidFill>
              <a:srgbClr val="C4D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3081528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적격종목 부족 시 같은 테마의 타지역으로 재배분하고 사유를 공시 · BM 지역비중도 동일 연동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11887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316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정기변경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691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단위. 주별 관측 → 자료마감 → 검토기간 → 선정 → 공통 거래주 효력발생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816352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944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수익유형·통화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33192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가격수익지수(PR) · 원화 · 무헤지. 미국 자산과 BM은 한국은행 ECOS 원/달러 환율로 동일 환산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4443984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비교지수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37960" y="494690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합성 BM (KOSPI 200 PR + Russell 3000 PR). 지수와 동일 조건(비중·통화·PR·기준일)으로 산출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PR은 현금배당을 포함하지 않는 한계를 함께 기록한다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투자위험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집중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테마 산업 집중으로 시장 전체 대비 변동성이 클 수 있음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(무헤지)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1144" y="205740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원/달러 변동이 미국 자산 성과에 직접 반영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132588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종목·구성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57616" y="205740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종목 수가 적으면 개별 비중 확대 · 부족 시 지역비중 이탈(공시)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04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43484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구성종목의 거래대금이 얇을 수 있음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370332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3904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특성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443484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수주산업(우주·방산·전력)의 수주 시점별 실적 변동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3703320"/>
            <a:ext cx="3502152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3904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C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방법론·백테스트 한계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7616" y="4434840"/>
            <a:ext cx="2999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PR은 배당 미포함 · 과거 성과는 미래를 보장하지 않음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[백테스트 후 보강 — 최대 낙폭 · 집중도 등 실측 위험 추가]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투자실적 (백테스트)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949440" cy="4754880"/>
          </a:xfrm>
          <a:prstGeom prst="roundRect">
            <a:avLst>
              <a:gd name="adj" fmla="val 2308"/>
            </a:avLst>
          </a:prstGeom>
          <a:solidFill>
            <a:srgbClr val="F4F7FE"/>
          </a:solidFill>
          <a:ln w="15875">
            <a:solidFill>
              <a:srgbClr val="C4D0E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3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[백테스트 완료 후 채움]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vs 공식 합성 BM 성과 · 기간수익률 · 그래프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기준일 · 기준값 1,000 리베이스로 비교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목표비중 분기: 정상상태(50:50) BM 대비 차이 병기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ETF(ARKK·XLU 등)와 구성·노출도·성과특성 비교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확인 후 규칙 무변경 — rule_version·결정로그로 증빙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성과는 미래 성과를 보장하지 않음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· 산출 정보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PR 지수값 · 분기 정기변경 · 산출규칙은 룰북에 공개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305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1305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· KIND · DART (한국) / 거래소 · SEC EDGAR (미국) / 한국은행 ECOS (환율)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8094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접수번호 · 원문 위치 · 검토자까지 기록 · AI는 보조, 최종 판정은 사람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3133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 체계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83133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영구 ID(SEC CIK · DART 고유번호) + 증권 ID의 2층 구조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817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공개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681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 — 방법론 문서 · 결정로그 · 코드 · 문서 위키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5532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입력 → 동일 산출 재현 원칙 · 수기·코드 교차검산  [결과: 백테스트 후 기입]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 · 간이투자설명서 골격 v0.1 (교육용)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유의사항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지수는 매수·매도 시점이나 가격 방향을 제시하지 않으며 투자자별 자산배분을 수행하지 않는다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변경은 결정로그에 사유·효력발생일과 함께 기록되며, 성과 확인 후 유리한 사후 변경은 금지된다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적격종목 부족으로 인한 지역비중 이탈은 사유코드와 함께 공시된다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문서는 교육용이며, 강사 제공 양식 확인 후 목차를 재배열할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A357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800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문서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Mandate v0.1 · 룰북 v0.3 · 결정로그 D-01~D-11 · 종목선정규칙 체크리스트   |   </a:t>
            </a:r>
            <a:pPr indent="0" marL="0">
              <a:buNone/>
            </a:pPr>
            <a:r>
              <a:rPr lang="en-US" sz="1300" i="1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[백테스트 후 채움] 항목 일괄 기입 시 v1.0 승격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2026-07-22T01:00:13Z</dcterms:created>
  <dcterms:modified xsi:type="dcterms:W3CDTF">2026-07-22T01:00:13Z</dcterms:modified>
</cp:coreProperties>
</file>