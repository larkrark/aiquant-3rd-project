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9" r:id="rId17"/>
    <p:sldId id="29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239671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 기반 한·미 3테마 패시브 커스텀 인덱스. 발표 순서는 김근형 → 추주원 → 권보성이고 QA(김민호)는 부록입니다.
한 줄 메시지: 수익률이 아니라 재현 가능성으로 말하는 발표입니다.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발표는 자료 → 선별 → 산출 → 검증 순서입니다. 각 단계마다 담당자가 바뀝니다.
QA 파트는 시간 관계상 부록으로 두고, 질문이 나오면 바로 띄웁니다.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기성 테마 ETF는 운용사 재량이 들어가고 편입 근거가 공개되지 않습니다.
우리는 종목을 추천하지 않습니다. 규칙을 공개합니다.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곡선을 먼저 보여주면 청중이 성과 이야기로 갑니다. 히트맵은 "규칙이 스스로 굴렀다"로 읽힙니다.
Seed18은 2026년 시점 선택이므로 이 그림은 규칙 기전의 실증이지 수익성 근거가 아닙니다.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PIT는 Point-In-Time의 약자입니다. 같은 문서라도 언제부터 알 수 있었는지가 다릅니다.
최신 자료를 과거 판단에 소급해 쓰면 백테스트가 거짓말을 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 9개사에 대해 정기보고서 PDF 204건, 원문 XBRL 191건, 재무제표 Excel 12건을 수집했습니다.
대응상태를 직접대응 / PDF_ONLY / XBRL_ONLY로 구분해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LIG넥스원 사례입니다. 공시 접수가 자료마감 뒤에 이뤄져 이전 회차 선정에는 사용할 수 없었습니다.
규칙이 아니라 날짜가 판정을 갈랐습니다.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한화에어로스페이스의 두 유상증자입니다. 제목은 비슷하지만 배정방식과 주식 수, 시장효과가 달라 별도 사건으로 관리합니다.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미국 9개사에 대해 제출건 612건, 로컬 파일 2,949건, 제출문서 연결행 5,502건을 오류 없이 수집했습니다.
8-K 437건은 확정 사건 수가 아니라 조사후보입니다. 이 구분을 반드시 지킵니다.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담당범위 완료는 독립 QA 완료도, 팀 승인 완료도, 운영 적용 승인도 아닙니다.
완료를 과장하지 않는 것이 재현성의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한계를 먼저 밝힙니다. 전체시장 유니버스 스캔은 아직 구현하지 못했습니다.
과거 상장상태 원출처를 확보하지 못했기 때문이고, 안건 B로 남아 있습니다. 뒤에서 반드시 질문이 나옵니다.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개의 관문이 있지만 파일럿에서 실제로 발동한 것은 시즈닝과 유동성 두 개입니다.
테마 게이트는 사람이 사전 판정했고 기준 명문화가 안건 D, 재무 게이트는 미구현으로 안건 F입니다.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유동성 하한은 고정 금액이 아니라 매 회차 그 시장 분포의 하위 10% 지점입니다.
2026년 6월 30일 한국에서는 1,276억이 하한이었고 018260이 그 아래로 탈락했습니다.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테마 3개와 지역 2개를 곱해 6개 셀이 나오고 각 셀에 1/6씩 줍니다. 셀 안에서는 균등가중입니다.
셀이 비면 같은 테마의 타지역으로 재배분합니다. 결정로그 D-10 ③입니다.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벤치마크는 두 층입니다. 1차는 시장 BM, 2차는 기성 테마 ETF 3종입니다.
지역비중을 지수와 똑같이 맞추는 이유는 국가배분 효과를 빼고 종목 선별 효과만 남기기 위해서입니다.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엔진은 market_state → indicators → composition → index_calc 네 단계입니다.
정책 숫자는 config.py 하나에만 두고, 가중합이 1.0이 아니면 조용히 고치지 않고 계산을 중단시킵니다.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한국 BM은 KRX 원계열을 재수집해 종가 180행이 전부 일치했고 상태를 OFFICIAL로 확정했습니다.
환율은 한국은행 ECOS 매매기준율로 CONFIRMED입니다. 적용 방식이 당일이냐 선정일이냐는 아직 미결입니다.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선정일에 종목과 비중을 정하고, 다음 공통개장일에 목표비중을 적용합니다.
그 다음 분기까지는 수량이 고정이라 비중이 표류하고, 다음 선정일에 다시 1/6로 리셋합니다.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빈 셀 재배분은 문서에만 있는 예외조항이 아니라 13년 동안 22회 실제로 발동했습니다.
한국 에너지 셀에서 14회, 한국 AI 셀에서 8회입니다.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회전율은 회당 12.7%, 연간 50.7%입니다. 액티브 펀드가 연 100~300%인 것과 비교하면 낮습니다.
거래비용은 연 8bp, 1조 규모에서 ADTV90 대비 7.7%로 수용 가능합니다.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이 장에서 절대 자랑하지 말 것. 끊지 말고 바로 다음 장으로 넘어갑니다.
자랑으로 끝나는 순간 신뢰를 잃습니다.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S21에서 끊지 않고 바로 이 장으로 옵니다.
무작위 바스켓도 같은 규칙, 같은 분기 리밸런싱, 같은 균등가중으로 굴렸고 종목만 바꿨습니다. 그런데 3배 차이가 났습니다.
즉 성과의 원인은 규칙이 아니라 2026년 시점에 결과를 보고 고른 종목입니다. 선택편향입니다.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전반 구간에는 오히려 BM에 뒤졌고 후반에 크게 앞섰습니다. 전체 α는 +9.4%지만 t값 1.87로 5% 유의수준에 미달합니다.
즉 초과수익이 구조적이라고 말할 근거가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지수는 BM보다 23.6%p 더 떨어졌습니다. 추적오차도 12~26%로 인덱스펀드는 물론 액티브 펀드보다도 큽니다.
더 벌었다와 더 잃었다는 같은 원인, 즉 집중에서 나옵니다.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증명된 것은 알고리즘 품질입니다. 규칙이 자동으로 굴렀고, 미래 정보를 쓰지 않았고, 재실행하면 같은 값이 나옵니다.
증명되지 않은 것은 수익성과 종목 선택 방법론입니다. 이를 입증하려면 전체시장 PIT 유니버스 재구성과 규칙 동결 이후 실시간 추적이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질문이 나오면 부록 A1~A7을 띄웁니다. 특히 S22·S23 관련 질문은 A3(PIT 무결성)로 답합니다.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값을 네 갈래로 계산했습니다. 엔진, 규칙 문서만 보고 만든 독립 재산출, 엑셀 수기 검산, 제3자 교차구현입니다.
qa 코드는 engine을 import하지 않습니다. 같은 버그를 함께 물려받지 않기 위해서입니다.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12항목 전부 일치했고 최대 오차는 2.274e-13으로 허용 기준 1e-6보다 7자리 작습니다.
검산 과정에서 규칙 결함 두 건을 발견했지만 성과를 본 뒤이므로 이번 산출에는 적용하지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부록 중 가장 강합니다. 선택편향 논쟁과 무관한 유일한 증거이기 때문입니다.
미래 데이터를 물리적으로 잘라내고 다시 산출해도 2,160행이 전부 동일했고, 가중치와 임계값은 해시까지 일치했습니다.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입력으로 세 번 돌렸고 산출 164파일의 결합해시가 전부 c73c972971fe288d로 동일했습니다.
난수나 실행 시각에 의존하는 코드가 없다는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 결함 10건을 찾았고 개선안까지 문서화했습니다.
다만 성과를 본 뒤에 발견했기 때문에 이번 산출에는 적용하지 않았습니다. 성과를 근거로 규칙을 바꾸지 않는다는 R3 원칙입니다.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개 안건이 미결입니다. 특히 안건 B는 전체시장 유니버스의 전제라 수익성 검증 자체가 여기에 걸려 있습니다.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 나오는 모든 수치는 out/*.json에서 나옵니다. 없는 수치는 만들지 않았습니다.
명령 네 줄이면 검증 결과를 그대로 재현할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8EDA266-57CF-1A32-6118-F4792061779D}"/>
              </a:ext>
            </a:extLst>
          </p:cNvPr>
          <p:cNvSpPr>
            <a:spLocks noGrp="1"/>
          </p:cNvSpPr>
          <p:nvPr>
            <p:ph type="dt" sz="half" idx="10"/>
          </p:nvPr>
        </p:nvSpPr>
        <p:spPr/>
        <p:txBody>
          <a:bodyPr/>
          <a:lstStyle/>
          <a:p>
            <a:fld id="{B5F11623-33A0-4F14-98E7-D27EA56E3785}" type="datetimeFigureOut">
              <a:rPr lang="ko-KR" altLang="en-US" smtClean="0"/>
              <a:t>2026-08-02</a:t>
            </a:fld>
            <a:endParaRPr lang="ko-KR" altLang="en-US"/>
          </a:p>
        </p:txBody>
      </p:sp>
      <p:sp>
        <p:nvSpPr>
          <p:cNvPr id="3" name="바닥글 개체 틀 2">
            <a:extLst>
              <a:ext uri="{FF2B5EF4-FFF2-40B4-BE49-F238E27FC236}">
                <a16:creationId xmlns:a16="http://schemas.microsoft.com/office/drawing/2014/main" id="{B76627CC-751F-1432-C930-264584A4529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7A9AB56-2579-4B96-3EB2-543685B5EC44}"/>
              </a:ext>
            </a:extLst>
          </p:cNvPr>
          <p:cNvSpPr>
            <a:spLocks noGrp="1"/>
          </p:cNvSpPr>
          <p:nvPr>
            <p:ph type="sldNum" sz="quarter" idx="12"/>
          </p:nvPr>
        </p:nvSpPr>
        <p:spPr/>
        <p:txBody>
          <a:bodyPr/>
          <a:lstStyle/>
          <a:p>
            <a:fld id="{162F5EA0-528F-4C07-997D-38D6E33103F3}" type="slidenum">
              <a:rPr lang="ko-KR" altLang="en-US" smtClean="0"/>
              <a:t>‹#›</a:t>
            </a:fld>
            <a:endParaRPr lang="ko-KR" altLang="en-US"/>
          </a:p>
        </p:txBody>
      </p:sp>
    </p:spTree>
    <p:extLst>
      <p:ext uri="{BB962C8B-B14F-4D97-AF65-F5344CB8AC3E}">
        <p14:creationId xmlns:p14="http://schemas.microsoft.com/office/powerpoint/2010/main" val="2100123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0A0A"/>
          </a:solidFill>
          <a:ln/>
        </p:spPr>
        <p:txBody>
          <a:bodyPr/>
          <a:lstStyle/>
          <a:p>
            <a:endParaRPr lang="ko-KR" altLang="en-US"/>
          </a:p>
        </p:txBody>
      </p:sp>
      <p:sp>
        <p:nvSpPr>
          <p:cNvPr id="3" name="Text 1"/>
          <p:cNvSpPr txBox="1"/>
          <p:nvPr/>
        </p:nvSpPr>
        <p:spPr>
          <a:xfrm>
            <a:off x="609600" y="323850"/>
            <a:ext cx="3810000" cy="266700"/>
          </a:xfrm>
          <a:prstGeom prst="rect">
            <a:avLst/>
          </a:prstGeom>
          <a:noFill/>
          <a:ln/>
        </p:spPr>
        <p:txBody>
          <a:bodyPr wrap="square" lIns="0" tIns="0" rIns="0" bIns="0" rtlCol="0" anchor="ctr"/>
          <a:lstStyle/>
          <a:p>
            <a:pPr marL="0" indent="0">
              <a:buNone/>
            </a:pPr>
            <a:r>
              <a:rPr lang="en-US" sz="1275" b="1" kern="0" spc="-50" dirty="0">
                <a:solidFill>
                  <a:srgbClr val="FFFFFF"/>
                </a:solidFill>
                <a:latin typeface="Malgun Gothic" pitchFamily="34" charset="0"/>
                <a:ea typeface="Malgun Gothic" pitchFamily="34" charset="-122"/>
                <a:cs typeface="Malgun Gothic" pitchFamily="34" charset="-120"/>
              </a:rPr>
              <a:t>AI 퀀트 3기</a:t>
            </a:r>
            <a:endParaRPr lang="en-US" sz="1275" dirty="0"/>
          </a:p>
        </p:txBody>
      </p:sp>
      <p:sp>
        <p:nvSpPr>
          <p:cNvPr id="4" name="Text 2"/>
          <p:cNvSpPr txBox="1"/>
          <p:nvPr/>
        </p:nvSpPr>
        <p:spPr>
          <a:xfrm>
            <a:off x="609600" y="2000250"/>
            <a:ext cx="8572500" cy="190500"/>
          </a:xfrm>
          <a:prstGeom prst="rect">
            <a:avLst/>
          </a:prstGeom>
          <a:noFill/>
          <a:ln/>
        </p:spPr>
        <p:txBody>
          <a:bodyPr wrap="square" lIns="0" tIns="0" rIns="0" bIns="0" rtlCol="0" anchor="ctr"/>
          <a:lstStyle/>
          <a:p>
            <a:pPr marL="0" indent="0">
              <a:buNone/>
            </a:pPr>
            <a:r>
              <a:rPr lang="en-US" sz="975" b="1" kern="0" spc="100" dirty="0">
                <a:solidFill>
                  <a:srgbClr val="FF5530"/>
                </a:solidFill>
                <a:latin typeface="Malgun Gothic" pitchFamily="34" charset="0"/>
                <a:ea typeface="Malgun Gothic" pitchFamily="34" charset="-122"/>
                <a:cs typeface="Malgun Gothic" pitchFamily="34" charset="-120"/>
              </a:rPr>
              <a:t>RULE-BASED PASSIVE CUSTOM INDEX</a:t>
            </a:r>
            <a:endParaRPr lang="en-US" sz="975" dirty="0"/>
          </a:p>
        </p:txBody>
      </p:sp>
      <p:sp>
        <p:nvSpPr>
          <p:cNvPr id="5" name="Text 3"/>
          <p:cNvSpPr txBox="1"/>
          <p:nvPr/>
        </p:nvSpPr>
        <p:spPr>
          <a:xfrm>
            <a:off x="609600" y="2286000"/>
            <a:ext cx="9525000" cy="1428750"/>
          </a:xfrm>
          <a:prstGeom prst="rect">
            <a:avLst/>
          </a:prstGeom>
          <a:noFill/>
          <a:ln/>
        </p:spPr>
        <p:txBody>
          <a:bodyPr wrap="square" lIns="0" tIns="0" rIns="0" bIns="0" rtlCol="0" anchor="t"/>
          <a:lstStyle/>
          <a:p>
            <a:pPr marL="0" indent="0">
              <a:lnSpc>
                <a:spcPct val="115000"/>
              </a:lnSpc>
              <a:buNone/>
            </a:pPr>
            <a:r>
              <a:rPr lang="en-US" sz="4200" b="1" kern="0" spc="-200" dirty="0">
                <a:solidFill>
                  <a:srgbClr val="FFFFFF"/>
                </a:solidFill>
                <a:latin typeface="Malgun Gothic" pitchFamily="34" charset="0"/>
                <a:ea typeface="Malgun Gothic" pitchFamily="34" charset="-122"/>
                <a:cs typeface="Malgun Gothic" pitchFamily="34" charset="-120"/>
              </a:rPr>
              <a:t>규칙 기반 한·미 3테마</a:t>
            </a:r>
            <a:endParaRPr lang="en-US" sz="4200" dirty="0"/>
          </a:p>
          <a:p>
            <a:pPr marL="0" indent="0">
              <a:lnSpc>
                <a:spcPct val="115000"/>
              </a:lnSpc>
              <a:buNone/>
            </a:pPr>
            <a:r>
              <a:rPr lang="en-US" sz="4200" b="1" kern="0" spc="-200" dirty="0">
                <a:solidFill>
                  <a:srgbClr val="FFFFFF"/>
                </a:solidFill>
                <a:latin typeface="Malgun Gothic" pitchFamily="34" charset="0"/>
                <a:ea typeface="Malgun Gothic" pitchFamily="34" charset="-122"/>
                <a:cs typeface="Malgun Gothic" pitchFamily="34" charset="-120"/>
              </a:rPr>
              <a:t>패시브 커스텀 인덱스</a:t>
            </a:r>
            <a:endParaRPr lang="en-US" sz="4200" dirty="0"/>
          </a:p>
        </p:txBody>
      </p:sp>
      <p:sp>
        <p:nvSpPr>
          <p:cNvPr id="6" name="Text 4"/>
          <p:cNvSpPr txBox="1"/>
          <p:nvPr/>
        </p:nvSpPr>
        <p:spPr>
          <a:xfrm>
            <a:off x="609600" y="3905250"/>
            <a:ext cx="8572500" cy="285750"/>
          </a:xfrm>
          <a:prstGeom prst="rect">
            <a:avLst/>
          </a:prstGeom>
          <a:noFill/>
          <a:ln/>
        </p:spPr>
        <p:txBody>
          <a:bodyPr wrap="square" lIns="0" tIns="0" rIns="0" bIns="0" rtlCol="0" anchor="ctr"/>
          <a:lstStyle/>
          <a:p>
            <a:pPr marL="0" indent="0">
              <a:buNone/>
            </a:pPr>
            <a:r>
              <a:rPr lang="en-US" sz="1425" dirty="0">
                <a:solidFill>
                  <a:srgbClr val="C9CBD1"/>
                </a:solidFill>
                <a:latin typeface="Malgun Gothic" pitchFamily="34" charset="0"/>
                <a:ea typeface="Malgun Gothic" pitchFamily="34" charset="-122"/>
                <a:cs typeface="Malgun Gothic" pitchFamily="34" charset="-120"/>
              </a:rPr>
              <a:t>우주·방산  /  AI·로보틱스  /  에너지·전력 인프라</a:t>
            </a:r>
            <a:endParaRPr lang="en-US" sz="1425" dirty="0"/>
          </a:p>
        </p:txBody>
      </p:sp>
      <p:sp>
        <p:nvSpPr>
          <p:cNvPr id="7" name="Shape 5"/>
          <p:cNvSpPr/>
          <p:nvPr/>
        </p:nvSpPr>
        <p:spPr>
          <a:xfrm>
            <a:off x="609600" y="4457700"/>
            <a:ext cx="4000500" cy="9525"/>
          </a:xfrm>
          <a:prstGeom prst="rect">
            <a:avLst/>
          </a:prstGeom>
          <a:solidFill>
            <a:srgbClr val="3A3A3A"/>
          </a:solidFill>
          <a:ln/>
        </p:spPr>
        <p:txBody>
          <a:bodyPr/>
          <a:lstStyle/>
          <a:p>
            <a:endParaRPr lang="ko-KR" altLang="en-US"/>
          </a:p>
        </p:txBody>
      </p:sp>
      <p:sp>
        <p:nvSpPr>
          <p:cNvPr id="8" name="Text 6"/>
          <p:cNvSpPr txBox="1"/>
          <p:nvPr/>
        </p:nvSpPr>
        <p:spPr>
          <a:xfrm>
            <a:off x="609600" y="4686300"/>
            <a:ext cx="4762500" cy="228600"/>
          </a:xfrm>
          <a:prstGeom prst="rect">
            <a:avLst/>
          </a:prstGeom>
          <a:noFill/>
          <a:ln/>
        </p:spPr>
        <p:txBody>
          <a:bodyPr wrap="square" lIns="0" tIns="0" rIns="0" bIns="0" rtlCol="0" anchor="ctr"/>
          <a:lstStyle/>
          <a:p>
            <a:pPr marL="0" indent="0">
              <a:buNone/>
            </a:pPr>
            <a:r>
              <a:rPr lang="en-US" sz="1125" b="1" dirty="0">
                <a:solidFill>
                  <a:srgbClr val="FFFFFF"/>
                </a:solidFill>
                <a:latin typeface="Malgun Gothic" pitchFamily="34" charset="0"/>
                <a:ea typeface="Malgun Gothic" pitchFamily="34" charset="-122"/>
                <a:cs typeface="Malgun Gothic" pitchFamily="34" charset="-120"/>
              </a:rPr>
              <a:t>AI퀀트 3기 · 2026-08</a:t>
            </a:r>
            <a:endParaRPr lang="en-US" sz="1125" dirty="0"/>
          </a:p>
        </p:txBody>
      </p:sp>
      <p:sp>
        <p:nvSpPr>
          <p:cNvPr id="9" name="Text 7"/>
          <p:cNvSpPr txBox="1"/>
          <p:nvPr/>
        </p:nvSpPr>
        <p:spPr>
          <a:xfrm>
            <a:off x="609600" y="4953000"/>
            <a:ext cx="4762500" cy="228600"/>
          </a:xfrm>
          <a:prstGeom prst="rect">
            <a:avLst/>
          </a:prstGeom>
          <a:noFill/>
          <a:ln/>
        </p:spPr>
        <p:txBody>
          <a:bodyPr wrap="square" lIns="0" tIns="0" rIns="0" bIns="0" rtlCol="0" anchor="ctr"/>
          <a:lstStyle/>
          <a:p>
            <a:pPr marL="0" indent="0">
              <a:buNone/>
            </a:pPr>
            <a:r>
              <a:rPr lang="en-US" sz="1125" dirty="0">
                <a:solidFill>
                  <a:srgbClr val="A8AAB2"/>
                </a:solidFill>
                <a:latin typeface="Malgun Gothic" pitchFamily="34" charset="0"/>
                <a:ea typeface="Malgun Gothic" pitchFamily="34" charset="-122"/>
                <a:cs typeface="Malgun Gothic" pitchFamily="34" charset="-120"/>
              </a:rPr>
              <a:t>김근형 · 추주원 · 권보성 · 김민호</a:t>
            </a:r>
            <a:endParaRPr lang="en-US" sz="1125" dirty="0"/>
          </a:p>
        </p:txBody>
      </p:sp>
      <p:sp>
        <p:nvSpPr>
          <p:cNvPr id="10" name="Shape 8"/>
          <p:cNvSpPr/>
          <p:nvPr/>
        </p:nvSpPr>
        <p:spPr>
          <a:xfrm>
            <a:off x="7239000" y="2514600"/>
            <a:ext cx="4343400" cy="3657600"/>
          </a:xfrm>
          <a:prstGeom prst="roundRect">
            <a:avLst>
              <a:gd name="adj" fmla="val 8333"/>
            </a:avLst>
          </a:prstGeom>
          <a:solidFill>
            <a:srgbClr val="FF5530"/>
          </a:solidFill>
          <a:ln/>
        </p:spPr>
        <p:txBody>
          <a:bodyPr/>
          <a:lstStyle/>
          <a:p>
            <a:endParaRPr lang="ko-KR" altLang="en-US"/>
          </a:p>
        </p:txBody>
      </p:sp>
      <p:sp>
        <p:nvSpPr>
          <p:cNvPr id="11" name="Text 9"/>
          <p:cNvSpPr txBox="1"/>
          <p:nvPr/>
        </p:nvSpPr>
        <p:spPr>
          <a:xfrm>
            <a:off x="7620000" y="2857500"/>
            <a:ext cx="2095500" cy="266700"/>
          </a:xfrm>
          <a:prstGeom prst="rect">
            <a:avLst/>
          </a:prstGeom>
          <a:noFill/>
          <a:ln/>
        </p:spPr>
        <p:txBody>
          <a:bodyPr wrap="square" lIns="0" tIns="0" rIns="0" bIns="0" rtlCol="0" anchor="ctr"/>
          <a:lstStyle/>
          <a:p>
            <a:pPr marL="0" indent="0">
              <a:buNone/>
            </a:pPr>
            <a:r>
              <a:rPr lang="en-US" sz="1125" dirty="0">
                <a:solidFill>
                  <a:srgbClr val="FFD9CF"/>
                </a:solidFill>
                <a:latin typeface="Malgun Gothic" pitchFamily="34" charset="0"/>
                <a:ea typeface="Malgun Gothic" pitchFamily="34" charset="-122"/>
                <a:cs typeface="Malgun Gothic" pitchFamily="34" charset="-120"/>
              </a:rPr>
              <a:t>산출</a:t>
            </a:r>
            <a:endParaRPr lang="en-US" sz="1125" dirty="0"/>
          </a:p>
        </p:txBody>
      </p:sp>
      <p:sp>
        <p:nvSpPr>
          <p:cNvPr id="12" name="Text 10"/>
          <p:cNvSpPr txBox="1"/>
          <p:nvPr/>
        </p:nvSpPr>
        <p:spPr>
          <a:xfrm>
            <a:off x="8953500" y="2800350"/>
            <a:ext cx="2286000" cy="381000"/>
          </a:xfrm>
          <a:prstGeom prst="rect">
            <a:avLst/>
          </a:prstGeom>
          <a:noFill/>
          <a:ln/>
        </p:spPr>
        <p:txBody>
          <a:bodyPr wrap="square" lIns="0" tIns="0" rIns="0" bIns="0" rtlCol="0" anchor="ctr"/>
          <a:lstStyle/>
          <a:p>
            <a:pPr marL="0" indent="0" algn="r">
              <a:buNone/>
            </a:pPr>
            <a:r>
              <a:rPr lang="en-US" sz="2250" b="1" kern="0" spc="-100" dirty="0">
                <a:solidFill>
                  <a:srgbClr val="FFFFFF"/>
                </a:solidFill>
                <a:latin typeface="Malgun Gothic" pitchFamily="34" charset="0"/>
                <a:ea typeface="Malgun Gothic" pitchFamily="34" charset="-122"/>
                <a:cs typeface="Malgun Gothic" pitchFamily="34" charset="-120"/>
              </a:rPr>
              <a:t>3,076일</a:t>
            </a:r>
            <a:endParaRPr lang="en-US" sz="2250" dirty="0"/>
          </a:p>
        </p:txBody>
      </p:sp>
      <p:sp>
        <p:nvSpPr>
          <p:cNvPr id="13" name="Shape 11"/>
          <p:cNvSpPr/>
          <p:nvPr/>
        </p:nvSpPr>
        <p:spPr>
          <a:xfrm>
            <a:off x="7620000" y="3390900"/>
            <a:ext cx="3619500" cy="9525"/>
          </a:xfrm>
          <a:prstGeom prst="rect">
            <a:avLst/>
          </a:prstGeom>
          <a:solidFill>
            <a:srgbClr val="FF7B5C"/>
          </a:solidFill>
          <a:ln/>
        </p:spPr>
        <p:txBody>
          <a:bodyPr/>
          <a:lstStyle/>
          <a:p>
            <a:endParaRPr lang="ko-KR" altLang="en-US"/>
          </a:p>
        </p:txBody>
      </p:sp>
      <p:sp>
        <p:nvSpPr>
          <p:cNvPr id="14" name="Text 12"/>
          <p:cNvSpPr txBox="1"/>
          <p:nvPr/>
        </p:nvSpPr>
        <p:spPr>
          <a:xfrm>
            <a:off x="7620000" y="3657600"/>
            <a:ext cx="2095500" cy="266700"/>
          </a:xfrm>
          <a:prstGeom prst="rect">
            <a:avLst/>
          </a:prstGeom>
          <a:noFill/>
          <a:ln/>
        </p:spPr>
        <p:txBody>
          <a:bodyPr wrap="square" lIns="0" tIns="0" rIns="0" bIns="0" rtlCol="0" anchor="ctr"/>
          <a:lstStyle/>
          <a:p>
            <a:pPr marL="0" indent="0">
              <a:buNone/>
            </a:pPr>
            <a:r>
              <a:rPr lang="en-US" sz="1125" dirty="0">
                <a:solidFill>
                  <a:srgbClr val="FFD9CF"/>
                </a:solidFill>
                <a:latin typeface="Malgun Gothic" pitchFamily="34" charset="0"/>
                <a:ea typeface="Malgun Gothic" pitchFamily="34" charset="-122"/>
                <a:cs typeface="Malgun Gothic" pitchFamily="34" charset="-120"/>
              </a:rPr>
              <a:t>정기변경</a:t>
            </a:r>
            <a:endParaRPr lang="en-US" sz="1125" dirty="0"/>
          </a:p>
        </p:txBody>
      </p:sp>
      <p:sp>
        <p:nvSpPr>
          <p:cNvPr id="15" name="Text 13"/>
          <p:cNvSpPr txBox="1"/>
          <p:nvPr/>
        </p:nvSpPr>
        <p:spPr>
          <a:xfrm>
            <a:off x="8953500" y="3600450"/>
            <a:ext cx="2286000" cy="381000"/>
          </a:xfrm>
          <a:prstGeom prst="rect">
            <a:avLst/>
          </a:prstGeom>
          <a:noFill/>
          <a:ln/>
        </p:spPr>
        <p:txBody>
          <a:bodyPr wrap="square" lIns="0" tIns="0" rIns="0" bIns="0" rtlCol="0" anchor="ctr"/>
          <a:lstStyle/>
          <a:p>
            <a:pPr marL="0" indent="0" algn="r">
              <a:buNone/>
            </a:pPr>
            <a:r>
              <a:rPr lang="en-US" sz="2250" b="1" kern="0" spc="-100" dirty="0">
                <a:solidFill>
                  <a:srgbClr val="FFFFFF"/>
                </a:solidFill>
                <a:latin typeface="Malgun Gothic" pitchFamily="34" charset="0"/>
                <a:ea typeface="Malgun Gothic" pitchFamily="34" charset="-122"/>
                <a:cs typeface="Malgun Gothic" pitchFamily="34" charset="-120"/>
              </a:rPr>
              <a:t>53회</a:t>
            </a:r>
            <a:endParaRPr lang="en-US" sz="2250" dirty="0"/>
          </a:p>
        </p:txBody>
      </p:sp>
      <p:sp>
        <p:nvSpPr>
          <p:cNvPr id="16" name="Shape 14"/>
          <p:cNvSpPr/>
          <p:nvPr/>
        </p:nvSpPr>
        <p:spPr>
          <a:xfrm>
            <a:off x="7620000" y="4191000"/>
            <a:ext cx="3619500" cy="9525"/>
          </a:xfrm>
          <a:prstGeom prst="rect">
            <a:avLst/>
          </a:prstGeom>
          <a:solidFill>
            <a:srgbClr val="FF7B5C"/>
          </a:solidFill>
          <a:ln/>
        </p:spPr>
        <p:txBody>
          <a:bodyPr/>
          <a:lstStyle/>
          <a:p>
            <a:endParaRPr lang="ko-KR" altLang="en-US"/>
          </a:p>
        </p:txBody>
      </p:sp>
      <p:sp>
        <p:nvSpPr>
          <p:cNvPr id="17" name="Text 15"/>
          <p:cNvSpPr txBox="1"/>
          <p:nvPr/>
        </p:nvSpPr>
        <p:spPr>
          <a:xfrm>
            <a:off x="7620000" y="4457700"/>
            <a:ext cx="2095500" cy="266700"/>
          </a:xfrm>
          <a:prstGeom prst="rect">
            <a:avLst/>
          </a:prstGeom>
          <a:noFill/>
          <a:ln/>
        </p:spPr>
        <p:txBody>
          <a:bodyPr wrap="square" lIns="0" tIns="0" rIns="0" bIns="0" rtlCol="0" anchor="ctr"/>
          <a:lstStyle/>
          <a:p>
            <a:pPr marL="0" indent="0">
              <a:buNone/>
            </a:pPr>
            <a:r>
              <a:rPr lang="en-US" sz="1125" dirty="0">
                <a:solidFill>
                  <a:srgbClr val="FFD9CF"/>
                </a:solidFill>
                <a:latin typeface="Malgun Gothic" pitchFamily="34" charset="0"/>
                <a:ea typeface="Malgun Gothic" pitchFamily="34" charset="-122"/>
                <a:cs typeface="Malgun Gothic" pitchFamily="34" charset="-120"/>
              </a:rPr>
              <a:t>구성변경</a:t>
            </a:r>
            <a:endParaRPr lang="en-US" sz="1125" dirty="0"/>
          </a:p>
        </p:txBody>
      </p:sp>
      <p:sp>
        <p:nvSpPr>
          <p:cNvPr id="18" name="Text 16"/>
          <p:cNvSpPr txBox="1"/>
          <p:nvPr/>
        </p:nvSpPr>
        <p:spPr>
          <a:xfrm>
            <a:off x="8953500" y="4400550"/>
            <a:ext cx="2286000" cy="381000"/>
          </a:xfrm>
          <a:prstGeom prst="rect">
            <a:avLst/>
          </a:prstGeom>
          <a:noFill/>
          <a:ln/>
        </p:spPr>
        <p:txBody>
          <a:bodyPr wrap="square" lIns="0" tIns="0" rIns="0" bIns="0" rtlCol="0" anchor="ctr"/>
          <a:lstStyle/>
          <a:p>
            <a:pPr marL="0" indent="0" algn="r">
              <a:buNone/>
            </a:pPr>
            <a:r>
              <a:rPr lang="en-US" sz="2250" b="1" kern="0" spc="-100" dirty="0">
                <a:solidFill>
                  <a:srgbClr val="FFFFFF"/>
                </a:solidFill>
                <a:latin typeface="Malgun Gothic" pitchFamily="34" charset="0"/>
                <a:ea typeface="Malgun Gothic" pitchFamily="34" charset="-122"/>
                <a:cs typeface="Malgun Gothic" pitchFamily="34" charset="-120"/>
              </a:rPr>
              <a:t>28회</a:t>
            </a:r>
            <a:endParaRPr lang="en-US" sz="2250" dirty="0"/>
          </a:p>
        </p:txBody>
      </p:sp>
      <p:sp>
        <p:nvSpPr>
          <p:cNvPr id="19" name="Shape 17"/>
          <p:cNvSpPr/>
          <p:nvPr/>
        </p:nvSpPr>
        <p:spPr>
          <a:xfrm>
            <a:off x="7620000" y="4991100"/>
            <a:ext cx="3619500" cy="9525"/>
          </a:xfrm>
          <a:prstGeom prst="rect">
            <a:avLst/>
          </a:prstGeom>
          <a:solidFill>
            <a:srgbClr val="FF7B5C"/>
          </a:solidFill>
          <a:ln/>
        </p:spPr>
        <p:txBody>
          <a:bodyPr/>
          <a:lstStyle/>
          <a:p>
            <a:endParaRPr lang="ko-KR" altLang="en-US"/>
          </a:p>
        </p:txBody>
      </p:sp>
      <p:sp>
        <p:nvSpPr>
          <p:cNvPr id="20" name="Text 18"/>
          <p:cNvSpPr txBox="1"/>
          <p:nvPr/>
        </p:nvSpPr>
        <p:spPr>
          <a:xfrm>
            <a:off x="7620000" y="5257800"/>
            <a:ext cx="2095500" cy="266700"/>
          </a:xfrm>
          <a:prstGeom prst="rect">
            <a:avLst/>
          </a:prstGeom>
          <a:noFill/>
          <a:ln/>
        </p:spPr>
        <p:txBody>
          <a:bodyPr wrap="square" lIns="0" tIns="0" rIns="0" bIns="0" rtlCol="0" anchor="ctr"/>
          <a:lstStyle/>
          <a:p>
            <a:pPr marL="0" indent="0">
              <a:buNone/>
            </a:pPr>
            <a:r>
              <a:rPr lang="en-US" sz="1125" dirty="0">
                <a:solidFill>
                  <a:srgbClr val="FFD9CF"/>
                </a:solidFill>
                <a:latin typeface="Malgun Gothic" pitchFamily="34" charset="0"/>
                <a:ea typeface="Malgun Gothic" pitchFamily="34" charset="-122"/>
                <a:cs typeface="Malgun Gothic" pitchFamily="34" charset="-120"/>
              </a:rPr>
              <a:t>셀 부족 재배분</a:t>
            </a:r>
            <a:endParaRPr lang="en-US" sz="1125" dirty="0"/>
          </a:p>
        </p:txBody>
      </p:sp>
      <p:sp>
        <p:nvSpPr>
          <p:cNvPr id="21" name="Text 19"/>
          <p:cNvSpPr txBox="1"/>
          <p:nvPr/>
        </p:nvSpPr>
        <p:spPr>
          <a:xfrm>
            <a:off x="8953500" y="5200650"/>
            <a:ext cx="2286000" cy="381000"/>
          </a:xfrm>
          <a:prstGeom prst="rect">
            <a:avLst/>
          </a:prstGeom>
          <a:noFill/>
          <a:ln/>
        </p:spPr>
        <p:txBody>
          <a:bodyPr wrap="square" lIns="0" tIns="0" rIns="0" bIns="0" rtlCol="0" anchor="ctr"/>
          <a:lstStyle/>
          <a:p>
            <a:pPr marL="0" indent="0" algn="r">
              <a:buNone/>
            </a:pPr>
            <a:r>
              <a:rPr lang="en-US" sz="2250" b="1" kern="0" spc="-100" dirty="0">
                <a:solidFill>
                  <a:srgbClr val="FFFFFF"/>
                </a:solidFill>
                <a:latin typeface="Malgun Gothic" pitchFamily="34" charset="0"/>
                <a:ea typeface="Malgun Gothic" pitchFamily="34" charset="-122"/>
                <a:cs typeface="Malgun Gothic" pitchFamily="34" charset="-120"/>
              </a:rPr>
              <a:t>22회</a:t>
            </a:r>
            <a:endParaRPr lang="en-US" sz="2250" dirty="0"/>
          </a:p>
        </p:txBody>
      </p:sp>
      <p:sp>
        <p:nvSpPr>
          <p:cNvPr id="22" name="Text 20"/>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6B6B6B"/>
                </a:solidFill>
                <a:latin typeface="Malgun Gothic" pitchFamily="34" charset="0"/>
                <a:ea typeface="Malgun Gothic" pitchFamily="34" charset="-122"/>
                <a:cs typeface="Malgun Gothic"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발표 개요</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발표 흐름</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네 개의 질문으로 나눠 말합니다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a:t>
            </a:r>
            <a:endParaRPr lang="en-US" sz="900" dirty="0"/>
          </a:p>
        </p:txBody>
      </p:sp>
      <p:sp>
        <p:nvSpPr>
          <p:cNvPr id="9" name="Shape 7"/>
          <p:cNvSpPr/>
          <p:nvPr/>
        </p:nvSpPr>
        <p:spPr>
          <a:xfrm>
            <a:off x="609600" y="2590800"/>
            <a:ext cx="2628900" cy="1619250"/>
          </a:xfrm>
          <a:prstGeom prst="roundRect">
            <a:avLst>
              <a:gd name="adj" fmla="val 9412"/>
            </a:avLst>
          </a:prstGeom>
          <a:solidFill>
            <a:srgbClr val="F7F8FA"/>
          </a:solidFill>
          <a:ln/>
        </p:spPr>
        <p:txBody>
          <a:bodyPr/>
          <a:lstStyle/>
          <a:p>
            <a:endParaRPr lang="ko-KR" altLang="en-US"/>
          </a:p>
        </p:txBody>
      </p:sp>
      <p:sp>
        <p:nvSpPr>
          <p:cNvPr id="10" name="Shape 8"/>
          <p:cNvSpPr/>
          <p:nvPr/>
        </p:nvSpPr>
        <p:spPr>
          <a:xfrm>
            <a:off x="800100" y="2762250"/>
            <a:ext cx="247650" cy="247650"/>
          </a:xfrm>
          <a:prstGeom prst="roundRect">
            <a:avLst>
              <a:gd name="adj" fmla="val 50000"/>
            </a:avLst>
          </a:prstGeom>
          <a:solidFill>
            <a:srgbClr val="0A0A0A"/>
          </a:solidFill>
          <a:ln/>
        </p:spPr>
        <p:txBody>
          <a:bodyPr/>
          <a:lstStyle/>
          <a:p>
            <a:endParaRPr lang="ko-KR" altLang="en-US"/>
          </a:p>
        </p:txBody>
      </p:sp>
      <p:sp>
        <p:nvSpPr>
          <p:cNvPr id="11" name="Text 9"/>
          <p:cNvSpPr txBox="1"/>
          <p:nvPr/>
        </p:nvSpPr>
        <p:spPr>
          <a:xfrm>
            <a:off x="8001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1</a:t>
            </a:r>
            <a:endParaRPr lang="en-US" sz="1050" dirty="0"/>
          </a:p>
        </p:txBody>
      </p:sp>
      <p:sp>
        <p:nvSpPr>
          <p:cNvPr id="12" name="Text 10"/>
          <p:cNvSpPr txBox="1"/>
          <p:nvPr/>
        </p:nvSpPr>
        <p:spPr>
          <a:xfrm>
            <a:off x="11239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자료</a:t>
            </a:r>
            <a:endParaRPr lang="en-US" sz="1275" dirty="0"/>
          </a:p>
        </p:txBody>
      </p:sp>
      <p:sp>
        <p:nvSpPr>
          <p:cNvPr id="13" name="Text 11"/>
          <p:cNvSpPr txBox="1"/>
          <p:nvPr/>
        </p:nvSpPr>
        <p:spPr>
          <a:xfrm>
            <a:off x="8001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어떤 자료를</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언제부터 쓸 수 있는가</a:t>
            </a:r>
            <a:endParaRPr lang="en-US" sz="1050" dirty="0"/>
          </a:p>
          <a:p>
            <a:pPr marL="0" indent="0">
              <a:lnSpc>
                <a:spcPct val="135000"/>
              </a:lnSpc>
              <a:buNone/>
            </a:pP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김근형</a:t>
            </a:r>
            <a:endParaRPr lang="en-US" sz="1050" dirty="0"/>
          </a:p>
        </p:txBody>
      </p:sp>
      <p:sp>
        <p:nvSpPr>
          <p:cNvPr id="14" name="Text 12"/>
          <p:cNvSpPr txBox="1"/>
          <p:nvPr/>
        </p:nvSpPr>
        <p:spPr>
          <a:xfrm>
            <a:off x="3238500" y="326707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15" name="Shape 13"/>
          <p:cNvSpPr/>
          <p:nvPr/>
        </p:nvSpPr>
        <p:spPr>
          <a:xfrm>
            <a:off x="3390900" y="2590800"/>
            <a:ext cx="2628900" cy="1619250"/>
          </a:xfrm>
          <a:prstGeom prst="roundRect">
            <a:avLst>
              <a:gd name="adj" fmla="val 9412"/>
            </a:avLst>
          </a:prstGeom>
          <a:solidFill>
            <a:srgbClr val="F7F8FA"/>
          </a:solidFill>
          <a:ln/>
        </p:spPr>
        <p:txBody>
          <a:bodyPr/>
          <a:lstStyle/>
          <a:p>
            <a:endParaRPr lang="ko-KR" altLang="en-US"/>
          </a:p>
        </p:txBody>
      </p:sp>
      <p:sp>
        <p:nvSpPr>
          <p:cNvPr id="16" name="Shape 14"/>
          <p:cNvSpPr/>
          <p:nvPr/>
        </p:nvSpPr>
        <p:spPr>
          <a:xfrm>
            <a:off x="3581400" y="2762250"/>
            <a:ext cx="247650" cy="247650"/>
          </a:xfrm>
          <a:prstGeom prst="roundRect">
            <a:avLst>
              <a:gd name="adj" fmla="val 50000"/>
            </a:avLst>
          </a:prstGeom>
          <a:solidFill>
            <a:srgbClr val="0A0A0A"/>
          </a:solidFill>
          <a:ln/>
        </p:spPr>
        <p:txBody>
          <a:bodyPr/>
          <a:lstStyle/>
          <a:p>
            <a:endParaRPr lang="ko-KR" altLang="en-US"/>
          </a:p>
        </p:txBody>
      </p:sp>
      <p:sp>
        <p:nvSpPr>
          <p:cNvPr id="17" name="Text 15"/>
          <p:cNvSpPr txBox="1"/>
          <p:nvPr/>
        </p:nvSpPr>
        <p:spPr>
          <a:xfrm>
            <a:off x="35814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2</a:t>
            </a:r>
            <a:endParaRPr lang="en-US" sz="1050" dirty="0"/>
          </a:p>
        </p:txBody>
      </p:sp>
      <p:sp>
        <p:nvSpPr>
          <p:cNvPr id="18" name="Text 16"/>
          <p:cNvSpPr txBox="1"/>
          <p:nvPr/>
        </p:nvSpPr>
        <p:spPr>
          <a:xfrm>
            <a:off x="39052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선별</a:t>
            </a:r>
            <a:endParaRPr lang="en-US" sz="1275" dirty="0"/>
          </a:p>
        </p:txBody>
      </p:sp>
      <p:sp>
        <p:nvSpPr>
          <p:cNvPr id="19" name="Text 17"/>
          <p:cNvSpPr txBox="1"/>
          <p:nvPr/>
        </p:nvSpPr>
        <p:spPr>
          <a:xfrm>
            <a:off x="35814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그 자료로 무엇을</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어떻게 고르는가</a:t>
            </a:r>
            <a:endParaRPr lang="en-US" sz="1050" dirty="0"/>
          </a:p>
          <a:p>
            <a:pPr marL="0" indent="0">
              <a:lnSpc>
                <a:spcPct val="135000"/>
              </a:lnSpc>
              <a:buNone/>
            </a:pP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추주원</a:t>
            </a:r>
            <a:endParaRPr lang="en-US" sz="1050" dirty="0"/>
          </a:p>
        </p:txBody>
      </p:sp>
      <p:sp>
        <p:nvSpPr>
          <p:cNvPr id="20" name="Text 18"/>
          <p:cNvSpPr txBox="1"/>
          <p:nvPr/>
        </p:nvSpPr>
        <p:spPr>
          <a:xfrm>
            <a:off x="6019800" y="326707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1" name="Shape 19"/>
          <p:cNvSpPr/>
          <p:nvPr/>
        </p:nvSpPr>
        <p:spPr>
          <a:xfrm>
            <a:off x="6172200" y="2590800"/>
            <a:ext cx="2628900" cy="1619250"/>
          </a:xfrm>
          <a:prstGeom prst="roundRect">
            <a:avLst>
              <a:gd name="adj" fmla="val 9412"/>
            </a:avLst>
          </a:prstGeom>
          <a:solidFill>
            <a:srgbClr val="F7F8FA"/>
          </a:solidFill>
          <a:ln/>
        </p:spPr>
        <p:txBody>
          <a:bodyPr/>
          <a:lstStyle/>
          <a:p>
            <a:endParaRPr lang="ko-KR" altLang="en-US"/>
          </a:p>
        </p:txBody>
      </p:sp>
      <p:sp>
        <p:nvSpPr>
          <p:cNvPr id="22" name="Shape 20"/>
          <p:cNvSpPr/>
          <p:nvPr/>
        </p:nvSpPr>
        <p:spPr>
          <a:xfrm>
            <a:off x="6362700" y="2762250"/>
            <a:ext cx="247650" cy="247650"/>
          </a:xfrm>
          <a:prstGeom prst="roundRect">
            <a:avLst>
              <a:gd name="adj" fmla="val 50000"/>
            </a:avLst>
          </a:prstGeom>
          <a:solidFill>
            <a:srgbClr val="0A0A0A"/>
          </a:solidFill>
          <a:ln/>
        </p:spPr>
        <p:txBody>
          <a:bodyPr/>
          <a:lstStyle/>
          <a:p>
            <a:endParaRPr lang="ko-KR" altLang="en-US"/>
          </a:p>
        </p:txBody>
      </p:sp>
      <p:sp>
        <p:nvSpPr>
          <p:cNvPr id="23" name="Text 21"/>
          <p:cNvSpPr txBox="1"/>
          <p:nvPr/>
        </p:nvSpPr>
        <p:spPr>
          <a:xfrm>
            <a:off x="63627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3</a:t>
            </a:r>
            <a:endParaRPr lang="en-US" sz="1050" dirty="0"/>
          </a:p>
        </p:txBody>
      </p:sp>
      <p:sp>
        <p:nvSpPr>
          <p:cNvPr id="24" name="Text 22"/>
          <p:cNvSpPr txBox="1"/>
          <p:nvPr/>
        </p:nvSpPr>
        <p:spPr>
          <a:xfrm>
            <a:off x="66865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산출</a:t>
            </a:r>
            <a:endParaRPr lang="en-US" sz="1275" dirty="0"/>
          </a:p>
        </p:txBody>
      </p:sp>
      <p:sp>
        <p:nvSpPr>
          <p:cNvPr id="25" name="Text 23"/>
          <p:cNvSpPr txBox="1"/>
          <p:nvPr/>
        </p:nvSpPr>
        <p:spPr>
          <a:xfrm>
            <a:off x="63627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고른 것을</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어떻게 계산하는가</a:t>
            </a:r>
            <a:endParaRPr lang="en-US" sz="1050" dirty="0"/>
          </a:p>
          <a:p>
            <a:pPr marL="0" indent="0">
              <a:lnSpc>
                <a:spcPct val="135000"/>
              </a:lnSpc>
              <a:buNone/>
            </a:pP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권보성</a:t>
            </a:r>
            <a:endParaRPr lang="en-US" sz="1050" dirty="0"/>
          </a:p>
        </p:txBody>
      </p:sp>
      <p:sp>
        <p:nvSpPr>
          <p:cNvPr id="26" name="Text 24"/>
          <p:cNvSpPr txBox="1"/>
          <p:nvPr/>
        </p:nvSpPr>
        <p:spPr>
          <a:xfrm>
            <a:off x="8801100" y="326707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7" name="Shape 25"/>
          <p:cNvSpPr/>
          <p:nvPr/>
        </p:nvSpPr>
        <p:spPr>
          <a:xfrm>
            <a:off x="8953500" y="2590800"/>
            <a:ext cx="2628900" cy="1619250"/>
          </a:xfrm>
          <a:prstGeom prst="roundRect">
            <a:avLst>
              <a:gd name="adj" fmla="val 9412"/>
            </a:avLst>
          </a:prstGeom>
          <a:solidFill>
            <a:srgbClr val="F7F8FA"/>
          </a:solidFill>
          <a:ln/>
        </p:spPr>
        <p:txBody>
          <a:bodyPr/>
          <a:lstStyle/>
          <a:p>
            <a:endParaRPr lang="ko-KR" altLang="en-US"/>
          </a:p>
        </p:txBody>
      </p:sp>
      <p:sp>
        <p:nvSpPr>
          <p:cNvPr id="28" name="Shape 26"/>
          <p:cNvSpPr/>
          <p:nvPr/>
        </p:nvSpPr>
        <p:spPr>
          <a:xfrm>
            <a:off x="9144000" y="2762250"/>
            <a:ext cx="247650" cy="247650"/>
          </a:xfrm>
          <a:prstGeom prst="roundRect">
            <a:avLst>
              <a:gd name="adj" fmla="val 50000"/>
            </a:avLst>
          </a:prstGeom>
          <a:solidFill>
            <a:srgbClr val="0A0A0A"/>
          </a:solidFill>
          <a:ln/>
        </p:spPr>
        <p:txBody>
          <a:bodyPr/>
          <a:lstStyle/>
          <a:p>
            <a:endParaRPr lang="ko-KR" altLang="en-US"/>
          </a:p>
        </p:txBody>
      </p:sp>
      <p:sp>
        <p:nvSpPr>
          <p:cNvPr id="29" name="Text 27"/>
          <p:cNvSpPr txBox="1"/>
          <p:nvPr/>
        </p:nvSpPr>
        <p:spPr>
          <a:xfrm>
            <a:off x="91440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4</a:t>
            </a:r>
            <a:endParaRPr lang="en-US" sz="1050" dirty="0"/>
          </a:p>
        </p:txBody>
      </p:sp>
      <p:sp>
        <p:nvSpPr>
          <p:cNvPr id="30" name="Text 28"/>
          <p:cNvSpPr txBox="1"/>
          <p:nvPr/>
        </p:nvSpPr>
        <p:spPr>
          <a:xfrm>
            <a:off x="94678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검증</a:t>
            </a:r>
            <a:endParaRPr lang="en-US" sz="1275" dirty="0"/>
          </a:p>
        </p:txBody>
      </p:sp>
      <p:sp>
        <p:nvSpPr>
          <p:cNvPr id="31" name="Text 29"/>
          <p:cNvSpPr txBox="1"/>
          <p:nvPr/>
        </p:nvSpPr>
        <p:spPr>
          <a:xfrm>
            <a:off x="91440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계산이 맞는지</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어떻게 확인했는가</a:t>
            </a:r>
            <a:endParaRPr lang="en-US" sz="1050" dirty="0"/>
          </a:p>
          <a:p>
            <a:pPr marL="0" indent="0">
              <a:lnSpc>
                <a:spcPct val="135000"/>
              </a:lnSpc>
              <a:buNone/>
            </a:pP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부록 · 김민호</a:t>
            </a:r>
            <a:endParaRPr lang="en-US" sz="1050" dirty="0"/>
          </a:p>
        </p:txBody>
      </p:sp>
      <p:sp>
        <p:nvSpPr>
          <p:cNvPr id="32" name="Shape 30"/>
          <p:cNvSpPr/>
          <p:nvPr/>
        </p:nvSpPr>
        <p:spPr>
          <a:xfrm>
            <a:off x="609600" y="4400550"/>
            <a:ext cx="10972800" cy="666750"/>
          </a:xfrm>
          <a:prstGeom prst="roundRect">
            <a:avLst>
              <a:gd name="adj" fmla="val 17143"/>
            </a:avLst>
          </a:prstGeom>
          <a:solidFill>
            <a:srgbClr val="0A0A0A"/>
          </a:solidFill>
          <a:ln/>
        </p:spPr>
        <p:txBody>
          <a:bodyPr/>
          <a:lstStyle/>
          <a:p>
            <a:endParaRPr lang="ko-KR" altLang="en-US"/>
          </a:p>
        </p:txBody>
      </p:sp>
      <p:sp>
        <p:nvSpPr>
          <p:cNvPr id="33" name="Text 31"/>
          <p:cNvSpPr txBox="1"/>
          <p:nvPr/>
        </p:nvSpPr>
        <p:spPr>
          <a:xfrm>
            <a:off x="838200" y="4400550"/>
            <a:ext cx="10515600" cy="666750"/>
          </a:xfrm>
          <a:prstGeom prst="rect">
            <a:avLst/>
          </a:prstGeom>
          <a:noFill/>
          <a:ln/>
        </p:spPr>
        <p:txBody>
          <a:bodyPr wrap="square" lIns="0" tIns="0" rIns="0" bIns="0" rtlCol="0" anchor="ctr"/>
          <a:lstStyle/>
          <a:p>
            <a:pPr marL="0" indent="0" algn="l">
              <a:lnSpc>
                <a:spcPct val="130000"/>
              </a:lnSpc>
              <a:buNone/>
            </a:pPr>
            <a:r>
              <a:rPr lang="en-US" sz="1575" b="1" dirty="0">
                <a:solidFill>
                  <a:srgbClr val="FFFFFF"/>
                </a:solidFill>
                <a:latin typeface="Malgun Gothic" pitchFamily="34" charset="0"/>
                <a:ea typeface="Malgun Gothic" pitchFamily="34" charset="-122"/>
                <a:cs typeface="Malgun Gothic" pitchFamily="34" charset="-120"/>
              </a:rPr>
              <a:t>수익률이 아니라 재현 가능성으로 말하는 발표입니다.</a:t>
            </a:r>
            <a:endParaRPr lang="en-US" sz="1575" dirty="0"/>
          </a:p>
        </p:txBody>
      </p:sp>
      <p:sp>
        <p:nvSpPr>
          <p:cNvPr id="34" name="Shape 32"/>
          <p:cNvSpPr/>
          <p:nvPr/>
        </p:nvSpPr>
        <p:spPr>
          <a:xfrm>
            <a:off x="609600" y="5295900"/>
            <a:ext cx="3505200" cy="838200"/>
          </a:xfrm>
          <a:prstGeom prst="roundRect">
            <a:avLst>
              <a:gd name="adj" fmla="val 18182"/>
            </a:avLst>
          </a:prstGeom>
          <a:solidFill>
            <a:srgbClr val="F7F8FA"/>
          </a:solidFill>
          <a:ln w="12700">
            <a:solidFill>
              <a:srgbClr val="E5E7EB"/>
            </a:solidFill>
            <a:prstDash val="solid"/>
          </a:ln>
        </p:spPr>
        <p:txBody>
          <a:bodyPr/>
          <a:lstStyle/>
          <a:p>
            <a:endParaRPr lang="ko-KR" altLang="en-US"/>
          </a:p>
        </p:txBody>
      </p:sp>
      <p:sp>
        <p:nvSpPr>
          <p:cNvPr id="35" name="Text 33"/>
          <p:cNvSpPr txBox="1"/>
          <p:nvPr/>
        </p:nvSpPr>
        <p:spPr>
          <a:xfrm>
            <a:off x="800100" y="54483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본문</a:t>
            </a:r>
            <a:endParaRPr lang="en-US" sz="975" dirty="0"/>
          </a:p>
        </p:txBody>
      </p:sp>
      <p:sp>
        <p:nvSpPr>
          <p:cNvPr id="36" name="Text 34"/>
          <p:cNvSpPr txBox="1"/>
          <p:nvPr/>
        </p:nvSpPr>
        <p:spPr>
          <a:xfrm>
            <a:off x="800100" y="56388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25장</a:t>
            </a:r>
            <a:endParaRPr lang="en-US" sz="2250" dirty="0"/>
          </a:p>
        </p:txBody>
      </p:sp>
      <p:sp>
        <p:nvSpPr>
          <p:cNvPr id="37" name="Shape 35"/>
          <p:cNvSpPr/>
          <p:nvPr/>
        </p:nvSpPr>
        <p:spPr>
          <a:xfrm>
            <a:off x="4343400" y="5295900"/>
            <a:ext cx="3505200" cy="838200"/>
          </a:xfrm>
          <a:prstGeom prst="roundRect">
            <a:avLst>
              <a:gd name="adj" fmla="val 18182"/>
            </a:avLst>
          </a:prstGeom>
          <a:solidFill>
            <a:srgbClr val="F7F8FA"/>
          </a:solidFill>
          <a:ln w="12700">
            <a:solidFill>
              <a:srgbClr val="E5E7EB"/>
            </a:solidFill>
            <a:prstDash val="solid"/>
          </a:ln>
        </p:spPr>
        <p:txBody>
          <a:bodyPr/>
          <a:lstStyle/>
          <a:p>
            <a:endParaRPr lang="ko-KR" altLang="en-US"/>
          </a:p>
        </p:txBody>
      </p:sp>
      <p:sp>
        <p:nvSpPr>
          <p:cNvPr id="38" name="Text 36"/>
          <p:cNvSpPr txBox="1"/>
          <p:nvPr/>
        </p:nvSpPr>
        <p:spPr>
          <a:xfrm>
            <a:off x="4533900" y="54483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a:t>
            </a:r>
            <a:endParaRPr lang="en-US" sz="975" dirty="0"/>
          </a:p>
        </p:txBody>
      </p:sp>
      <p:sp>
        <p:nvSpPr>
          <p:cNvPr id="39" name="Text 37"/>
          <p:cNvSpPr txBox="1"/>
          <p:nvPr/>
        </p:nvSpPr>
        <p:spPr>
          <a:xfrm>
            <a:off x="4533900" y="56388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7장</a:t>
            </a:r>
            <a:endParaRPr lang="en-US" sz="2250" dirty="0"/>
          </a:p>
        </p:txBody>
      </p:sp>
      <p:sp>
        <p:nvSpPr>
          <p:cNvPr id="40" name="Shape 38"/>
          <p:cNvSpPr/>
          <p:nvPr/>
        </p:nvSpPr>
        <p:spPr>
          <a:xfrm>
            <a:off x="8077200" y="5295900"/>
            <a:ext cx="3505200" cy="838200"/>
          </a:xfrm>
          <a:prstGeom prst="roundRect">
            <a:avLst>
              <a:gd name="adj" fmla="val 18182"/>
            </a:avLst>
          </a:prstGeom>
          <a:solidFill>
            <a:srgbClr val="F7F8FA"/>
          </a:solidFill>
          <a:ln w="12700">
            <a:solidFill>
              <a:srgbClr val="E5E7EB"/>
            </a:solidFill>
            <a:prstDash val="solid"/>
          </a:ln>
        </p:spPr>
        <p:txBody>
          <a:bodyPr/>
          <a:lstStyle/>
          <a:p>
            <a:endParaRPr lang="ko-KR" altLang="en-US"/>
          </a:p>
        </p:txBody>
      </p:sp>
      <p:sp>
        <p:nvSpPr>
          <p:cNvPr id="41" name="Text 39"/>
          <p:cNvSpPr txBox="1"/>
          <p:nvPr/>
        </p:nvSpPr>
        <p:spPr>
          <a:xfrm>
            <a:off x="8267700" y="54483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산출 구간</a:t>
            </a:r>
            <a:endParaRPr lang="en-US" sz="975" dirty="0"/>
          </a:p>
        </p:txBody>
      </p:sp>
      <p:sp>
        <p:nvSpPr>
          <p:cNvPr id="42" name="Text 40"/>
          <p:cNvSpPr txBox="1"/>
          <p:nvPr/>
        </p:nvSpPr>
        <p:spPr>
          <a:xfrm>
            <a:off x="8267700" y="56388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13.06년</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문제 제기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기성 테마 ETF는 왜 부족한가</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같은 테마인데 운용사마다 구성이 다릅니다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3</a:t>
            </a:r>
            <a:endParaRPr lang="en-US" sz="900" dirty="0"/>
          </a:p>
        </p:txBody>
      </p:sp>
      <p:sp>
        <p:nvSpPr>
          <p:cNvPr id="9" name="Shape 7"/>
          <p:cNvSpPr/>
          <p:nvPr/>
        </p:nvSpPr>
        <p:spPr>
          <a:xfrm>
            <a:off x="609600" y="2590800"/>
            <a:ext cx="5372100" cy="1714500"/>
          </a:xfrm>
          <a:prstGeom prst="roundRect">
            <a:avLst>
              <a:gd name="adj" fmla="val 8889"/>
            </a:avLst>
          </a:prstGeom>
          <a:solidFill>
            <a:srgbClr val="FFFFFF"/>
          </a:solidFill>
          <a:ln w="12700">
            <a:solidFill>
              <a:srgbClr val="E5E7EB"/>
            </a:solidFill>
            <a:prstDash val="solid"/>
          </a:ln>
        </p:spPr>
        <p:txBody>
          <a:bodyPr/>
          <a:lstStyle/>
          <a:p>
            <a:endParaRPr lang="ko-KR" altLang="en-US"/>
          </a:p>
        </p:txBody>
      </p:sp>
      <p:sp>
        <p:nvSpPr>
          <p:cNvPr id="10" name="Text 8"/>
          <p:cNvSpPr txBox="1"/>
          <p:nvPr/>
        </p:nvSpPr>
        <p:spPr>
          <a:xfrm>
            <a:off x="8001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기존 테마 투자의 한계</a:t>
            </a:r>
            <a:endParaRPr lang="en-US" sz="1425" dirty="0"/>
          </a:p>
        </p:txBody>
      </p:sp>
      <p:sp>
        <p:nvSpPr>
          <p:cNvPr id="11" name="Text 9"/>
          <p:cNvSpPr txBox="1"/>
          <p:nvPr/>
        </p:nvSpPr>
        <p:spPr>
          <a:xfrm>
            <a:off x="800100" y="3086100"/>
            <a:ext cx="4991100" cy="1066800"/>
          </a:xfrm>
          <a:prstGeom prst="rect">
            <a:avLst/>
          </a:prstGeom>
          <a:noFill/>
          <a:ln/>
        </p:spPr>
        <p:txBody>
          <a:bodyPr wrap="square" lIns="0" tIns="0" rIns="0" bIns="0" rtlCol="0" anchor="t"/>
          <a:lstStyle/>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운용사 재량이 들어간다 — 같은 테마인데 구성이 다르다</a:t>
            </a: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편입·제외 근거가 공개되지 않는다</a:t>
            </a: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한·미를 함께 담는 규칙 기반 상품이 드물다</a:t>
            </a:r>
            <a:endParaRPr lang="en-US" sz="1125" dirty="0"/>
          </a:p>
        </p:txBody>
      </p:sp>
      <p:sp>
        <p:nvSpPr>
          <p:cNvPr id="12" name="Shape 10"/>
          <p:cNvSpPr/>
          <p:nvPr/>
        </p:nvSpPr>
        <p:spPr>
          <a:xfrm>
            <a:off x="6210300" y="2590800"/>
            <a:ext cx="5372100" cy="1714500"/>
          </a:xfrm>
          <a:prstGeom prst="roundRect">
            <a:avLst>
              <a:gd name="adj" fmla="val 17778"/>
            </a:avLst>
          </a:prstGeom>
          <a:solidFill>
            <a:srgbClr val="FF5530"/>
          </a:solidFill>
          <a:ln/>
        </p:spPr>
        <p:txBody>
          <a:bodyPr/>
          <a:lstStyle/>
          <a:p>
            <a:endParaRPr lang="ko-KR" altLang="en-US"/>
          </a:p>
        </p:txBody>
      </p:sp>
      <p:sp>
        <p:nvSpPr>
          <p:cNvPr id="13" name="Text 11"/>
          <p:cNvSpPr txBox="1"/>
          <p:nvPr/>
        </p:nvSpPr>
        <p:spPr>
          <a:xfrm>
            <a:off x="6515100" y="2781300"/>
            <a:ext cx="4762500" cy="247650"/>
          </a:xfrm>
          <a:prstGeom prst="rect">
            <a:avLst/>
          </a:prstGeom>
          <a:noFill/>
          <a:ln/>
        </p:spPr>
        <p:txBody>
          <a:bodyPr wrap="square" lIns="0" tIns="0" rIns="0" bIns="0" rtlCol="0" anchor="ctr"/>
          <a:lstStyle/>
          <a:p>
            <a:pPr marL="0" indent="0">
              <a:buNone/>
            </a:pPr>
            <a:r>
              <a:rPr lang="en-US" sz="1425" b="1" dirty="0">
                <a:solidFill>
                  <a:srgbClr val="FFFFFF"/>
                </a:solidFill>
                <a:latin typeface="Malgun Gothic" pitchFamily="34" charset="0"/>
                <a:ea typeface="Malgun Gothic" pitchFamily="34" charset="-122"/>
                <a:cs typeface="Malgun Gothic" pitchFamily="34" charset="-120"/>
              </a:rPr>
              <a:t>우리가 만들려는 것</a:t>
            </a:r>
            <a:endParaRPr lang="en-US" sz="1425" dirty="0"/>
          </a:p>
        </p:txBody>
      </p:sp>
      <p:sp>
        <p:nvSpPr>
          <p:cNvPr id="14" name="Text 12"/>
          <p:cNvSpPr txBox="1"/>
          <p:nvPr/>
        </p:nvSpPr>
        <p:spPr>
          <a:xfrm>
            <a:off x="6515100" y="3162300"/>
            <a:ext cx="4762500" cy="952500"/>
          </a:xfrm>
          <a:prstGeom prst="rect">
            <a:avLst/>
          </a:prstGeom>
          <a:noFill/>
          <a:ln/>
        </p:spPr>
        <p:txBody>
          <a:bodyPr wrap="square" lIns="0" tIns="0" rIns="0" bIns="0" rtlCol="0" anchor="t"/>
          <a:lstStyle/>
          <a:p>
            <a:pPr marL="0" indent="0">
              <a:lnSpc>
                <a:spcPct val="150000"/>
              </a:lnSpc>
              <a:buNone/>
            </a:pPr>
            <a:r>
              <a:rPr lang="en-US" sz="1275" dirty="0">
                <a:solidFill>
                  <a:srgbClr val="FFFFFF"/>
                </a:solidFill>
                <a:latin typeface="Malgun Gothic" pitchFamily="34" charset="0"/>
                <a:ea typeface="Malgun Gothic" pitchFamily="34" charset="-122"/>
                <a:cs typeface="Malgun Gothic" pitchFamily="34" charset="-120"/>
              </a:rPr>
              <a:t>문서화된 규칙만으로 구성종목과 비중이 정해지고</a:t>
            </a:r>
            <a:endParaRPr lang="en-US" sz="1275" dirty="0"/>
          </a:p>
          <a:p>
            <a:pPr marL="0" indent="0">
              <a:lnSpc>
                <a:spcPct val="150000"/>
              </a:lnSpc>
              <a:buNone/>
            </a:pPr>
            <a:r>
              <a:rPr lang="en-US" sz="1275" dirty="0">
                <a:solidFill>
                  <a:srgbClr val="FFFFFF"/>
                </a:solidFill>
                <a:latin typeface="Malgun Gothic" pitchFamily="34" charset="0"/>
                <a:ea typeface="Malgun Gothic" pitchFamily="34" charset="-122"/>
                <a:cs typeface="Malgun Gothic" pitchFamily="34" charset="-120"/>
              </a:rPr>
              <a:t>같은 입력이면 언제 돌려도 같은 값이 나오는 지수</a:t>
            </a:r>
            <a:endParaRPr lang="en-US" sz="1275" dirty="0"/>
          </a:p>
        </p:txBody>
      </p:sp>
      <p:sp>
        <p:nvSpPr>
          <p:cNvPr id="15" name="Shape 13"/>
          <p:cNvSpPr/>
          <p:nvPr/>
        </p:nvSpPr>
        <p:spPr>
          <a:xfrm>
            <a:off x="609600" y="4476750"/>
            <a:ext cx="10972800" cy="1695450"/>
          </a:xfrm>
          <a:prstGeom prst="roundRect">
            <a:avLst>
              <a:gd name="adj" fmla="val 8989"/>
            </a:avLst>
          </a:prstGeom>
          <a:solidFill>
            <a:srgbClr val="F7F8FA"/>
          </a:solidFill>
          <a:ln w="12700">
            <a:solidFill>
              <a:srgbClr val="A8AAB2"/>
            </a:solidFill>
            <a:prstDash val="dash"/>
          </a:ln>
        </p:spPr>
        <p:txBody>
          <a:bodyPr/>
          <a:lstStyle/>
          <a:p>
            <a:endParaRPr lang="ko-KR" altLang="en-US"/>
          </a:p>
        </p:txBody>
      </p:sp>
      <p:sp>
        <p:nvSpPr>
          <p:cNvPr id="16" name="Shape 14"/>
          <p:cNvSpPr/>
          <p:nvPr/>
        </p:nvSpPr>
        <p:spPr>
          <a:xfrm>
            <a:off x="800100" y="4648200"/>
            <a:ext cx="746760" cy="209550"/>
          </a:xfrm>
          <a:prstGeom prst="roundRect">
            <a:avLst>
              <a:gd name="adj" fmla="val 50000"/>
            </a:avLst>
          </a:prstGeom>
          <a:solidFill>
            <a:srgbClr val="F2F3F5"/>
          </a:solidFill>
          <a:ln/>
        </p:spPr>
        <p:txBody>
          <a:bodyPr/>
          <a:lstStyle/>
          <a:p>
            <a:endParaRPr lang="ko-KR" altLang="en-US"/>
          </a:p>
        </p:txBody>
      </p:sp>
      <p:sp>
        <p:nvSpPr>
          <p:cNvPr id="17" name="Text 15"/>
          <p:cNvSpPr txBox="1"/>
          <p:nvPr/>
        </p:nvSpPr>
        <p:spPr>
          <a:xfrm>
            <a:off x="800100" y="464820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추주원 제공</a:t>
            </a:r>
            <a:endParaRPr lang="en-US" sz="900" dirty="0"/>
          </a:p>
        </p:txBody>
      </p:sp>
      <p:sp>
        <p:nvSpPr>
          <p:cNvPr id="18" name="Text 16"/>
          <p:cNvSpPr txBox="1"/>
          <p:nvPr/>
        </p:nvSpPr>
        <p:spPr>
          <a:xfrm>
            <a:off x="800100" y="4933950"/>
            <a:ext cx="10591800" cy="108585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기성 테마 ETF 3종(ITA · BOTZ · GRID) 구성 비교표</a:t>
            </a:r>
            <a:endParaRPr lang="en-US" sz="1125" dirty="0"/>
          </a:p>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 같은 테마를 표방해도 상위 편입 종목과 비중이 서로 다르다는 것을 보여주는 표가 들어갑니다.</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개요 · 공통</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무엇을 만들었나 — 한 장 요약</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13년 3,076일 동안 규칙이 스스로 넣고 뺀 기록</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4</a:t>
            </a:r>
            <a:endParaRPr lang="en-US" sz="900" dirty="0"/>
          </a:p>
        </p:txBody>
      </p:sp>
      <p:pic>
        <p:nvPicPr>
          <p:cNvPr id="9" name="Image 0" descr="/root/deck/fig/02_편입히트맵.png"/>
          <p:cNvPicPr>
            <a:picLocks noChangeAspect="1"/>
          </p:cNvPicPr>
          <p:nvPr/>
        </p:nvPicPr>
        <p:blipFill>
          <a:blip r:embed="rId3"/>
          <a:stretch>
            <a:fillRect/>
          </a:stretch>
        </p:blipFill>
        <p:spPr>
          <a:xfrm>
            <a:off x="1252820" y="2552700"/>
            <a:ext cx="5762059" cy="3105150"/>
          </a:xfrm>
          <a:prstGeom prst="rect">
            <a:avLst/>
          </a:prstGeom>
        </p:spPr>
      </p:pic>
      <p:sp>
        <p:nvSpPr>
          <p:cNvPr id="10" name="Text 7"/>
          <p:cNvSpPr txBox="1"/>
          <p:nvPr/>
        </p:nvSpPr>
        <p:spPr>
          <a:xfrm>
            <a:off x="609600" y="5657850"/>
            <a:ext cx="70485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18종목 × 53회차 — 파란 칸이 규칙이 편입한 구간</a:t>
            </a:r>
            <a:endParaRPr lang="en-US" sz="900" dirty="0"/>
          </a:p>
        </p:txBody>
      </p:sp>
      <p:sp>
        <p:nvSpPr>
          <p:cNvPr id="11" name="Shape 8"/>
          <p:cNvSpPr/>
          <p:nvPr/>
        </p:nvSpPr>
        <p:spPr>
          <a:xfrm>
            <a:off x="7886700" y="2552700"/>
            <a:ext cx="3695700" cy="1905000"/>
          </a:xfrm>
          <a:prstGeom prst="roundRect">
            <a:avLst>
              <a:gd name="adj" fmla="val 8000"/>
            </a:avLst>
          </a:prstGeom>
          <a:solidFill>
            <a:srgbClr val="FFFFFF"/>
          </a:solidFill>
          <a:ln w="12700">
            <a:solidFill>
              <a:srgbClr val="E5E7EB"/>
            </a:solidFill>
            <a:prstDash val="solid"/>
          </a:ln>
        </p:spPr>
        <p:txBody>
          <a:bodyPr/>
          <a:lstStyle/>
          <a:p>
            <a:endParaRPr lang="ko-KR" altLang="en-US"/>
          </a:p>
        </p:txBody>
      </p:sp>
      <p:sp>
        <p:nvSpPr>
          <p:cNvPr id="12" name="Text 9"/>
          <p:cNvSpPr txBox="1"/>
          <p:nvPr/>
        </p:nvSpPr>
        <p:spPr>
          <a:xfrm>
            <a:off x="8077200" y="2743200"/>
            <a:ext cx="33147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설계 사양</a:t>
            </a:r>
            <a:endParaRPr lang="en-US" sz="1425" dirty="0"/>
          </a:p>
        </p:txBody>
      </p:sp>
      <p:sp>
        <p:nvSpPr>
          <p:cNvPr id="13" name="Text 10"/>
          <p:cNvSpPr txBox="1"/>
          <p:nvPr/>
        </p:nvSpPr>
        <p:spPr>
          <a:xfrm>
            <a:off x="8077200" y="3048000"/>
            <a:ext cx="3314700" cy="1257300"/>
          </a:xfrm>
          <a:prstGeom prst="rect">
            <a:avLst/>
          </a:prstGeom>
          <a:noFill/>
          <a:ln/>
        </p:spPr>
        <p:txBody>
          <a:bodyPr wrap="square" lIns="0" tIns="0" rIns="0" bIns="0" rtlCol="0" anchor="t"/>
          <a:lstStyle/>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테마 3 × 지역 2 = 6셀, 각 1/6</a:t>
            </a: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PR · 원화 · 무헤지 · 기준 1,000</a:t>
            </a: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분기 정기변경</a:t>
            </a: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비교지수  KOSPI200 PR + Russell3000 PR</a:t>
            </a:r>
            <a:endParaRPr lang="en-US" sz="1050" dirty="0"/>
          </a:p>
        </p:txBody>
      </p:sp>
      <p:sp>
        <p:nvSpPr>
          <p:cNvPr id="14" name="Shape 11"/>
          <p:cNvSpPr/>
          <p:nvPr/>
        </p:nvSpPr>
        <p:spPr>
          <a:xfrm>
            <a:off x="7886700" y="4610100"/>
            <a:ext cx="3695700" cy="457200"/>
          </a:xfrm>
          <a:prstGeom prst="roundRect">
            <a:avLst>
              <a:gd name="adj" fmla="val 25000"/>
            </a:avLst>
          </a:prstGeom>
          <a:solidFill>
            <a:srgbClr val="F7F8FA"/>
          </a:solidFill>
          <a:ln/>
        </p:spPr>
        <p:txBody>
          <a:bodyPr/>
          <a:lstStyle/>
          <a:p>
            <a:endParaRPr lang="ko-KR" altLang="en-US"/>
          </a:p>
        </p:txBody>
      </p:sp>
      <p:sp>
        <p:nvSpPr>
          <p:cNvPr id="15" name="Text 12"/>
          <p:cNvSpPr txBox="1"/>
          <p:nvPr/>
        </p:nvSpPr>
        <p:spPr>
          <a:xfrm>
            <a:off x="8039100" y="4610100"/>
            <a:ext cx="2032635" cy="457200"/>
          </a:xfrm>
          <a:prstGeom prst="rect">
            <a:avLst/>
          </a:prstGeom>
          <a:noFill/>
          <a:ln/>
        </p:spPr>
        <p:txBody>
          <a:bodyPr wrap="square" lIns="0" tIns="0" rIns="0" bIns="0" rtlCol="0" anchor="ctr"/>
          <a:lstStyle/>
          <a:p>
            <a:pPr marL="0" indent="0">
              <a:buNone/>
            </a:pPr>
            <a:r>
              <a:rPr lang="en-US" sz="1050" dirty="0">
                <a:solidFill>
                  <a:srgbClr val="5F5F5F"/>
                </a:solidFill>
                <a:latin typeface="Malgun Gothic" pitchFamily="34" charset="0"/>
                <a:ea typeface="Malgun Gothic" pitchFamily="34" charset="-122"/>
                <a:cs typeface="Malgun Gothic" pitchFamily="34" charset="-120"/>
              </a:rPr>
              <a:t>산출</a:t>
            </a:r>
            <a:endParaRPr lang="en-US" sz="1050" dirty="0"/>
          </a:p>
        </p:txBody>
      </p:sp>
      <p:sp>
        <p:nvSpPr>
          <p:cNvPr id="16" name="Text 13"/>
          <p:cNvSpPr txBox="1"/>
          <p:nvPr/>
        </p:nvSpPr>
        <p:spPr>
          <a:xfrm>
            <a:off x="9549765" y="4610100"/>
            <a:ext cx="1880235" cy="457200"/>
          </a:xfrm>
          <a:prstGeom prst="rect">
            <a:avLst/>
          </a:prstGeom>
          <a:noFill/>
          <a:ln/>
        </p:spPr>
        <p:txBody>
          <a:bodyPr wrap="square" lIns="0" tIns="0" rIns="0" bIns="0" rtlCol="0" anchor="ctr"/>
          <a:lstStyle/>
          <a:p>
            <a:pPr marL="0" indent="0" algn="r">
              <a:buNone/>
            </a:pPr>
            <a:r>
              <a:rPr lang="en-US" sz="1350" b="1" dirty="0">
                <a:solidFill>
                  <a:srgbClr val="0A0A0A"/>
                </a:solidFill>
                <a:latin typeface="Malgun Gothic" pitchFamily="34" charset="0"/>
                <a:ea typeface="Malgun Gothic" pitchFamily="34" charset="-122"/>
                <a:cs typeface="Malgun Gothic" pitchFamily="34" charset="-120"/>
              </a:rPr>
              <a:t>3,076일</a:t>
            </a:r>
            <a:endParaRPr lang="en-US" sz="1350" dirty="0"/>
          </a:p>
        </p:txBody>
      </p:sp>
      <p:sp>
        <p:nvSpPr>
          <p:cNvPr id="17" name="Shape 14"/>
          <p:cNvSpPr/>
          <p:nvPr/>
        </p:nvSpPr>
        <p:spPr>
          <a:xfrm>
            <a:off x="7886700" y="5143500"/>
            <a:ext cx="3695700" cy="457200"/>
          </a:xfrm>
          <a:prstGeom prst="roundRect">
            <a:avLst>
              <a:gd name="adj" fmla="val 25000"/>
            </a:avLst>
          </a:prstGeom>
          <a:solidFill>
            <a:srgbClr val="F7F8FA"/>
          </a:solidFill>
          <a:ln/>
        </p:spPr>
        <p:txBody>
          <a:bodyPr/>
          <a:lstStyle/>
          <a:p>
            <a:endParaRPr lang="ko-KR" altLang="en-US"/>
          </a:p>
        </p:txBody>
      </p:sp>
      <p:sp>
        <p:nvSpPr>
          <p:cNvPr id="18" name="Text 15"/>
          <p:cNvSpPr txBox="1"/>
          <p:nvPr/>
        </p:nvSpPr>
        <p:spPr>
          <a:xfrm>
            <a:off x="8039100" y="5143500"/>
            <a:ext cx="2032635" cy="457200"/>
          </a:xfrm>
          <a:prstGeom prst="rect">
            <a:avLst/>
          </a:prstGeom>
          <a:noFill/>
          <a:ln/>
        </p:spPr>
        <p:txBody>
          <a:bodyPr wrap="square" lIns="0" tIns="0" rIns="0" bIns="0" rtlCol="0" anchor="ctr"/>
          <a:lstStyle/>
          <a:p>
            <a:pPr marL="0" indent="0">
              <a:buNone/>
            </a:pPr>
            <a:r>
              <a:rPr lang="en-US" sz="1050" dirty="0">
                <a:solidFill>
                  <a:srgbClr val="5F5F5F"/>
                </a:solidFill>
                <a:latin typeface="Malgun Gothic" pitchFamily="34" charset="0"/>
                <a:ea typeface="Malgun Gothic" pitchFamily="34" charset="-122"/>
                <a:cs typeface="Malgun Gothic" pitchFamily="34" charset="-120"/>
              </a:rPr>
              <a:t>정기변경</a:t>
            </a:r>
            <a:endParaRPr lang="en-US" sz="1050" dirty="0"/>
          </a:p>
        </p:txBody>
      </p:sp>
      <p:sp>
        <p:nvSpPr>
          <p:cNvPr id="19" name="Text 16"/>
          <p:cNvSpPr txBox="1"/>
          <p:nvPr/>
        </p:nvSpPr>
        <p:spPr>
          <a:xfrm>
            <a:off x="9549765" y="5143500"/>
            <a:ext cx="1880235" cy="457200"/>
          </a:xfrm>
          <a:prstGeom prst="rect">
            <a:avLst/>
          </a:prstGeom>
          <a:noFill/>
          <a:ln/>
        </p:spPr>
        <p:txBody>
          <a:bodyPr wrap="square" lIns="0" tIns="0" rIns="0" bIns="0" rtlCol="0" anchor="ctr"/>
          <a:lstStyle/>
          <a:p>
            <a:pPr marL="0" indent="0" algn="r">
              <a:buNone/>
            </a:pPr>
            <a:r>
              <a:rPr lang="en-US" sz="1350" b="1" dirty="0">
                <a:solidFill>
                  <a:srgbClr val="0A0A0A"/>
                </a:solidFill>
                <a:latin typeface="Malgun Gothic" pitchFamily="34" charset="0"/>
                <a:ea typeface="Malgun Gothic" pitchFamily="34" charset="-122"/>
                <a:cs typeface="Malgun Gothic" pitchFamily="34" charset="-120"/>
              </a:rPr>
              <a:t>53회</a:t>
            </a:r>
            <a:endParaRPr lang="en-US" sz="1350" dirty="0"/>
          </a:p>
        </p:txBody>
      </p:sp>
      <p:sp>
        <p:nvSpPr>
          <p:cNvPr id="20" name="Shape 17"/>
          <p:cNvSpPr/>
          <p:nvPr/>
        </p:nvSpPr>
        <p:spPr>
          <a:xfrm>
            <a:off x="7886700" y="5676900"/>
            <a:ext cx="3695700" cy="457200"/>
          </a:xfrm>
          <a:prstGeom prst="roundRect">
            <a:avLst>
              <a:gd name="adj" fmla="val 25000"/>
            </a:avLst>
          </a:prstGeom>
          <a:solidFill>
            <a:srgbClr val="F7F8FA"/>
          </a:solidFill>
          <a:ln/>
        </p:spPr>
        <p:txBody>
          <a:bodyPr/>
          <a:lstStyle/>
          <a:p>
            <a:endParaRPr lang="ko-KR" altLang="en-US"/>
          </a:p>
        </p:txBody>
      </p:sp>
      <p:sp>
        <p:nvSpPr>
          <p:cNvPr id="21" name="Text 18"/>
          <p:cNvSpPr txBox="1"/>
          <p:nvPr/>
        </p:nvSpPr>
        <p:spPr>
          <a:xfrm>
            <a:off x="8039100" y="5676900"/>
            <a:ext cx="2032635" cy="457200"/>
          </a:xfrm>
          <a:prstGeom prst="rect">
            <a:avLst/>
          </a:prstGeom>
          <a:noFill/>
          <a:ln/>
        </p:spPr>
        <p:txBody>
          <a:bodyPr wrap="square" lIns="0" tIns="0" rIns="0" bIns="0" rtlCol="0" anchor="ctr"/>
          <a:lstStyle/>
          <a:p>
            <a:pPr marL="0" indent="0">
              <a:buNone/>
            </a:pPr>
            <a:r>
              <a:rPr lang="en-US" sz="1050" dirty="0">
                <a:solidFill>
                  <a:srgbClr val="5F5F5F"/>
                </a:solidFill>
                <a:latin typeface="Malgun Gothic" pitchFamily="34" charset="0"/>
                <a:ea typeface="Malgun Gothic" pitchFamily="34" charset="-122"/>
                <a:cs typeface="Malgun Gothic" pitchFamily="34" charset="-120"/>
              </a:rPr>
              <a:t>구성변경</a:t>
            </a:r>
            <a:endParaRPr lang="en-US" sz="1050" dirty="0"/>
          </a:p>
        </p:txBody>
      </p:sp>
      <p:sp>
        <p:nvSpPr>
          <p:cNvPr id="22" name="Text 19"/>
          <p:cNvSpPr txBox="1"/>
          <p:nvPr/>
        </p:nvSpPr>
        <p:spPr>
          <a:xfrm>
            <a:off x="9549765" y="5676900"/>
            <a:ext cx="1880235" cy="457200"/>
          </a:xfrm>
          <a:prstGeom prst="rect">
            <a:avLst/>
          </a:prstGeom>
          <a:noFill/>
          <a:ln/>
        </p:spPr>
        <p:txBody>
          <a:bodyPr wrap="square" lIns="0" tIns="0" rIns="0" bIns="0" rtlCol="0" anchor="ctr"/>
          <a:lstStyle/>
          <a:p>
            <a:pPr marL="0" indent="0" algn="r">
              <a:buNone/>
            </a:pPr>
            <a:r>
              <a:rPr lang="en-US" sz="1350" b="1" dirty="0">
                <a:solidFill>
                  <a:srgbClr val="0A0A0A"/>
                </a:solidFill>
                <a:latin typeface="Malgun Gothic" pitchFamily="34" charset="0"/>
                <a:ea typeface="Malgun Gothic" pitchFamily="34" charset="-122"/>
                <a:cs typeface="Malgun Gothic" pitchFamily="34" charset="-120"/>
              </a:rPr>
              <a:t>28회</a:t>
            </a:r>
            <a:endParaRPr lang="en-US" sz="1350" dirty="0"/>
          </a:p>
        </p:txBody>
      </p:sp>
      <p:sp>
        <p:nvSpPr>
          <p:cNvPr id="23" name="Text 20"/>
          <p:cNvSpPr txBox="1"/>
          <p:nvPr/>
        </p:nvSpPr>
        <p:spPr>
          <a:xfrm>
            <a:off x="609600" y="5924550"/>
            <a:ext cx="70485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06_코드/backtest_long/figures/02_편입히트맵.png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자료 · 김근형</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자료의 시간경계 — PIT란</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같은 문서라도 '언제부터 알 수 있었는가'가 다릅니다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5</a:t>
            </a:r>
            <a:endParaRPr lang="en-US" sz="900" dirty="0"/>
          </a:p>
        </p:txBody>
      </p:sp>
      <p:sp>
        <p:nvSpPr>
          <p:cNvPr id="9" name="Shape 7"/>
          <p:cNvSpPr/>
          <p:nvPr/>
        </p:nvSpPr>
        <p:spPr>
          <a:xfrm>
            <a:off x="609600" y="2590800"/>
            <a:ext cx="1485900" cy="590550"/>
          </a:xfrm>
          <a:prstGeom prst="roundRect">
            <a:avLst>
              <a:gd name="adj" fmla="val 19355"/>
            </a:avLst>
          </a:prstGeom>
          <a:solidFill>
            <a:srgbClr val="F7F8FA"/>
          </a:solidFill>
          <a:ln/>
        </p:spPr>
        <p:txBody>
          <a:bodyPr/>
          <a:lstStyle/>
          <a:p>
            <a:endParaRPr lang="ko-KR" altLang="en-US"/>
          </a:p>
        </p:txBody>
      </p:sp>
      <p:sp>
        <p:nvSpPr>
          <p:cNvPr id="10" name="Text 8"/>
          <p:cNvSpPr txBox="1"/>
          <p:nvPr/>
        </p:nvSpPr>
        <p:spPr>
          <a:xfrm>
            <a:off x="666750" y="2590800"/>
            <a:ext cx="1371600" cy="590550"/>
          </a:xfrm>
          <a:prstGeom prst="rect">
            <a:avLst/>
          </a:prstGeom>
          <a:noFill/>
          <a:ln/>
        </p:spPr>
        <p:txBody>
          <a:bodyPr wrap="square" lIns="0" tIns="0" rIns="0" bIns="0" rtlCol="0" anchor="ctr"/>
          <a:lstStyle/>
          <a:p>
            <a:pPr marL="0" indent="0" algn="ctr">
              <a:buNone/>
            </a:pPr>
            <a:r>
              <a:rPr lang="en-US" sz="1050" dirty="0">
                <a:solidFill>
                  <a:srgbClr val="222222"/>
                </a:solidFill>
                <a:latin typeface="Malgun Gothic" pitchFamily="34" charset="0"/>
                <a:ea typeface="Malgun Gothic" pitchFamily="34" charset="-122"/>
                <a:cs typeface="Malgun Gothic" pitchFamily="34" charset="-120"/>
              </a:rPr>
              <a:t>회계기간</a:t>
            </a:r>
            <a:endParaRPr lang="en-US" sz="1050" dirty="0"/>
          </a:p>
        </p:txBody>
      </p:sp>
      <p:sp>
        <p:nvSpPr>
          <p:cNvPr id="11" name="Shape 9"/>
          <p:cNvSpPr/>
          <p:nvPr/>
        </p:nvSpPr>
        <p:spPr>
          <a:xfrm>
            <a:off x="2190750" y="2590800"/>
            <a:ext cx="1485900" cy="590550"/>
          </a:xfrm>
          <a:prstGeom prst="roundRect">
            <a:avLst>
              <a:gd name="adj" fmla="val 19355"/>
            </a:avLst>
          </a:prstGeom>
          <a:solidFill>
            <a:srgbClr val="F7F8FA"/>
          </a:solidFill>
          <a:ln/>
        </p:spPr>
        <p:txBody>
          <a:bodyPr/>
          <a:lstStyle/>
          <a:p>
            <a:endParaRPr lang="ko-KR" altLang="en-US"/>
          </a:p>
        </p:txBody>
      </p:sp>
      <p:sp>
        <p:nvSpPr>
          <p:cNvPr id="12" name="Text 10"/>
          <p:cNvSpPr txBox="1"/>
          <p:nvPr/>
        </p:nvSpPr>
        <p:spPr>
          <a:xfrm>
            <a:off x="2247900" y="2590800"/>
            <a:ext cx="1371600" cy="590550"/>
          </a:xfrm>
          <a:prstGeom prst="rect">
            <a:avLst/>
          </a:prstGeom>
          <a:noFill/>
          <a:ln/>
        </p:spPr>
        <p:txBody>
          <a:bodyPr wrap="square" lIns="0" tIns="0" rIns="0" bIns="0" rtlCol="0" anchor="ctr"/>
          <a:lstStyle/>
          <a:p>
            <a:pPr marL="0" indent="0" algn="ctr">
              <a:buNone/>
            </a:pPr>
            <a:r>
              <a:rPr lang="en-US" sz="1050" dirty="0">
                <a:solidFill>
                  <a:srgbClr val="222222"/>
                </a:solidFill>
                <a:latin typeface="Malgun Gothic" pitchFamily="34" charset="0"/>
                <a:ea typeface="Malgun Gothic" pitchFamily="34" charset="-122"/>
                <a:cs typeface="Malgun Gothic" pitchFamily="34" charset="-120"/>
              </a:rPr>
              <a:t>접수일</a:t>
            </a:r>
            <a:endParaRPr lang="en-US" sz="1050" dirty="0"/>
          </a:p>
        </p:txBody>
      </p:sp>
      <p:sp>
        <p:nvSpPr>
          <p:cNvPr id="13" name="Shape 11"/>
          <p:cNvSpPr/>
          <p:nvPr/>
        </p:nvSpPr>
        <p:spPr>
          <a:xfrm>
            <a:off x="3771900" y="2590800"/>
            <a:ext cx="1485900" cy="590550"/>
          </a:xfrm>
          <a:prstGeom prst="roundRect">
            <a:avLst>
              <a:gd name="adj" fmla="val 19355"/>
            </a:avLst>
          </a:prstGeom>
          <a:solidFill>
            <a:srgbClr val="F7F8FA"/>
          </a:solidFill>
          <a:ln/>
        </p:spPr>
        <p:txBody>
          <a:bodyPr/>
          <a:lstStyle/>
          <a:p>
            <a:endParaRPr lang="ko-KR" altLang="en-US"/>
          </a:p>
        </p:txBody>
      </p:sp>
      <p:sp>
        <p:nvSpPr>
          <p:cNvPr id="14" name="Text 12"/>
          <p:cNvSpPr txBox="1"/>
          <p:nvPr/>
        </p:nvSpPr>
        <p:spPr>
          <a:xfrm>
            <a:off x="3829050" y="2590800"/>
            <a:ext cx="1371600" cy="590550"/>
          </a:xfrm>
          <a:prstGeom prst="rect">
            <a:avLst/>
          </a:prstGeom>
          <a:noFill/>
          <a:ln/>
        </p:spPr>
        <p:txBody>
          <a:bodyPr wrap="square" lIns="0" tIns="0" rIns="0" bIns="0" rtlCol="0" anchor="ctr"/>
          <a:lstStyle/>
          <a:p>
            <a:pPr marL="0" indent="0" algn="ctr">
              <a:buNone/>
            </a:pPr>
            <a:r>
              <a:rPr lang="en-US" sz="1050" dirty="0">
                <a:solidFill>
                  <a:srgbClr val="222222"/>
                </a:solidFill>
                <a:latin typeface="Malgun Gothic" pitchFamily="34" charset="0"/>
                <a:ea typeface="Malgun Gothic" pitchFamily="34" charset="-122"/>
                <a:cs typeface="Malgun Gothic" pitchFamily="34" charset="-120"/>
              </a:rPr>
              <a:t>공개시각</a:t>
            </a:r>
            <a:endParaRPr lang="en-US" sz="1050" dirty="0"/>
          </a:p>
        </p:txBody>
      </p:sp>
      <p:sp>
        <p:nvSpPr>
          <p:cNvPr id="15" name="Shape 13"/>
          <p:cNvSpPr/>
          <p:nvPr/>
        </p:nvSpPr>
        <p:spPr>
          <a:xfrm>
            <a:off x="5353050" y="2590800"/>
            <a:ext cx="1485900" cy="590550"/>
          </a:xfrm>
          <a:prstGeom prst="roundRect">
            <a:avLst>
              <a:gd name="adj" fmla="val 19355"/>
            </a:avLst>
          </a:prstGeom>
          <a:solidFill>
            <a:srgbClr val="0A0A0A"/>
          </a:solidFill>
          <a:ln/>
        </p:spPr>
        <p:txBody>
          <a:bodyPr/>
          <a:lstStyle/>
          <a:p>
            <a:endParaRPr lang="ko-KR" altLang="en-US"/>
          </a:p>
        </p:txBody>
      </p:sp>
      <p:sp>
        <p:nvSpPr>
          <p:cNvPr id="16" name="Text 14"/>
          <p:cNvSpPr txBox="1"/>
          <p:nvPr/>
        </p:nvSpPr>
        <p:spPr>
          <a:xfrm>
            <a:off x="5410200" y="2590800"/>
            <a:ext cx="1371600" cy="5905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이용가능시점</a:t>
            </a:r>
            <a:endParaRPr lang="en-US" sz="1050" dirty="0"/>
          </a:p>
        </p:txBody>
      </p:sp>
      <p:sp>
        <p:nvSpPr>
          <p:cNvPr id="17" name="Shape 15"/>
          <p:cNvSpPr/>
          <p:nvPr/>
        </p:nvSpPr>
        <p:spPr>
          <a:xfrm>
            <a:off x="6934200" y="2590800"/>
            <a:ext cx="1485900" cy="590550"/>
          </a:xfrm>
          <a:prstGeom prst="roundRect">
            <a:avLst>
              <a:gd name="adj" fmla="val 19355"/>
            </a:avLst>
          </a:prstGeom>
          <a:solidFill>
            <a:srgbClr val="F7F8FA"/>
          </a:solidFill>
          <a:ln/>
        </p:spPr>
        <p:txBody>
          <a:bodyPr/>
          <a:lstStyle/>
          <a:p>
            <a:endParaRPr lang="ko-KR" altLang="en-US"/>
          </a:p>
        </p:txBody>
      </p:sp>
      <p:sp>
        <p:nvSpPr>
          <p:cNvPr id="18" name="Text 16"/>
          <p:cNvSpPr txBox="1"/>
          <p:nvPr/>
        </p:nvSpPr>
        <p:spPr>
          <a:xfrm>
            <a:off x="6991350" y="2590800"/>
            <a:ext cx="1371600" cy="590550"/>
          </a:xfrm>
          <a:prstGeom prst="rect">
            <a:avLst/>
          </a:prstGeom>
          <a:noFill/>
          <a:ln/>
        </p:spPr>
        <p:txBody>
          <a:bodyPr wrap="square" lIns="0" tIns="0" rIns="0" bIns="0" rtlCol="0" anchor="ctr"/>
          <a:lstStyle/>
          <a:p>
            <a:pPr marL="0" indent="0" algn="ctr">
              <a:buNone/>
            </a:pPr>
            <a:r>
              <a:rPr lang="en-US" sz="1050" dirty="0">
                <a:solidFill>
                  <a:srgbClr val="222222"/>
                </a:solidFill>
                <a:latin typeface="Malgun Gothic" pitchFamily="34" charset="0"/>
                <a:ea typeface="Malgun Gothic" pitchFamily="34" charset="-122"/>
                <a:cs typeface="Malgun Gothic" pitchFamily="34" charset="-120"/>
              </a:rPr>
              <a:t>선정일</a:t>
            </a:r>
            <a:endParaRPr lang="en-US" sz="1050" dirty="0"/>
          </a:p>
        </p:txBody>
      </p:sp>
      <p:sp>
        <p:nvSpPr>
          <p:cNvPr id="19" name="Shape 17"/>
          <p:cNvSpPr/>
          <p:nvPr/>
        </p:nvSpPr>
        <p:spPr>
          <a:xfrm>
            <a:off x="8515350" y="2590800"/>
            <a:ext cx="1485900" cy="590550"/>
          </a:xfrm>
          <a:prstGeom prst="roundRect">
            <a:avLst>
              <a:gd name="adj" fmla="val 19355"/>
            </a:avLst>
          </a:prstGeom>
          <a:solidFill>
            <a:srgbClr val="F7F8FA"/>
          </a:solidFill>
          <a:ln/>
        </p:spPr>
        <p:txBody>
          <a:bodyPr/>
          <a:lstStyle/>
          <a:p>
            <a:endParaRPr lang="ko-KR" altLang="en-US"/>
          </a:p>
        </p:txBody>
      </p:sp>
      <p:sp>
        <p:nvSpPr>
          <p:cNvPr id="20" name="Text 18"/>
          <p:cNvSpPr txBox="1"/>
          <p:nvPr/>
        </p:nvSpPr>
        <p:spPr>
          <a:xfrm>
            <a:off x="8572500" y="2590800"/>
            <a:ext cx="1371600" cy="590550"/>
          </a:xfrm>
          <a:prstGeom prst="rect">
            <a:avLst/>
          </a:prstGeom>
          <a:noFill/>
          <a:ln/>
        </p:spPr>
        <p:txBody>
          <a:bodyPr wrap="square" lIns="0" tIns="0" rIns="0" bIns="0" rtlCol="0" anchor="ctr"/>
          <a:lstStyle/>
          <a:p>
            <a:pPr marL="0" indent="0" algn="ctr">
              <a:buNone/>
            </a:pPr>
            <a:r>
              <a:rPr lang="en-US" sz="1050" dirty="0">
                <a:solidFill>
                  <a:srgbClr val="222222"/>
                </a:solidFill>
                <a:latin typeface="Malgun Gothic" pitchFamily="34" charset="0"/>
                <a:ea typeface="Malgun Gothic" pitchFamily="34" charset="-122"/>
                <a:cs typeface="Malgun Gothic" pitchFamily="34" charset="-120"/>
              </a:rPr>
              <a:t>효력일</a:t>
            </a:r>
            <a:endParaRPr lang="en-US" sz="1050" dirty="0"/>
          </a:p>
        </p:txBody>
      </p:sp>
      <p:sp>
        <p:nvSpPr>
          <p:cNvPr id="21" name="Shape 19"/>
          <p:cNvSpPr/>
          <p:nvPr/>
        </p:nvSpPr>
        <p:spPr>
          <a:xfrm>
            <a:off x="10096500" y="2590800"/>
            <a:ext cx="1485900" cy="590550"/>
          </a:xfrm>
          <a:prstGeom prst="roundRect">
            <a:avLst>
              <a:gd name="adj" fmla="val 19355"/>
            </a:avLst>
          </a:prstGeom>
          <a:solidFill>
            <a:srgbClr val="F7F8FA"/>
          </a:solidFill>
          <a:ln/>
        </p:spPr>
        <p:txBody>
          <a:bodyPr/>
          <a:lstStyle/>
          <a:p>
            <a:endParaRPr lang="ko-KR" altLang="en-US"/>
          </a:p>
        </p:txBody>
      </p:sp>
      <p:sp>
        <p:nvSpPr>
          <p:cNvPr id="22" name="Text 20"/>
          <p:cNvSpPr txBox="1"/>
          <p:nvPr/>
        </p:nvSpPr>
        <p:spPr>
          <a:xfrm>
            <a:off x="10153650" y="2590800"/>
            <a:ext cx="1371600" cy="590550"/>
          </a:xfrm>
          <a:prstGeom prst="rect">
            <a:avLst/>
          </a:prstGeom>
          <a:noFill/>
          <a:ln/>
        </p:spPr>
        <p:txBody>
          <a:bodyPr wrap="square" lIns="0" tIns="0" rIns="0" bIns="0" rtlCol="0" anchor="ctr"/>
          <a:lstStyle/>
          <a:p>
            <a:pPr marL="0" indent="0" algn="ctr">
              <a:buNone/>
            </a:pPr>
            <a:r>
              <a:rPr lang="en-US" sz="1050" dirty="0">
                <a:solidFill>
                  <a:srgbClr val="222222"/>
                </a:solidFill>
                <a:latin typeface="Malgun Gothic" pitchFamily="34" charset="0"/>
                <a:ea typeface="Malgun Gothic" pitchFamily="34" charset="-122"/>
                <a:cs typeface="Malgun Gothic" pitchFamily="34" charset="-120"/>
              </a:rPr>
              <a:t>시장적용일</a:t>
            </a:r>
            <a:endParaRPr lang="en-US" sz="1050" dirty="0"/>
          </a:p>
        </p:txBody>
      </p:sp>
      <p:sp>
        <p:nvSpPr>
          <p:cNvPr id="23" name="Shape 21"/>
          <p:cNvSpPr/>
          <p:nvPr/>
        </p:nvSpPr>
        <p:spPr>
          <a:xfrm>
            <a:off x="609600" y="3448050"/>
            <a:ext cx="6667500" cy="2571750"/>
          </a:xfrm>
          <a:prstGeom prst="roundRect">
            <a:avLst>
              <a:gd name="adj" fmla="val 5926"/>
            </a:avLst>
          </a:prstGeom>
          <a:solidFill>
            <a:srgbClr val="F7F8FA"/>
          </a:solidFill>
          <a:ln w="12700">
            <a:solidFill>
              <a:srgbClr val="A8AAB2"/>
            </a:solidFill>
            <a:prstDash val="dash"/>
          </a:ln>
        </p:spPr>
        <p:txBody>
          <a:bodyPr/>
          <a:lstStyle/>
          <a:p>
            <a:endParaRPr lang="ko-KR" altLang="en-US"/>
          </a:p>
        </p:txBody>
      </p:sp>
      <p:sp>
        <p:nvSpPr>
          <p:cNvPr id="24" name="Shape 22"/>
          <p:cNvSpPr/>
          <p:nvPr/>
        </p:nvSpPr>
        <p:spPr>
          <a:xfrm>
            <a:off x="800100" y="3619500"/>
            <a:ext cx="746760" cy="209550"/>
          </a:xfrm>
          <a:prstGeom prst="roundRect">
            <a:avLst>
              <a:gd name="adj" fmla="val 50000"/>
            </a:avLst>
          </a:prstGeom>
          <a:solidFill>
            <a:srgbClr val="F2F3F5"/>
          </a:solidFill>
          <a:ln/>
        </p:spPr>
        <p:txBody>
          <a:bodyPr/>
          <a:lstStyle/>
          <a:p>
            <a:endParaRPr lang="ko-KR" altLang="en-US"/>
          </a:p>
        </p:txBody>
      </p:sp>
      <p:sp>
        <p:nvSpPr>
          <p:cNvPr id="25" name="Text 23"/>
          <p:cNvSpPr txBox="1"/>
          <p:nvPr/>
        </p:nvSpPr>
        <p:spPr>
          <a:xfrm>
            <a:off x="800100" y="361950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김근형 제공</a:t>
            </a:r>
            <a:endParaRPr lang="en-US" sz="900" dirty="0"/>
          </a:p>
        </p:txBody>
      </p:sp>
      <p:sp>
        <p:nvSpPr>
          <p:cNvPr id="26" name="Text 24"/>
          <p:cNvSpPr txBox="1"/>
          <p:nvPr/>
        </p:nvSpPr>
        <p:spPr>
          <a:xfrm>
            <a:off x="800100" y="3905250"/>
            <a:ext cx="6286500" cy="196215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한·미 공통 PIT 흐름도</a:t>
            </a:r>
            <a:endParaRPr lang="en-US" sz="1125" dirty="0"/>
          </a:p>
          <a:p>
            <a:pPr marL="0" indent="0">
              <a:lnSpc>
                <a:spcPct val="140000"/>
              </a:lnSpc>
              <a:buNone/>
            </a:pPr>
            <a:endParaRPr lang="en-US" sz="1125" dirty="0"/>
          </a:p>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공식 원문 → 식별자 → 이용가능시점 → 정정계보</a:t>
            </a:r>
            <a:endParaRPr lang="en-US" sz="1125" dirty="0"/>
          </a:p>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 지수판단 후보 → 검토·인계</a:t>
            </a:r>
            <a:endParaRPr lang="en-US" sz="1125" dirty="0"/>
          </a:p>
        </p:txBody>
      </p:sp>
      <p:sp>
        <p:nvSpPr>
          <p:cNvPr id="27" name="Shape 25"/>
          <p:cNvSpPr/>
          <p:nvPr/>
        </p:nvSpPr>
        <p:spPr>
          <a:xfrm>
            <a:off x="7505700" y="3448050"/>
            <a:ext cx="4076700" cy="2571750"/>
          </a:xfrm>
          <a:prstGeom prst="roundRect">
            <a:avLst>
              <a:gd name="adj" fmla="val 11852"/>
            </a:avLst>
          </a:prstGeom>
          <a:solidFill>
            <a:srgbClr val="0A0A0A"/>
          </a:solidFill>
          <a:ln/>
        </p:spPr>
        <p:txBody>
          <a:bodyPr/>
          <a:lstStyle/>
          <a:p>
            <a:endParaRPr lang="ko-KR" altLang="en-US"/>
          </a:p>
        </p:txBody>
      </p:sp>
      <p:sp>
        <p:nvSpPr>
          <p:cNvPr id="28" name="Text 26"/>
          <p:cNvSpPr txBox="1"/>
          <p:nvPr/>
        </p:nvSpPr>
        <p:spPr>
          <a:xfrm>
            <a:off x="7810500" y="3733800"/>
            <a:ext cx="3467100" cy="209550"/>
          </a:xfrm>
          <a:prstGeom prst="rect">
            <a:avLst/>
          </a:prstGeom>
          <a:noFill/>
          <a:ln/>
        </p:spPr>
        <p:txBody>
          <a:bodyPr wrap="square" lIns="0" tIns="0" rIns="0" bIns="0" rtlCol="0" anchor="ctr"/>
          <a:lstStyle/>
          <a:p>
            <a:pPr marL="0" indent="0">
              <a:buNone/>
            </a:pPr>
            <a:r>
              <a:rPr lang="en-US" sz="975" b="1" dirty="0">
                <a:solidFill>
                  <a:srgbClr val="FF5530"/>
                </a:solidFill>
                <a:latin typeface="Malgun Gothic" pitchFamily="34" charset="0"/>
                <a:ea typeface="Malgun Gothic" pitchFamily="34" charset="-122"/>
                <a:cs typeface="Malgun Gothic" pitchFamily="34" charset="-120"/>
              </a:rPr>
              <a:t>핵심 문장</a:t>
            </a:r>
            <a:endParaRPr lang="en-US" sz="975" dirty="0"/>
          </a:p>
        </p:txBody>
      </p:sp>
      <p:sp>
        <p:nvSpPr>
          <p:cNvPr id="29" name="Text 27"/>
          <p:cNvSpPr txBox="1"/>
          <p:nvPr/>
        </p:nvSpPr>
        <p:spPr>
          <a:xfrm>
            <a:off x="7810500" y="4095750"/>
            <a:ext cx="3467100" cy="1333500"/>
          </a:xfrm>
          <a:prstGeom prst="rect">
            <a:avLst/>
          </a:prstGeom>
          <a:noFill/>
          <a:ln/>
        </p:spPr>
        <p:txBody>
          <a:bodyPr wrap="square" lIns="0" tIns="0" rIns="0" bIns="0" rtlCol="0" anchor="t"/>
          <a:lstStyle/>
          <a:p>
            <a:pPr marL="0" indent="0">
              <a:lnSpc>
                <a:spcPct val="135000"/>
              </a:lnSpc>
              <a:buNone/>
            </a:pPr>
            <a:r>
              <a:rPr lang="en-US" sz="1725" b="1" kern="0" spc="-50" dirty="0">
                <a:solidFill>
                  <a:srgbClr val="FFFFFF"/>
                </a:solidFill>
                <a:latin typeface="Malgun Gothic" pitchFamily="34" charset="0"/>
                <a:ea typeface="Malgun Gothic" pitchFamily="34" charset="-122"/>
                <a:cs typeface="Malgun Gothic" pitchFamily="34" charset="-120"/>
              </a:rPr>
              <a:t>최신 자료를 과거 판단에</a:t>
            </a:r>
            <a:endParaRPr lang="en-US" sz="1725" dirty="0"/>
          </a:p>
          <a:p>
            <a:pPr marL="0" indent="0">
              <a:lnSpc>
                <a:spcPct val="135000"/>
              </a:lnSpc>
              <a:buNone/>
            </a:pPr>
            <a:r>
              <a:rPr lang="en-US" sz="1725" b="1" kern="0" spc="-50" dirty="0">
                <a:solidFill>
                  <a:srgbClr val="FFFFFF"/>
                </a:solidFill>
                <a:latin typeface="Malgun Gothic" pitchFamily="34" charset="0"/>
                <a:ea typeface="Malgun Gothic" pitchFamily="34" charset="-122"/>
                <a:cs typeface="Malgun Gothic" pitchFamily="34" charset="-120"/>
              </a:rPr>
              <a:t>소급해 쓰면 백테스트가</a:t>
            </a:r>
            <a:endParaRPr lang="en-US" sz="1725" dirty="0"/>
          </a:p>
          <a:p>
            <a:pPr marL="0" indent="0">
              <a:lnSpc>
                <a:spcPct val="135000"/>
              </a:lnSpc>
              <a:buNone/>
            </a:pPr>
            <a:r>
              <a:rPr lang="en-US" sz="1725" b="1" kern="0" spc="-50" dirty="0">
                <a:solidFill>
                  <a:srgbClr val="FFFFFF"/>
                </a:solidFill>
                <a:latin typeface="Malgun Gothic" pitchFamily="34" charset="0"/>
                <a:ea typeface="Malgun Gothic" pitchFamily="34" charset="-122"/>
                <a:cs typeface="Malgun Gothic" pitchFamily="34" charset="-120"/>
              </a:rPr>
              <a:t>거짓말을 합니다.</a:t>
            </a:r>
            <a:endParaRPr lang="en-US" sz="1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자료 · 김근형</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한국 KR9 수집 결과</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정기보고서와 기업행사를 계보로 연결했습니다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6</a:t>
            </a:r>
            <a:endParaRPr lang="en-US" sz="900" dirty="0"/>
          </a:p>
        </p:txBody>
      </p:sp>
      <p:sp>
        <p:nvSpPr>
          <p:cNvPr id="9" name="Shape 7"/>
          <p:cNvSpPr/>
          <p:nvPr/>
        </p:nvSpPr>
        <p:spPr>
          <a:xfrm>
            <a:off x="609600" y="2590800"/>
            <a:ext cx="3505200" cy="1257300"/>
          </a:xfrm>
          <a:prstGeom prst="roundRect">
            <a:avLst>
              <a:gd name="adj" fmla="val 12121"/>
            </a:avLst>
          </a:prstGeom>
          <a:solidFill>
            <a:srgbClr val="F7F8FA"/>
          </a:solidFill>
          <a:ln w="12700">
            <a:solidFill>
              <a:srgbClr val="E5E7EB"/>
            </a:solidFill>
            <a:prstDash val="solid"/>
          </a:ln>
        </p:spPr>
        <p:txBody>
          <a:bodyPr/>
          <a:lstStyle/>
          <a:p>
            <a:endParaRPr lang="ko-KR" altLang="en-US"/>
          </a:p>
        </p:txBody>
      </p:sp>
      <p:sp>
        <p:nvSpPr>
          <p:cNvPr id="10" name="Text 8"/>
          <p:cNvSpPr txBox="1"/>
          <p:nvPr/>
        </p:nvSpPr>
        <p:spPr>
          <a:xfrm>
            <a:off x="800100" y="27432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정기보고서 PDF</a:t>
            </a:r>
            <a:endParaRPr lang="en-US" sz="975" dirty="0"/>
          </a:p>
        </p:txBody>
      </p:sp>
      <p:sp>
        <p:nvSpPr>
          <p:cNvPr id="11" name="Text 9"/>
          <p:cNvSpPr txBox="1"/>
          <p:nvPr/>
        </p:nvSpPr>
        <p:spPr>
          <a:xfrm>
            <a:off x="800100" y="29337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204건</a:t>
            </a:r>
            <a:endParaRPr lang="en-US" sz="2250" dirty="0"/>
          </a:p>
        </p:txBody>
      </p:sp>
      <p:sp>
        <p:nvSpPr>
          <p:cNvPr id="12" name="Text 10"/>
          <p:cNvSpPr txBox="1"/>
          <p:nvPr/>
        </p:nvSpPr>
        <p:spPr>
          <a:xfrm>
            <a:off x="800100" y="3276600"/>
            <a:ext cx="3124200" cy="5143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공시 원문 PDF</a:t>
            </a:r>
            <a:endParaRPr lang="en-US" sz="975" dirty="0"/>
          </a:p>
        </p:txBody>
      </p:sp>
      <p:sp>
        <p:nvSpPr>
          <p:cNvPr id="13" name="Shape 11"/>
          <p:cNvSpPr/>
          <p:nvPr/>
        </p:nvSpPr>
        <p:spPr>
          <a:xfrm>
            <a:off x="4343400" y="2590800"/>
            <a:ext cx="3505200" cy="1257300"/>
          </a:xfrm>
          <a:prstGeom prst="roundRect">
            <a:avLst>
              <a:gd name="adj" fmla="val 12121"/>
            </a:avLst>
          </a:prstGeom>
          <a:solidFill>
            <a:srgbClr val="F7F8FA"/>
          </a:solidFill>
          <a:ln w="12700">
            <a:solidFill>
              <a:srgbClr val="E5E7EB"/>
            </a:solidFill>
            <a:prstDash val="solid"/>
          </a:ln>
        </p:spPr>
        <p:txBody>
          <a:bodyPr/>
          <a:lstStyle/>
          <a:p>
            <a:endParaRPr lang="ko-KR" altLang="en-US"/>
          </a:p>
        </p:txBody>
      </p:sp>
      <p:sp>
        <p:nvSpPr>
          <p:cNvPr id="14" name="Text 12"/>
          <p:cNvSpPr txBox="1"/>
          <p:nvPr/>
        </p:nvSpPr>
        <p:spPr>
          <a:xfrm>
            <a:off x="4533900" y="27432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원문 XBRL ZIP</a:t>
            </a:r>
            <a:endParaRPr lang="en-US" sz="975" dirty="0"/>
          </a:p>
        </p:txBody>
      </p:sp>
      <p:sp>
        <p:nvSpPr>
          <p:cNvPr id="15" name="Text 13"/>
          <p:cNvSpPr txBox="1"/>
          <p:nvPr/>
        </p:nvSpPr>
        <p:spPr>
          <a:xfrm>
            <a:off x="4533900" y="29337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191건</a:t>
            </a:r>
            <a:endParaRPr lang="en-US" sz="2250" dirty="0"/>
          </a:p>
        </p:txBody>
      </p:sp>
      <p:sp>
        <p:nvSpPr>
          <p:cNvPr id="16" name="Text 14"/>
          <p:cNvSpPr txBox="1"/>
          <p:nvPr/>
        </p:nvSpPr>
        <p:spPr>
          <a:xfrm>
            <a:off x="4533900" y="3276600"/>
            <a:ext cx="3124200" cy="5143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재무 원계열 파싱 대상</a:t>
            </a:r>
            <a:endParaRPr lang="en-US" sz="975" dirty="0"/>
          </a:p>
        </p:txBody>
      </p:sp>
      <p:sp>
        <p:nvSpPr>
          <p:cNvPr id="17" name="Shape 15"/>
          <p:cNvSpPr/>
          <p:nvPr/>
        </p:nvSpPr>
        <p:spPr>
          <a:xfrm>
            <a:off x="8077200" y="2590800"/>
            <a:ext cx="3505200" cy="1257300"/>
          </a:xfrm>
          <a:prstGeom prst="roundRect">
            <a:avLst>
              <a:gd name="adj" fmla="val 12121"/>
            </a:avLst>
          </a:prstGeom>
          <a:solidFill>
            <a:srgbClr val="F7F8FA"/>
          </a:solidFill>
          <a:ln w="12700">
            <a:solidFill>
              <a:srgbClr val="E5E7EB"/>
            </a:solidFill>
            <a:prstDash val="solid"/>
          </a:ln>
        </p:spPr>
        <p:txBody>
          <a:bodyPr/>
          <a:lstStyle/>
          <a:p>
            <a:endParaRPr lang="ko-KR" altLang="en-US"/>
          </a:p>
        </p:txBody>
      </p:sp>
      <p:sp>
        <p:nvSpPr>
          <p:cNvPr id="18" name="Text 16"/>
          <p:cNvSpPr txBox="1"/>
          <p:nvPr/>
        </p:nvSpPr>
        <p:spPr>
          <a:xfrm>
            <a:off x="8267700" y="27432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재무제표 Excel</a:t>
            </a:r>
            <a:endParaRPr lang="en-US" sz="975" dirty="0"/>
          </a:p>
        </p:txBody>
      </p:sp>
      <p:sp>
        <p:nvSpPr>
          <p:cNvPr id="19" name="Text 17"/>
          <p:cNvSpPr txBox="1"/>
          <p:nvPr/>
        </p:nvSpPr>
        <p:spPr>
          <a:xfrm>
            <a:off x="8267700" y="29337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12건</a:t>
            </a:r>
            <a:endParaRPr lang="en-US" sz="2250" dirty="0"/>
          </a:p>
        </p:txBody>
      </p:sp>
      <p:sp>
        <p:nvSpPr>
          <p:cNvPr id="20" name="Text 18"/>
          <p:cNvSpPr txBox="1"/>
          <p:nvPr/>
        </p:nvSpPr>
        <p:spPr>
          <a:xfrm>
            <a:off x="8267700" y="3276600"/>
            <a:ext cx="3124200" cy="5143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PDF·XBRL 미대응 보완</a:t>
            </a:r>
            <a:endParaRPr lang="en-US" sz="975" dirty="0"/>
          </a:p>
        </p:txBody>
      </p:sp>
      <p:sp>
        <p:nvSpPr>
          <p:cNvPr id="21" name="Shape 19"/>
          <p:cNvSpPr/>
          <p:nvPr/>
        </p:nvSpPr>
        <p:spPr>
          <a:xfrm>
            <a:off x="609600" y="4076700"/>
            <a:ext cx="10972800" cy="647700"/>
          </a:xfrm>
          <a:prstGeom prst="roundRect">
            <a:avLst>
              <a:gd name="adj" fmla="val 17647"/>
            </a:avLst>
          </a:prstGeom>
          <a:solidFill>
            <a:srgbClr val="F7F8FA"/>
          </a:solidFill>
          <a:ln/>
        </p:spPr>
        <p:txBody>
          <a:bodyPr/>
          <a:lstStyle/>
          <a:p>
            <a:endParaRPr lang="ko-KR" altLang="en-US"/>
          </a:p>
        </p:txBody>
      </p:sp>
      <p:sp>
        <p:nvSpPr>
          <p:cNvPr id="22" name="Text 20"/>
          <p:cNvSpPr txBox="1"/>
          <p:nvPr/>
        </p:nvSpPr>
        <p:spPr>
          <a:xfrm>
            <a:off x="838200" y="4076700"/>
            <a:ext cx="1143000" cy="647700"/>
          </a:xfrm>
          <a:prstGeom prst="rect">
            <a:avLst/>
          </a:prstGeom>
          <a:noFill/>
          <a:ln/>
        </p:spPr>
        <p:txBody>
          <a:bodyPr wrap="square" lIns="0" tIns="0" rIns="0" bIns="0" rtlCol="0" anchor="ctr"/>
          <a:lstStyle/>
          <a:p>
            <a:pPr marL="0" indent="0">
              <a:buNone/>
            </a:pPr>
            <a:r>
              <a:rPr lang="en-US" sz="1050" b="1" dirty="0">
                <a:solidFill>
                  <a:srgbClr val="5F5F5F"/>
                </a:solidFill>
                <a:latin typeface="Malgun Gothic" pitchFamily="34" charset="0"/>
                <a:ea typeface="Malgun Gothic" pitchFamily="34" charset="-122"/>
                <a:cs typeface="Malgun Gothic" pitchFamily="34" charset="-120"/>
              </a:rPr>
              <a:t>상태 구분</a:t>
            </a:r>
            <a:endParaRPr lang="en-US" sz="1050" dirty="0"/>
          </a:p>
        </p:txBody>
      </p:sp>
      <p:sp>
        <p:nvSpPr>
          <p:cNvPr id="23" name="Shape 21"/>
          <p:cNvSpPr/>
          <p:nvPr/>
        </p:nvSpPr>
        <p:spPr>
          <a:xfrm>
            <a:off x="1981200" y="4295775"/>
            <a:ext cx="567690" cy="209550"/>
          </a:xfrm>
          <a:prstGeom prst="roundRect">
            <a:avLst>
              <a:gd name="adj" fmla="val 50000"/>
            </a:avLst>
          </a:prstGeom>
          <a:solidFill>
            <a:srgbClr val="BFDBFE"/>
          </a:solidFill>
          <a:ln/>
        </p:spPr>
        <p:txBody>
          <a:bodyPr/>
          <a:lstStyle/>
          <a:p>
            <a:endParaRPr lang="ko-KR" altLang="en-US"/>
          </a:p>
        </p:txBody>
      </p:sp>
      <p:sp>
        <p:nvSpPr>
          <p:cNvPr id="24" name="Text 22"/>
          <p:cNvSpPr txBox="1"/>
          <p:nvPr/>
        </p:nvSpPr>
        <p:spPr>
          <a:xfrm>
            <a:off x="1981200" y="4295775"/>
            <a:ext cx="567690" cy="209550"/>
          </a:xfrm>
          <a:prstGeom prst="rect">
            <a:avLst/>
          </a:prstGeom>
          <a:noFill/>
          <a:ln/>
        </p:spPr>
        <p:txBody>
          <a:bodyPr wrap="square" lIns="0" tIns="0" rIns="0" bIns="0" rtlCol="0" anchor="ctr"/>
          <a:lstStyle/>
          <a:p>
            <a:pPr marL="0" indent="0" algn="ctr">
              <a:buNone/>
            </a:pPr>
            <a:r>
              <a:rPr lang="en-US" sz="900" b="1" dirty="0">
                <a:solidFill>
                  <a:srgbClr val="1D4ED8"/>
                </a:solidFill>
                <a:latin typeface="Malgun Gothic" pitchFamily="34" charset="0"/>
                <a:ea typeface="Malgun Gothic" pitchFamily="34" charset="-122"/>
                <a:cs typeface="Malgun Gothic" pitchFamily="34" charset="-120"/>
              </a:rPr>
              <a:t>직접대응</a:t>
            </a:r>
            <a:endParaRPr lang="en-US" sz="900" dirty="0"/>
          </a:p>
        </p:txBody>
      </p:sp>
      <p:sp>
        <p:nvSpPr>
          <p:cNvPr id="25" name="Shape 23"/>
          <p:cNvSpPr/>
          <p:nvPr/>
        </p:nvSpPr>
        <p:spPr>
          <a:xfrm>
            <a:off x="3219450" y="4295775"/>
            <a:ext cx="925830" cy="209550"/>
          </a:xfrm>
          <a:prstGeom prst="roundRect">
            <a:avLst>
              <a:gd name="adj" fmla="val 50000"/>
            </a:avLst>
          </a:prstGeom>
          <a:solidFill>
            <a:srgbClr val="BFDBFE"/>
          </a:solidFill>
          <a:ln/>
        </p:spPr>
        <p:txBody>
          <a:bodyPr/>
          <a:lstStyle/>
          <a:p>
            <a:endParaRPr lang="ko-KR" altLang="en-US"/>
          </a:p>
        </p:txBody>
      </p:sp>
      <p:sp>
        <p:nvSpPr>
          <p:cNvPr id="26" name="Text 24"/>
          <p:cNvSpPr txBox="1"/>
          <p:nvPr/>
        </p:nvSpPr>
        <p:spPr>
          <a:xfrm>
            <a:off x="3219450" y="4295775"/>
            <a:ext cx="925830" cy="209550"/>
          </a:xfrm>
          <a:prstGeom prst="rect">
            <a:avLst/>
          </a:prstGeom>
          <a:noFill/>
          <a:ln/>
        </p:spPr>
        <p:txBody>
          <a:bodyPr wrap="square" lIns="0" tIns="0" rIns="0" bIns="0" rtlCol="0" anchor="ctr"/>
          <a:lstStyle/>
          <a:p>
            <a:pPr marL="0" indent="0" algn="ctr">
              <a:buNone/>
            </a:pPr>
            <a:r>
              <a:rPr lang="en-US" sz="900" b="1" dirty="0">
                <a:solidFill>
                  <a:srgbClr val="1D4ED8"/>
                </a:solidFill>
                <a:latin typeface="Malgun Gothic" pitchFamily="34" charset="0"/>
                <a:ea typeface="Malgun Gothic" pitchFamily="34" charset="-122"/>
                <a:cs typeface="Malgun Gothic" pitchFamily="34" charset="-120"/>
              </a:rPr>
              <a:t>PDF_ONLY</a:t>
            </a:r>
            <a:endParaRPr lang="en-US" sz="900" dirty="0"/>
          </a:p>
        </p:txBody>
      </p:sp>
      <p:sp>
        <p:nvSpPr>
          <p:cNvPr id="27" name="Shape 25"/>
          <p:cNvSpPr/>
          <p:nvPr/>
        </p:nvSpPr>
        <p:spPr>
          <a:xfrm>
            <a:off x="4457700" y="4295775"/>
            <a:ext cx="1015365" cy="209550"/>
          </a:xfrm>
          <a:prstGeom prst="roundRect">
            <a:avLst>
              <a:gd name="adj" fmla="val 50000"/>
            </a:avLst>
          </a:prstGeom>
          <a:solidFill>
            <a:srgbClr val="BFDBFE"/>
          </a:solidFill>
          <a:ln/>
        </p:spPr>
        <p:txBody>
          <a:bodyPr/>
          <a:lstStyle/>
          <a:p>
            <a:endParaRPr lang="ko-KR" altLang="en-US"/>
          </a:p>
        </p:txBody>
      </p:sp>
      <p:sp>
        <p:nvSpPr>
          <p:cNvPr id="28" name="Text 26"/>
          <p:cNvSpPr txBox="1"/>
          <p:nvPr/>
        </p:nvSpPr>
        <p:spPr>
          <a:xfrm>
            <a:off x="4457700" y="4295775"/>
            <a:ext cx="1015365" cy="209550"/>
          </a:xfrm>
          <a:prstGeom prst="rect">
            <a:avLst/>
          </a:prstGeom>
          <a:noFill/>
          <a:ln/>
        </p:spPr>
        <p:txBody>
          <a:bodyPr wrap="square" lIns="0" tIns="0" rIns="0" bIns="0" rtlCol="0" anchor="ctr"/>
          <a:lstStyle/>
          <a:p>
            <a:pPr marL="0" indent="0" algn="ctr">
              <a:buNone/>
            </a:pPr>
            <a:r>
              <a:rPr lang="en-US" sz="900" b="1" dirty="0">
                <a:solidFill>
                  <a:srgbClr val="1D4ED8"/>
                </a:solidFill>
                <a:latin typeface="Malgun Gothic" pitchFamily="34" charset="0"/>
                <a:ea typeface="Malgun Gothic" pitchFamily="34" charset="-122"/>
                <a:cs typeface="Malgun Gothic" pitchFamily="34" charset="-120"/>
              </a:rPr>
              <a:t>XBRL_ONLY</a:t>
            </a:r>
            <a:endParaRPr lang="en-US" sz="900" dirty="0"/>
          </a:p>
        </p:txBody>
      </p:sp>
      <p:sp>
        <p:nvSpPr>
          <p:cNvPr id="29" name="Text 27"/>
          <p:cNvSpPr txBox="1"/>
          <p:nvPr/>
        </p:nvSpPr>
        <p:spPr>
          <a:xfrm>
            <a:off x="6096000" y="4076700"/>
            <a:ext cx="5257800" cy="647700"/>
          </a:xfrm>
          <a:prstGeom prst="rect">
            <a:avLst/>
          </a:prstGeom>
          <a:noFill/>
          <a:ln/>
        </p:spPr>
        <p:txBody>
          <a:bodyPr wrap="square" lIns="0" tIns="0" rIns="0" bIns="0" rtlCol="0" anchor="ctr"/>
          <a:lstStyle/>
          <a:p>
            <a:pPr marL="0" indent="0" algn="r">
              <a:buNone/>
            </a:pPr>
            <a:r>
              <a:rPr lang="en-US" sz="1050" dirty="0">
                <a:solidFill>
                  <a:srgbClr val="45515E"/>
                </a:solidFill>
                <a:latin typeface="Malgun Gothic" pitchFamily="34" charset="0"/>
                <a:ea typeface="Malgun Gothic" pitchFamily="34" charset="-122"/>
                <a:cs typeface="Malgun Gothic" pitchFamily="34" charset="-120"/>
              </a:rPr>
              <a:t>기업행사는 원공시·정정공시·후속자료를 계보로 연결</a:t>
            </a:r>
            <a:endParaRPr lang="en-US" sz="1050" dirty="0"/>
          </a:p>
        </p:txBody>
      </p:sp>
      <p:sp>
        <p:nvSpPr>
          <p:cNvPr id="30" name="Shape 28"/>
          <p:cNvSpPr/>
          <p:nvPr/>
        </p:nvSpPr>
        <p:spPr>
          <a:xfrm>
            <a:off x="609600" y="4876800"/>
            <a:ext cx="10972800" cy="1143000"/>
          </a:xfrm>
          <a:prstGeom prst="roundRect">
            <a:avLst>
              <a:gd name="adj" fmla="val 13333"/>
            </a:avLst>
          </a:prstGeom>
          <a:solidFill>
            <a:srgbClr val="F7F8FA"/>
          </a:solidFill>
          <a:ln w="12700">
            <a:solidFill>
              <a:srgbClr val="A8AAB2"/>
            </a:solidFill>
            <a:prstDash val="dash"/>
          </a:ln>
        </p:spPr>
        <p:txBody>
          <a:bodyPr/>
          <a:lstStyle/>
          <a:p>
            <a:endParaRPr lang="ko-KR" altLang="en-US"/>
          </a:p>
        </p:txBody>
      </p:sp>
      <p:sp>
        <p:nvSpPr>
          <p:cNvPr id="31" name="Shape 29"/>
          <p:cNvSpPr/>
          <p:nvPr/>
        </p:nvSpPr>
        <p:spPr>
          <a:xfrm>
            <a:off x="800100" y="5048250"/>
            <a:ext cx="746760" cy="209550"/>
          </a:xfrm>
          <a:prstGeom prst="roundRect">
            <a:avLst>
              <a:gd name="adj" fmla="val 50000"/>
            </a:avLst>
          </a:prstGeom>
          <a:solidFill>
            <a:srgbClr val="F2F3F5"/>
          </a:solidFill>
          <a:ln/>
        </p:spPr>
        <p:txBody>
          <a:bodyPr/>
          <a:lstStyle/>
          <a:p>
            <a:endParaRPr lang="ko-KR" altLang="en-US"/>
          </a:p>
        </p:txBody>
      </p:sp>
      <p:sp>
        <p:nvSpPr>
          <p:cNvPr id="32" name="Text 30"/>
          <p:cNvSpPr txBox="1"/>
          <p:nvPr/>
        </p:nvSpPr>
        <p:spPr>
          <a:xfrm>
            <a:off x="800100" y="504825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김근형 제공</a:t>
            </a:r>
            <a:endParaRPr lang="en-US" sz="900" dirty="0"/>
          </a:p>
        </p:txBody>
      </p:sp>
      <p:sp>
        <p:nvSpPr>
          <p:cNvPr id="33" name="Text 31"/>
          <p:cNvSpPr txBox="1"/>
          <p:nvPr/>
        </p:nvSpPr>
        <p:spPr>
          <a:xfrm>
            <a:off x="800100" y="5334000"/>
            <a:ext cx="10591800" cy="53340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회사별 자료 상태표 — 9사 × (PDF / XBRL / 대응상태)</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자료 · 김근형</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실제 사례 — 시간경계가 판정을 바꾼다</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LIG넥스원 — 접수가 마감 뒤라 이전 회차 선정에 쓸 수 없었습니다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7</a:t>
            </a:r>
            <a:endParaRPr lang="en-US" sz="900" dirty="0"/>
          </a:p>
        </p:txBody>
      </p:sp>
      <p:sp>
        <p:nvSpPr>
          <p:cNvPr id="9" name="Shape 7"/>
          <p:cNvSpPr/>
          <p:nvPr/>
        </p:nvSpPr>
        <p:spPr>
          <a:xfrm>
            <a:off x="609600" y="2590800"/>
            <a:ext cx="3556000" cy="1428750"/>
          </a:xfrm>
          <a:prstGeom prst="roundRect">
            <a:avLst>
              <a:gd name="adj" fmla="val 10667"/>
            </a:avLst>
          </a:prstGeom>
          <a:solidFill>
            <a:srgbClr val="F7F8FA"/>
          </a:solidFill>
          <a:ln/>
        </p:spPr>
        <p:txBody>
          <a:bodyPr/>
          <a:lstStyle/>
          <a:p>
            <a:endParaRPr lang="ko-KR" altLang="en-US"/>
          </a:p>
        </p:txBody>
      </p:sp>
      <p:sp>
        <p:nvSpPr>
          <p:cNvPr id="10" name="Shape 8"/>
          <p:cNvSpPr/>
          <p:nvPr/>
        </p:nvSpPr>
        <p:spPr>
          <a:xfrm>
            <a:off x="800100" y="2762250"/>
            <a:ext cx="247650" cy="247650"/>
          </a:xfrm>
          <a:prstGeom prst="roundRect">
            <a:avLst>
              <a:gd name="adj" fmla="val 50000"/>
            </a:avLst>
          </a:prstGeom>
          <a:solidFill>
            <a:srgbClr val="0A0A0A"/>
          </a:solidFill>
          <a:ln/>
        </p:spPr>
        <p:txBody>
          <a:bodyPr/>
          <a:lstStyle/>
          <a:p>
            <a:endParaRPr lang="ko-KR" altLang="en-US"/>
          </a:p>
        </p:txBody>
      </p:sp>
      <p:sp>
        <p:nvSpPr>
          <p:cNvPr id="11" name="Text 9"/>
          <p:cNvSpPr txBox="1"/>
          <p:nvPr/>
        </p:nvSpPr>
        <p:spPr>
          <a:xfrm>
            <a:off x="8001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1</a:t>
            </a:r>
            <a:endParaRPr lang="en-US" sz="1050" dirty="0"/>
          </a:p>
        </p:txBody>
      </p:sp>
      <p:sp>
        <p:nvSpPr>
          <p:cNvPr id="12" name="Text 10"/>
          <p:cNvSpPr txBox="1"/>
          <p:nvPr/>
        </p:nvSpPr>
        <p:spPr>
          <a:xfrm>
            <a:off x="1123950" y="2762250"/>
            <a:ext cx="28511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자료마감</a:t>
            </a:r>
            <a:endParaRPr lang="en-US" sz="1275" dirty="0"/>
          </a:p>
        </p:txBody>
      </p:sp>
      <p:sp>
        <p:nvSpPr>
          <p:cNvPr id="13" name="Text 11"/>
          <p:cNvSpPr txBox="1"/>
          <p:nvPr/>
        </p:nvSpPr>
        <p:spPr>
          <a:xfrm>
            <a:off x="800100" y="3086100"/>
            <a:ext cx="3175000" cy="7810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선정일 이전</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제5 공통개장일</a:t>
            </a:r>
            <a:endParaRPr lang="en-US" sz="1050" dirty="0"/>
          </a:p>
        </p:txBody>
      </p:sp>
      <p:sp>
        <p:nvSpPr>
          <p:cNvPr id="14" name="Text 12"/>
          <p:cNvSpPr txBox="1"/>
          <p:nvPr/>
        </p:nvSpPr>
        <p:spPr>
          <a:xfrm>
            <a:off x="4165600" y="317182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15" name="Shape 13"/>
          <p:cNvSpPr/>
          <p:nvPr/>
        </p:nvSpPr>
        <p:spPr>
          <a:xfrm>
            <a:off x="4318000" y="2590800"/>
            <a:ext cx="3556000" cy="1428750"/>
          </a:xfrm>
          <a:prstGeom prst="roundRect">
            <a:avLst>
              <a:gd name="adj" fmla="val 10667"/>
            </a:avLst>
          </a:prstGeom>
          <a:solidFill>
            <a:srgbClr val="F7F8FA"/>
          </a:solidFill>
          <a:ln/>
        </p:spPr>
        <p:txBody>
          <a:bodyPr/>
          <a:lstStyle/>
          <a:p>
            <a:endParaRPr lang="ko-KR" altLang="en-US"/>
          </a:p>
        </p:txBody>
      </p:sp>
      <p:sp>
        <p:nvSpPr>
          <p:cNvPr id="16" name="Shape 14"/>
          <p:cNvSpPr/>
          <p:nvPr/>
        </p:nvSpPr>
        <p:spPr>
          <a:xfrm>
            <a:off x="4508500" y="2762250"/>
            <a:ext cx="247650" cy="247650"/>
          </a:xfrm>
          <a:prstGeom prst="roundRect">
            <a:avLst>
              <a:gd name="adj" fmla="val 50000"/>
            </a:avLst>
          </a:prstGeom>
          <a:solidFill>
            <a:srgbClr val="0A0A0A"/>
          </a:solidFill>
          <a:ln/>
        </p:spPr>
        <p:txBody>
          <a:bodyPr/>
          <a:lstStyle/>
          <a:p>
            <a:endParaRPr lang="ko-KR" altLang="en-US"/>
          </a:p>
        </p:txBody>
      </p:sp>
      <p:sp>
        <p:nvSpPr>
          <p:cNvPr id="17" name="Text 15"/>
          <p:cNvSpPr txBox="1"/>
          <p:nvPr/>
        </p:nvSpPr>
        <p:spPr>
          <a:xfrm>
            <a:off x="45085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2</a:t>
            </a:r>
            <a:endParaRPr lang="en-US" sz="1050" dirty="0"/>
          </a:p>
        </p:txBody>
      </p:sp>
      <p:sp>
        <p:nvSpPr>
          <p:cNvPr id="18" name="Text 16"/>
          <p:cNvSpPr txBox="1"/>
          <p:nvPr/>
        </p:nvSpPr>
        <p:spPr>
          <a:xfrm>
            <a:off x="4832350" y="2762250"/>
            <a:ext cx="28511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선정마감</a:t>
            </a:r>
            <a:endParaRPr lang="en-US" sz="1275" dirty="0"/>
          </a:p>
        </p:txBody>
      </p:sp>
      <p:sp>
        <p:nvSpPr>
          <p:cNvPr id="19" name="Text 17"/>
          <p:cNvSpPr txBox="1"/>
          <p:nvPr/>
        </p:nvSpPr>
        <p:spPr>
          <a:xfrm>
            <a:off x="4508500" y="3086100"/>
            <a:ext cx="3175000" cy="7810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구성종목·비중</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확정 시점</a:t>
            </a:r>
            <a:endParaRPr lang="en-US" sz="1050" dirty="0"/>
          </a:p>
        </p:txBody>
      </p:sp>
      <p:sp>
        <p:nvSpPr>
          <p:cNvPr id="20" name="Text 18"/>
          <p:cNvSpPr txBox="1"/>
          <p:nvPr/>
        </p:nvSpPr>
        <p:spPr>
          <a:xfrm>
            <a:off x="7874000" y="317182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1" name="Shape 19"/>
          <p:cNvSpPr/>
          <p:nvPr/>
        </p:nvSpPr>
        <p:spPr>
          <a:xfrm>
            <a:off x="8026400" y="2590800"/>
            <a:ext cx="3556000" cy="1428750"/>
          </a:xfrm>
          <a:prstGeom prst="roundRect">
            <a:avLst>
              <a:gd name="adj" fmla="val 10667"/>
            </a:avLst>
          </a:prstGeom>
          <a:solidFill>
            <a:srgbClr val="F7F8FA"/>
          </a:solidFill>
          <a:ln/>
        </p:spPr>
        <p:txBody>
          <a:bodyPr/>
          <a:lstStyle/>
          <a:p>
            <a:endParaRPr lang="ko-KR" altLang="en-US"/>
          </a:p>
        </p:txBody>
      </p:sp>
      <p:sp>
        <p:nvSpPr>
          <p:cNvPr id="22" name="Shape 20"/>
          <p:cNvSpPr/>
          <p:nvPr/>
        </p:nvSpPr>
        <p:spPr>
          <a:xfrm>
            <a:off x="8216900" y="2762250"/>
            <a:ext cx="247650" cy="247650"/>
          </a:xfrm>
          <a:prstGeom prst="roundRect">
            <a:avLst>
              <a:gd name="adj" fmla="val 50000"/>
            </a:avLst>
          </a:prstGeom>
          <a:solidFill>
            <a:srgbClr val="0A0A0A"/>
          </a:solidFill>
          <a:ln/>
        </p:spPr>
        <p:txBody>
          <a:bodyPr/>
          <a:lstStyle/>
          <a:p>
            <a:endParaRPr lang="ko-KR" altLang="en-US"/>
          </a:p>
        </p:txBody>
      </p:sp>
      <p:sp>
        <p:nvSpPr>
          <p:cNvPr id="23" name="Text 21"/>
          <p:cNvSpPr txBox="1"/>
          <p:nvPr/>
        </p:nvSpPr>
        <p:spPr>
          <a:xfrm>
            <a:off x="82169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3</a:t>
            </a:r>
            <a:endParaRPr lang="en-US" sz="1050" dirty="0"/>
          </a:p>
        </p:txBody>
      </p:sp>
      <p:sp>
        <p:nvSpPr>
          <p:cNvPr id="24" name="Text 22"/>
          <p:cNvSpPr txBox="1"/>
          <p:nvPr/>
        </p:nvSpPr>
        <p:spPr>
          <a:xfrm>
            <a:off x="8540750" y="2762250"/>
            <a:ext cx="28511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공시접수</a:t>
            </a:r>
            <a:endParaRPr lang="en-US" sz="1275" dirty="0"/>
          </a:p>
        </p:txBody>
      </p:sp>
      <p:sp>
        <p:nvSpPr>
          <p:cNvPr id="25" name="Text 23"/>
          <p:cNvSpPr txBox="1"/>
          <p:nvPr/>
        </p:nvSpPr>
        <p:spPr>
          <a:xfrm>
            <a:off x="8216900" y="3086100"/>
            <a:ext cx="3175000" cy="7810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마감 이후 도착</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 이전 회차 사용 불가</a:t>
            </a:r>
            <a:endParaRPr lang="en-US" sz="1050" dirty="0"/>
          </a:p>
        </p:txBody>
      </p:sp>
      <p:sp>
        <p:nvSpPr>
          <p:cNvPr id="26" name="Shape 24"/>
          <p:cNvSpPr/>
          <p:nvPr/>
        </p:nvSpPr>
        <p:spPr>
          <a:xfrm>
            <a:off x="609600" y="4248150"/>
            <a:ext cx="6667500" cy="1771650"/>
          </a:xfrm>
          <a:prstGeom prst="roundRect">
            <a:avLst>
              <a:gd name="adj" fmla="val 8602"/>
            </a:avLst>
          </a:prstGeom>
          <a:solidFill>
            <a:srgbClr val="F7F8FA"/>
          </a:solidFill>
          <a:ln w="12700">
            <a:solidFill>
              <a:srgbClr val="A8AAB2"/>
            </a:solidFill>
            <a:prstDash val="dash"/>
          </a:ln>
        </p:spPr>
        <p:txBody>
          <a:bodyPr/>
          <a:lstStyle/>
          <a:p>
            <a:endParaRPr lang="ko-KR" altLang="en-US"/>
          </a:p>
        </p:txBody>
      </p:sp>
      <p:sp>
        <p:nvSpPr>
          <p:cNvPr id="27" name="Shape 25"/>
          <p:cNvSpPr/>
          <p:nvPr/>
        </p:nvSpPr>
        <p:spPr>
          <a:xfrm>
            <a:off x="800100" y="4419600"/>
            <a:ext cx="746760" cy="209550"/>
          </a:xfrm>
          <a:prstGeom prst="roundRect">
            <a:avLst>
              <a:gd name="adj" fmla="val 50000"/>
            </a:avLst>
          </a:prstGeom>
          <a:solidFill>
            <a:srgbClr val="F2F3F5"/>
          </a:solidFill>
          <a:ln/>
        </p:spPr>
        <p:txBody>
          <a:bodyPr/>
          <a:lstStyle/>
          <a:p>
            <a:endParaRPr lang="ko-KR" altLang="en-US"/>
          </a:p>
        </p:txBody>
      </p:sp>
      <p:sp>
        <p:nvSpPr>
          <p:cNvPr id="28" name="Text 26"/>
          <p:cNvSpPr txBox="1"/>
          <p:nvPr/>
        </p:nvSpPr>
        <p:spPr>
          <a:xfrm>
            <a:off x="800100" y="441960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김근형 제공</a:t>
            </a:r>
            <a:endParaRPr lang="en-US" sz="900" dirty="0"/>
          </a:p>
        </p:txBody>
      </p:sp>
      <p:sp>
        <p:nvSpPr>
          <p:cNvPr id="29" name="Text 27"/>
          <p:cNvSpPr txBox="1"/>
          <p:nvPr/>
        </p:nvSpPr>
        <p:spPr>
          <a:xfrm>
            <a:off x="800100" y="4705350"/>
            <a:ext cx="6286500" cy="116205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LIG넥스원 PIT 시간선 — 자료마감 · 선정마감 · 공시접수 세 시점을 한 축에 놓은 그림</a:t>
            </a:r>
            <a:endParaRPr lang="en-US" sz="1125" dirty="0"/>
          </a:p>
        </p:txBody>
      </p:sp>
      <p:sp>
        <p:nvSpPr>
          <p:cNvPr id="30" name="Shape 28"/>
          <p:cNvSpPr/>
          <p:nvPr/>
        </p:nvSpPr>
        <p:spPr>
          <a:xfrm>
            <a:off x="7505700" y="4248150"/>
            <a:ext cx="4076700" cy="1771650"/>
          </a:xfrm>
          <a:prstGeom prst="roundRect">
            <a:avLst>
              <a:gd name="adj" fmla="val 17204"/>
            </a:avLst>
          </a:prstGeom>
          <a:solidFill>
            <a:srgbClr val="FF5530"/>
          </a:solidFill>
          <a:ln/>
        </p:spPr>
        <p:txBody>
          <a:bodyPr/>
          <a:lstStyle/>
          <a:p>
            <a:endParaRPr lang="ko-KR" altLang="en-US"/>
          </a:p>
        </p:txBody>
      </p:sp>
      <p:sp>
        <p:nvSpPr>
          <p:cNvPr id="31" name="Text 29"/>
          <p:cNvSpPr txBox="1"/>
          <p:nvPr/>
        </p:nvSpPr>
        <p:spPr>
          <a:xfrm>
            <a:off x="7810500" y="4629150"/>
            <a:ext cx="3467100" cy="1047750"/>
          </a:xfrm>
          <a:prstGeom prst="rect">
            <a:avLst/>
          </a:prstGeom>
          <a:noFill/>
          <a:ln/>
        </p:spPr>
        <p:txBody>
          <a:bodyPr wrap="square" lIns="0" tIns="0" rIns="0" bIns="0" rtlCol="0" anchor="t"/>
          <a:lstStyle/>
          <a:p>
            <a:pPr marL="0" indent="0">
              <a:lnSpc>
                <a:spcPct val="135000"/>
              </a:lnSpc>
              <a:buNone/>
            </a:pPr>
            <a:r>
              <a:rPr lang="en-US" sz="1800" b="1" kern="0" spc="-50" dirty="0">
                <a:solidFill>
                  <a:srgbClr val="FFFFFF"/>
                </a:solidFill>
                <a:latin typeface="Malgun Gothic" pitchFamily="34" charset="0"/>
                <a:ea typeface="Malgun Gothic" pitchFamily="34" charset="-122"/>
                <a:cs typeface="Malgun Gothic" pitchFamily="34" charset="-120"/>
              </a:rPr>
              <a:t>규칙이 아니라 날짜가</a:t>
            </a:r>
            <a:endParaRPr lang="en-US" sz="1800" dirty="0"/>
          </a:p>
          <a:p>
            <a:pPr marL="0" indent="0">
              <a:lnSpc>
                <a:spcPct val="135000"/>
              </a:lnSpc>
              <a:buNone/>
            </a:pPr>
            <a:r>
              <a:rPr lang="en-US" sz="1800" b="1" kern="0" spc="-50" dirty="0">
                <a:solidFill>
                  <a:srgbClr val="FFFFFF"/>
                </a:solidFill>
                <a:latin typeface="Malgun Gothic" pitchFamily="34" charset="0"/>
                <a:ea typeface="Malgun Gothic" pitchFamily="34" charset="-122"/>
                <a:cs typeface="Malgun Gothic" pitchFamily="34" charset="-120"/>
              </a:rPr>
              <a:t>판정을 갈랐습니다.</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자료 · 김근형</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같은 회사, 다른 사건</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한화에어로스페이스 — 제목이 비슷해도 배정방식·주식 수·시장효과가 다르면 별도 사건입니다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8</a:t>
            </a:r>
            <a:endParaRPr lang="en-US" sz="900" dirty="0"/>
          </a:p>
        </p:txBody>
      </p:sp>
      <p:sp>
        <p:nvSpPr>
          <p:cNvPr id="9" name="Shape 7"/>
          <p:cNvSpPr/>
          <p:nvPr/>
        </p:nvSpPr>
        <p:spPr>
          <a:xfrm>
            <a:off x="609600" y="2590800"/>
            <a:ext cx="5372100" cy="1905000"/>
          </a:xfrm>
          <a:prstGeom prst="roundRect">
            <a:avLst>
              <a:gd name="adj" fmla="val 8000"/>
            </a:avLst>
          </a:prstGeom>
          <a:solidFill>
            <a:srgbClr val="FFFFFF"/>
          </a:solidFill>
          <a:ln w="12700">
            <a:solidFill>
              <a:srgbClr val="E5E7EB"/>
            </a:solidFill>
            <a:prstDash val="solid"/>
          </a:ln>
        </p:spPr>
        <p:txBody>
          <a:bodyPr/>
          <a:lstStyle/>
          <a:p>
            <a:endParaRPr lang="ko-KR" altLang="en-US"/>
          </a:p>
        </p:txBody>
      </p:sp>
      <p:sp>
        <p:nvSpPr>
          <p:cNvPr id="10" name="Text 8"/>
          <p:cNvSpPr txBox="1"/>
          <p:nvPr/>
        </p:nvSpPr>
        <p:spPr>
          <a:xfrm>
            <a:off x="8001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주주배정 유상증자</a:t>
            </a:r>
            <a:endParaRPr lang="en-US" sz="1425" dirty="0"/>
          </a:p>
        </p:txBody>
      </p:sp>
      <p:sp>
        <p:nvSpPr>
          <p:cNvPr id="11" name="Text 9"/>
          <p:cNvSpPr txBox="1"/>
          <p:nvPr/>
        </p:nvSpPr>
        <p:spPr>
          <a:xfrm>
            <a:off x="800100" y="3086100"/>
            <a:ext cx="4991100" cy="1257300"/>
          </a:xfrm>
          <a:prstGeom prst="rect">
            <a:avLst/>
          </a:prstGeom>
          <a:noFill/>
          <a:ln/>
        </p:spPr>
        <p:txBody>
          <a:bodyPr wrap="square" lIns="0" tIns="0" rIns="0" bIns="0" rtlCol="0" anchor="t"/>
          <a:lstStyle/>
          <a:p>
            <a:pPr marL="0" indent="0">
              <a:lnSpc>
                <a:spcPct val="142000"/>
              </a:lnSpc>
              <a:buNone/>
            </a:pPr>
            <a:r>
              <a:rPr lang="en-US" sz="2100" b="1" dirty="0">
                <a:solidFill>
                  <a:srgbClr val="0A0A0A"/>
                </a:solidFill>
                <a:latin typeface="Malgun Gothic" pitchFamily="34" charset="0"/>
                <a:ea typeface="Malgun Gothic" pitchFamily="34" charset="-122"/>
                <a:cs typeface="Malgun Gothic" pitchFamily="34" charset="-120"/>
              </a:rPr>
              <a:t>4,267,200주</a:t>
            </a:r>
            <a:endParaRPr lang="en-US" sz="1125" dirty="0"/>
          </a:p>
          <a:p>
            <a:pPr marL="0" indent="0">
              <a:lnSpc>
                <a:spcPct val="142000"/>
              </a:lnSpc>
              <a:buNone/>
            </a:pP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권리락 발생</a:t>
            </a: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기존 주주 대상 배정</a:t>
            </a:r>
            <a:endParaRPr lang="en-US" sz="1125" dirty="0"/>
          </a:p>
        </p:txBody>
      </p:sp>
      <p:sp>
        <p:nvSpPr>
          <p:cNvPr id="12" name="Shape 10"/>
          <p:cNvSpPr/>
          <p:nvPr/>
        </p:nvSpPr>
        <p:spPr>
          <a:xfrm>
            <a:off x="6210300" y="2590800"/>
            <a:ext cx="5372100" cy="1905000"/>
          </a:xfrm>
          <a:prstGeom prst="roundRect">
            <a:avLst>
              <a:gd name="adj" fmla="val 8000"/>
            </a:avLst>
          </a:prstGeom>
          <a:solidFill>
            <a:srgbClr val="FFFFFF"/>
          </a:solidFill>
          <a:ln w="12700">
            <a:solidFill>
              <a:srgbClr val="E5E7EB"/>
            </a:solidFill>
            <a:prstDash val="solid"/>
          </a:ln>
        </p:spPr>
        <p:txBody>
          <a:bodyPr/>
          <a:lstStyle/>
          <a:p>
            <a:endParaRPr lang="ko-KR" altLang="en-US"/>
          </a:p>
        </p:txBody>
      </p:sp>
      <p:sp>
        <p:nvSpPr>
          <p:cNvPr id="13" name="Text 11"/>
          <p:cNvSpPr txBox="1"/>
          <p:nvPr/>
        </p:nvSpPr>
        <p:spPr>
          <a:xfrm>
            <a:off x="64008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제3자배정 유상증자</a:t>
            </a:r>
            <a:endParaRPr lang="en-US" sz="1425" dirty="0"/>
          </a:p>
        </p:txBody>
      </p:sp>
      <p:sp>
        <p:nvSpPr>
          <p:cNvPr id="14" name="Text 12"/>
          <p:cNvSpPr txBox="1"/>
          <p:nvPr/>
        </p:nvSpPr>
        <p:spPr>
          <a:xfrm>
            <a:off x="6400800" y="3086100"/>
            <a:ext cx="4991100" cy="1257300"/>
          </a:xfrm>
          <a:prstGeom prst="rect">
            <a:avLst/>
          </a:prstGeom>
          <a:noFill/>
          <a:ln/>
        </p:spPr>
        <p:txBody>
          <a:bodyPr wrap="square" lIns="0" tIns="0" rIns="0" bIns="0" rtlCol="0" anchor="t"/>
          <a:lstStyle/>
          <a:p>
            <a:pPr marL="0" indent="0">
              <a:lnSpc>
                <a:spcPct val="142000"/>
              </a:lnSpc>
              <a:buNone/>
            </a:pPr>
            <a:r>
              <a:rPr lang="en-US" sz="2100" b="1" dirty="0">
                <a:solidFill>
                  <a:srgbClr val="0A0A0A"/>
                </a:solidFill>
                <a:latin typeface="Malgun Gothic" pitchFamily="34" charset="0"/>
                <a:ea typeface="Malgun Gothic" pitchFamily="34" charset="-122"/>
                <a:cs typeface="Malgun Gothic" pitchFamily="34" charset="-120"/>
              </a:rPr>
              <a:t>1,715,040주</a:t>
            </a:r>
            <a:endParaRPr lang="en-US" sz="1125" dirty="0"/>
          </a:p>
          <a:p>
            <a:pPr marL="0" indent="0">
              <a:lnSpc>
                <a:spcPct val="142000"/>
              </a:lnSpc>
              <a:buNone/>
            </a:pP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권리락 없음</a:t>
            </a: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의무보유 1년</a:t>
            </a:r>
            <a:endParaRPr lang="en-US" sz="1125" dirty="0"/>
          </a:p>
        </p:txBody>
      </p:sp>
      <p:sp>
        <p:nvSpPr>
          <p:cNvPr id="15" name="Shape 13"/>
          <p:cNvSpPr/>
          <p:nvPr/>
        </p:nvSpPr>
        <p:spPr>
          <a:xfrm>
            <a:off x="609600" y="4724400"/>
            <a:ext cx="10972800" cy="1295400"/>
          </a:xfrm>
          <a:prstGeom prst="roundRect">
            <a:avLst>
              <a:gd name="adj" fmla="val 11765"/>
            </a:avLst>
          </a:prstGeom>
          <a:solidFill>
            <a:srgbClr val="F7F8FA"/>
          </a:solidFill>
          <a:ln w="12700">
            <a:solidFill>
              <a:srgbClr val="A8AAB2"/>
            </a:solidFill>
            <a:prstDash val="dash"/>
          </a:ln>
        </p:spPr>
        <p:txBody>
          <a:bodyPr/>
          <a:lstStyle/>
          <a:p>
            <a:endParaRPr lang="ko-KR" altLang="en-US"/>
          </a:p>
        </p:txBody>
      </p:sp>
      <p:sp>
        <p:nvSpPr>
          <p:cNvPr id="16" name="Shape 14"/>
          <p:cNvSpPr/>
          <p:nvPr/>
        </p:nvSpPr>
        <p:spPr>
          <a:xfrm>
            <a:off x="800100" y="4895850"/>
            <a:ext cx="746760" cy="209550"/>
          </a:xfrm>
          <a:prstGeom prst="roundRect">
            <a:avLst>
              <a:gd name="adj" fmla="val 50000"/>
            </a:avLst>
          </a:prstGeom>
          <a:solidFill>
            <a:srgbClr val="F2F3F5"/>
          </a:solidFill>
          <a:ln/>
        </p:spPr>
        <p:txBody>
          <a:bodyPr/>
          <a:lstStyle/>
          <a:p>
            <a:endParaRPr lang="ko-KR" altLang="en-US"/>
          </a:p>
        </p:txBody>
      </p:sp>
      <p:sp>
        <p:nvSpPr>
          <p:cNvPr id="17" name="Text 15"/>
          <p:cNvSpPr txBox="1"/>
          <p:nvPr/>
        </p:nvSpPr>
        <p:spPr>
          <a:xfrm>
            <a:off x="800100" y="489585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김근형 제공</a:t>
            </a:r>
            <a:endParaRPr lang="en-US" sz="900" dirty="0"/>
          </a:p>
        </p:txBody>
      </p:sp>
      <p:sp>
        <p:nvSpPr>
          <p:cNvPr id="18" name="Text 16"/>
          <p:cNvSpPr txBox="1"/>
          <p:nvPr/>
        </p:nvSpPr>
        <p:spPr>
          <a:xfrm>
            <a:off x="800100" y="5181600"/>
            <a:ext cx="10591800" cy="68580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두 유상증자 비교표 — 배정방식 · 주식 수 · 권리락 · 의무보유 · 시장효과</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자료 · 김근형</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미국 US9 수집 결과</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제출건 612 · 로컬 파일 2,949 · 제출문서 연결행 5,502 · 오류 0</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9</a:t>
            </a:r>
            <a:endParaRPr lang="en-US" sz="900" dirty="0"/>
          </a:p>
        </p:txBody>
      </p:sp>
      <p:sp>
        <p:nvSpPr>
          <p:cNvPr id="9" name="Shape 7"/>
          <p:cNvSpPr/>
          <p:nvPr/>
        </p:nvSpPr>
        <p:spPr>
          <a:xfrm>
            <a:off x="609600" y="2590800"/>
            <a:ext cx="1134533" cy="419100"/>
          </a:xfrm>
          <a:prstGeom prst="roundRect">
            <a:avLst>
              <a:gd name="adj" fmla="val 22727"/>
            </a:avLst>
          </a:prstGeom>
          <a:solidFill>
            <a:srgbClr val="F7F8FA"/>
          </a:solidFill>
          <a:ln/>
        </p:spPr>
        <p:txBody>
          <a:bodyPr/>
          <a:lstStyle/>
          <a:p>
            <a:endParaRPr lang="ko-KR" altLang="en-US"/>
          </a:p>
        </p:txBody>
      </p:sp>
      <p:sp>
        <p:nvSpPr>
          <p:cNvPr id="10" name="Text 8"/>
          <p:cNvSpPr txBox="1"/>
          <p:nvPr/>
        </p:nvSpPr>
        <p:spPr>
          <a:xfrm>
            <a:off x="609600"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RTX</a:t>
            </a:r>
            <a:endParaRPr lang="en-US" sz="1125" dirty="0"/>
          </a:p>
        </p:txBody>
      </p:sp>
      <p:sp>
        <p:nvSpPr>
          <p:cNvPr id="11" name="Shape 9"/>
          <p:cNvSpPr/>
          <p:nvPr/>
        </p:nvSpPr>
        <p:spPr>
          <a:xfrm>
            <a:off x="1839383" y="2590800"/>
            <a:ext cx="1134533" cy="419100"/>
          </a:xfrm>
          <a:prstGeom prst="roundRect">
            <a:avLst>
              <a:gd name="adj" fmla="val 22727"/>
            </a:avLst>
          </a:prstGeom>
          <a:solidFill>
            <a:srgbClr val="F7F8FA"/>
          </a:solidFill>
          <a:ln/>
        </p:spPr>
        <p:txBody>
          <a:bodyPr/>
          <a:lstStyle/>
          <a:p>
            <a:endParaRPr lang="ko-KR" altLang="en-US"/>
          </a:p>
        </p:txBody>
      </p:sp>
      <p:sp>
        <p:nvSpPr>
          <p:cNvPr id="12" name="Text 10"/>
          <p:cNvSpPr txBox="1"/>
          <p:nvPr/>
        </p:nvSpPr>
        <p:spPr>
          <a:xfrm>
            <a:off x="1839383"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KTOS</a:t>
            </a:r>
            <a:endParaRPr lang="en-US" sz="1125" dirty="0"/>
          </a:p>
        </p:txBody>
      </p:sp>
      <p:sp>
        <p:nvSpPr>
          <p:cNvPr id="13" name="Shape 11"/>
          <p:cNvSpPr/>
          <p:nvPr/>
        </p:nvSpPr>
        <p:spPr>
          <a:xfrm>
            <a:off x="3069167" y="2590800"/>
            <a:ext cx="1134533" cy="419100"/>
          </a:xfrm>
          <a:prstGeom prst="roundRect">
            <a:avLst>
              <a:gd name="adj" fmla="val 22727"/>
            </a:avLst>
          </a:prstGeom>
          <a:solidFill>
            <a:srgbClr val="F7F8FA"/>
          </a:solidFill>
          <a:ln/>
        </p:spPr>
        <p:txBody>
          <a:bodyPr/>
          <a:lstStyle/>
          <a:p>
            <a:endParaRPr lang="ko-KR" altLang="en-US"/>
          </a:p>
        </p:txBody>
      </p:sp>
      <p:sp>
        <p:nvSpPr>
          <p:cNvPr id="14" name="Text 12"/>
          <p:cNvSpPr txBox="1"/>
          <p:nvPr/>
        </p:nvSpPr>
        <p:spPr>
          <a:xfrm>
            <a:off x="3069167"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ATI</a:t>
            </a:r>
            <a:endParaRPr lang="en-US" sz="1125" dirty="0"/>
          </a:p>
        </p:txBody>
      </p:sp>
      <p:sp>
        <p:nvSpPr>
          <p:cNvPr id="15" name="Shape 13"/>
          <p:cNvSpPr/>
          <p:nvPr/>
        </p:nvSpPr>
        <p:spPr>
          <a:xfrm>
            <a:off x="4298950" y="2590800"/>
            <a:ext cx="1134533" cy="419100"/>
          </a:xfrm>
          <a:prstGeom prst="roundRect">
            <a:avLst>
              <a:gd name="adj" fmla="val 22727"/>
            </a:avLst>
          </a:prstGeom>
          <a:solidFill>
            <a:srgbClr val="F7F8FA"/>
          </a:solidFill>
          <a:ln/>
        </p:spPr>
        <p:txBody>
          <a:bodyPr/>
          <a:lstStyle/>
          <a:p>
            <a:endParaRPr lang="ko-KR" altLang="en-US"/>
          </a:p>
        </p:txBody>
      </p:sp>
      <p:sp>
        <p:nvSpPr>
          <p:cNvPr id="16" name="Text 14"/>
          <p:cNvSpPr txBox="1"/>
          <p:nvPr/>
        </p:nvSpPr>
        <p:spPr>
          <a:xfrm>
            <a:off x="4298950"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TER</a:t>
            </a:r>
            <a:endParaRPr lang="en-US" sz="1125" dirty="0"/>
          </a:p>
        </p:txBody>
      </p:sp>
      <p:sp>
        <p:nvSpPr>
          <p:cNvPr id="17" name="Shape 15"/>
          <p:cNvSpPr/>
          <p:nvPr/>
        </p:nvSpPr>
        <p:spPr>
          <a:xfrm>
            <a:off x="5528733" y="2590800"/>
            <a:ext cx="1134533" cy="419100"/>
          </a:xfrm>
          <a:prstGeom prst="roundRect">
            <a:avLst>
              <a:gd name="adj" fmla="val 22727"/>
            </a:avLst>
          </a:prstGeom>
          <a:solidFill>
            <a:srgbClr val="F7F8FA"/>
          </a:solidFill>
          <a:ln/>
        </p:spPr>
        <p:txBody>
          <a:bodyPr/>
          <a:lstStyle/>
          <a:p>
            <a:endParaRPr lang="ko-KR" altLang="en-US"/>
          </a:p>
        </p:txBody>
      </p:sp>
      <p:sp>
        <p:nvSpPr>
          <p:cNvPr id="18" name="Text 16"/>
          <p:cNvSpPr txBox="1"/>
          <p:nvPr/>
        </p:nvSpPr>
        <p:spPr>
          <a:xfrm>
            <a:off x="5528733"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ANET</a:t>
            </a:r>
            <a:endParaRPr lang="en-US" sz="1125" dirty="0"/>
          </a:p>
        </p:txBody>
      </p:sp>
      <p:sp>
        <p:nvSpPr>
          <p:cNvPr id="19" name="Shape 17"/>
          <p:cNvSpPr/>
          <p:nvPr/>
        </p:nvSpPr>
        <p:spPr>
          <a:xfrm>
            <a:off x="6758517" y="2590800"/>
            <a:ext cx="1134533" cy="419100"/>
          </a:xfrm>
          <a:prstGeom prst="roundRect">
            <a:avLst>
              <a:gd name="adj" fmla="val 22727"/>
            </a:avLst>
          </a:prstGeom>
          <a:solidFill>
            <a:srgbClr val="F7F8FA"/>
          </a:solidFill>
          <a:ln/>
        </p:spPr>
        <p:txBody>
          <a:bodyPr/>
          <a:lstStyle/>
          <a:p>
            <a:endParaRPr lang="ko-KR" altLang="en-US"/>
          </a:p>
        </p:txBody>
      </p:sp>
      <p:sp>
        <p:nvSpPr>
          <p:cNvPr id="20" name="Text 18"/>
          <p:cNvSpPr txBox="1"/>
          <p:nvPr/>
        </p:nvSpPr>
        <p:spPr>
          <a:xfrm>
            <a:off x="6758517"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ALAB</a:t>
            </a:r>
            <a:endParaRPr lang="en-US" sz="1125" dirty="0"/>
          </a:p>
        </p:txBody>
      </p:sp>
      <p:sp>
        <p:nvSpPr>
          <p:cNvPr id="21" name="Shape 19"/>
          <p:cNvSpPr/>
          <p:nvPr/>
        </p:nvSpPr>
        <p:spPr>
          <a:xfrm>
            <a:off x="7988300" y="2590800"/>
            <a:ext cx="1134533" cy="419100"/>
          </a:xfrm>
          <a:prstGeom prst="roundRect">
            <a:avLst>
              <a:gd name="adj" fmla="val 22727"/>
            </a:avLst>
          </a:prstGeom>
          <a:solidFill>
            <a:srgbClr val="F7F8FA"/>
          </a:solidFill>
          <a:ln/>
        </p:spPr>
        <p:txBody>
          <a:bodyPr/>
          <a:lstStyle/>
          <a:p>
            <a:endParaRPr lang="ko-KR" altLang="en-US"/>
          </a:p>
        </p:txBody>
      </p:sp>
      <p:sp>
        <p:nvSpPr>
          <p:cNvPr id="22" name="Text 20"/>
          <p:cNvSpPr txBox="1"/>
          <p:nvPr/>
        </p:nvSpPr>
        <p:spPr>
          <a:xfrm>
            <a:off x="7988300"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GEV</a:t>
            </a:r>
            <a:endParaRPr lang="en-US" sz="1125" dirty="0"/>
          </a:p>
        </p:txBody>
      </p:sp>
      <p:sp>
        <p:nvSpPr>
          <p:cNvPr id="23" name="Shape 21"/>
          <p:cNvSpPr/>
          <p:nvPr/>
        </p:nvSpPr>
        <p:spPr>
          <a:xfrm>
            <a:off x="9218083" y="2590800"/>
            <a:ext cx="1134533" cy="419100"/>
          </a:xfrm>
          <a:prstGeom prst="roundRect">
            <a:avLst>
              <a:gd name="adj" fmla="val 22727"/>
            </a:avLst>
          </a:prstGeom>
          <a:solidFill>
            <a:srgbClr val="F7F8FA"/>
          </a:solidFill>
          <a:ln/>
        </p:spPr>
        <p:txBody>
          <a:bodyPr/>
          <a:lstStyle/>
          <a:p>
            <a:endParaRPr lang="ko-KR" altLang="en-US"/>
          </a:p>
        </p:txBody>
      </p:sp>
      <p:sp>
        <p:nvSpPr>
          <p:cNvPr id="24" name="Text 22"/>
          <p:cNvSpPr txBox="1"/>
          <p:nvPr/>
        </p:nvSpPr>
        <p:spPr>
          <a:xfrm>
            <a:off x="9218083"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ETN</a:t>
            </a:r>
            <a:endParaRPr lang="en-US" sz="1125" dirty="0"/>
          </a:p>
        </p:txBody>
      </p:sp>
      <p:sp>
        <p:nvSpPr>
          <p:cNvPr id="25" name="Shape 23"/>
          <p:cNvSpPr/>
          <p:nvPr/>
        </p:nvSpPr>
        <p:spPr>
          <a:xfrm>
            <a:off x="10447867" y="2590800"/>
            <a:ext cx="1134533" cy="419100"/>
          </a:xfrm>
          <a:prstGeom prst="roundRect">
            <a:avLst>
              <a:gd name="adj" fmla="val 22727"/>
            </a:avLst>
          </a:prstGeom>
          <a:solidFill>
            <a:srgbClr val="F7F8FA"/>
          </a:solidFill>
          <a:ln/>
        </p:spPr>
        <p:txBody>
          <a:bodyPr/>
          <a:lstStyle/>
          <a:p>
            <a:endParaRPr lang="ko-KR" altLang="en-US"/>
          </a:p>
        </p:txBody>
      </p:sp>
      <p:sp>
        <p:nvSpPr>
          <p:cNvPr id="26" name="Text 24"/>
          <p:cNvSpPr txBox="1"/>
          <p:nvPr/>
        </p:nvSpPr>
        <p:spPr>
          <a:xfrm>
            <a:off x="10447867" y="2590800"/>
            <a:ext cx="1134533" cy="419100"/>
          </a:xfrm>
          <a:prstGeom prst="rect">
            <a:avLst/>
          </a:prstGeom>
          <a:noFill/>
          <a:ln/>
        </p:spPr>
        <p:txBody>
          <a:bodyPr wrap="square" lIns="0" tIns="0" rIns="0" bIns="0" rtlCol="0" anchor="ctr"/>
          <a:lstStyle/>
          <a:p>
            <a:pPr marL="0" indent="0" algn="ctr">
              <a:buNone/>
            </a:pPr>
            <a:r>
              <a:rPr lang="en-US" sz="1125" b="1" dirty="0">
                <a:solidFill>
                  <a:srgbClr val="222222"/>
                </a:solidFill>
                <a:latin typeface="Malgun Gothic" pitchFamily="34" charset="0"/>
                <a:ea typeface="Malgun Gothic" pitchFamily="34" charset="-122"/>
                <a:cs typeface="Malgun Gothic" pitchFamily="34" charset="-120"/>
              </a:rPr>
              <a:t>APH</a:t>
            </a:r>
            <a:endParaRPr lang="en-US" sz="1125" dirty="0"/>
          </a:p>
        </p:txBody>
      </p:sp>
      <p:sp>
        <p:nvSpPr>
          <p:cNvPr id="27" name="Shape 25"/>
          <p:cNvSpPr/>
          <p:nvPr/>
        </p:nvSpPr>
        <p:spPr>
          <a:xfrm>
            <a:off x="609600" y="3162300"/>
            <a:ext cx="3505200" cy="1181100"/>
          </a:xfrm>
          <a:prstGeom prst="roundRect">
            <a:avLst>
              <a:gd name="adj" fmla="val 12903"/>
            </a:avLst>
          </a:prstGeom>
          <a:solidFill>
            <a:srgbClr val="F7F8FA"/>
          </a:solidFill>
          <a:ln w="12700">
            <a:solidFill>
              <a:srgbClr val="E5E7EB"/>
            </a:solidFill>
            <a:prstDash val="solid"/>
          </a:ln>
        </p:spPr>
        <p:txBody>
          <a:bodyPr/>
          <a:lstStyle/>
          <a:p>
            <a:endParaRPr lang="ko-KR" altLang="en-US"/>
          </a:p>
        </p:txBody>
      </p:sp>
      <p:sp>
        <p:nvSpPr>
          <p:cNvPr id="28" name="Text 26"/>
          <p:cNvSpPr txBox="1"/>
          <p:nvPr/>
        </p:nvSpPr>
        <p:spPr>
          <a:xfrm>
            <a:off x="800100" y="33147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제출건</a:t>
            </a:r>
            <a:endParaRPr lang="en-US" sz="975" dirty="0"/>
          </a:p>
        </p:txBody>
      </p:sp>
      <p:sp>
        <p:nvSpPr>
          <p:cNvPr id="29" name="Text 27"/>
          <p:cNvSpPr txBox="1"/>
          <p:nvPr/>
        </p:nvSpPr>
        <p:spPr>
          <a:xfrm>
            <a:off x="800100" y="35052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612</a:t>
            </a:r>
            <a:endParaRPr lang="en-US" sz="2250" dirty="0"/>
          </a:p>
        </p:txBody>
      </p:sp>
      <p:sp>
        <p:nvSpPr>
          <p:cNvPr id="30" name="Text 28"/>
          <p:cNvSpPr txBox="1"/>
          <p:nvPr/>
        </p:nvSpPr>
        <p:spPr>
          <a:xfrm>
            <a:off x="800100" y="3848100"/>
            <a:ext cx="3124200" cy="4381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정기보고서 175 · 8-K 검토후보 437</a:t>
            </a:r>
            <a:endParaRPr lang="en-US" sz="975" dirty="0"/>
          </a:p>
        </p:txBody>
      </p:sp>
      <p:sp>
        <p:nvSpPr>
          <p:cNvPr id="31" name="Shape 29"/>
          <p:cNvSpPr/>
          <p:nvPr/>
        </p:nvSpPr>
        <p:spPr>
          <a:xfrm>
            <a:off x="4343400" y="3162300"/>
            <a:ext cx="3505200" cy="1181100"/>
          </a:xfrm>
          <a:prstGeom prst="roundRect">
            <a:avLst>
              <a:gd name="adj" fmla="val 12903"/>
            </a:avLst>
          </a:prstGeom>
          <a:solidFill>
            <a:srgbClr val="F7F8FA"/>
          </a:solidFill>
          <a:ln w="12700">
            <a:solidFill>
              <a:srgbClr val="E5E7EB"/>
            </a:solidFill>
            <a:prstDash val="solid"/>
          </a:ln>
        </p:spPr>
        <p:txBody>
          <a:bodyPr/>
          <a:lstStyle/>
          <a:p>
            <a:endParaRPr lang="ko-KR" altLang="en-US"/>
          </a:p>
        </p:txBody>
      </p:sp>
      <p:sp>
        <p:nvSpPr>
          <p:cNvPr id="32" name="Text 30"/>
          <p:cNvSpPr txBox="1"/>
          <p:nvPr/>
        </p:nvSpPr>
        <p:spPr>
          <a:xfrm>
            <a:off x="4533900" y="33147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로컬 파일</a:t>
            </a:r>
            <a:endParaRPr lang="en-US" sz="975" dirty="0"/>
          </a:p>
        </p:txBody>
      </p:sp>
      <p:sp>
        <p:nvSpPr>
          <p:cNvPr id="33" name="Text 31"/>
          <p:cNvSpPr txBox="1"/>
          <p:nvPr/>
        </p:nvSpPr>
        <p:spPr>
          <a:xfrm>
            <a:off x="4533900" y="35052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2,949</a:t>
            </a:r>
            <a:endParaRPr lang="en-US" sz="2250" dirty="0"/>
          </a:p>
        </p:txBody>
      </p:sp>
      <p:sp>
        <p:nvSpPr>
          <p:cNvPr id="34" name="Text 32"/>
          <p:cNvSpPr txBox="1"/>
          <p:nvPr/>
        </p:nvSpPr>
        <p:spPr>
          <a:xfrm>
            <a:off x="4533900" y="3848100"/>
            <a:ext cx="3124200" cy="4381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원문 다운로드 완료</a:t>
            </a:r>
            <a:endParaRPr lang="en-US" sz="975" dirty="0"/>
          </a:p>
        </p:txBody>
      </p:sp>
      <p:sp>
        <p:nvSpPr>
          <p:cNvPr id="35" name="Shape 33"/>
          <p:cNvSpPr/>
          <p:nvPr/>
        </p:nvSpPr>
        <p:spPr>
          <a:xfrm>
            <a:off x="8077200" y="3162300"/>
            <a:ext cx="3505200" cy="1181100"/>
          </a:xfrm>
          <a:prstGeom prst="roundRect">
            <a:avLst>
              <a:gd name="adj" fmla="val 12903"/>
            </a:avLst>
          </a:prstGeom>
          <a:solidFill>
            <a:srgbClr val="F7F8FA"/>
          </a:solidFill>
          <a:ln w="12700">
            <a:solidFill>
              <a:srgbClr val="E5E7EB"/>
            </a:solidFill>
            <a:prstDash val="solid"/>
          </a:ln>
        </p:spPr>
        <p:txBody>
          <a:bodyPr/>
          <a:lstStyle/>
          <a:p>
            <a:endParaRPr lang="ko-KR" altLang="en-US"/>
          </a:p>
        </p:txBody>
      </p:sp>
      <p:sp>
        <p:nvSpPr>
          <p:cNvPr id="36" name="Text 34"/>
          <p:cNvSpPr txBox="1"/>
          <p:nvPr/>
        </p:nvSpPr>
        <p:spPr>
          <a:xfrm>
            <a:off x="8267700" y="331470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제출문서 연결행</a:t>
            </a:r>
            <a:endParaRPr lang="en-US" sz="975" dirty="0"/>
          </a:p>
        </p:txBody>
      </p:sp>
      <p:sp>
        <p:nvSpPr>
          <p:cNvPr id="37" name="Text 35"/>
          <p:cNvSpPr txBox="1"/>
          <p:nvPr/>
        </p:nvSpPr>
        <p:spPr>
          <a:xfrm>
            <a:off x="8267700" y="350520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5,502</a:t>
            </a:r>
            <a:endParaRPr lang="en-US" sz="2250" dirty="0"/>
          </a:p>
        </p:txBody>
      </p:sp>
      <p:sp>
        <p:nvSpPr>
          <p:cNvPr id="38" name="Text 36"/>
          <p:cNvSpPr txBox="1"/>
          <p:nvPr/>
        </p:nvSpPr>
        <p:spPr>
          <a:xfrm>
            <a:off x="8267700" y="3848100"/>
            <a:ext cx="3124200" cy="4381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오류 0</a:t>
            </a:r>
            <a:endParaRPr lang="en-US" sz="975" dirty="0"/>
          </a:p>
        </p:txBody>
      </p:sp>
      <p:sp>
        <p:nvSpPr>
          <p:cNvPr id="39" name="Shape 37"/>
          <p:cNvSpPr/>
          <p:nvPr/>
        </p:nvSpPr>
        <p:spPr>
          <a:xfrm>
            <a:off x="609600" y="4533900"/>
            <a:ext cx="6667500" cy="1485900"/>
          </a:xfrm>
          <a:prstGeom prst="roundRect">
            <a:avLst>
              <a:gd name="adj" fmla="val 10256"/>
            </a:avLst>
          </a:prstGeom>
          <a:solidFill>
            <a:srgbClr val="F7F8FA"/>
          </a:solidFill>
          <a:ln w="12700">
            <a:solidFill>
              <a:srgbClr val="A8AAB2"/>
            </a:solidFill>
            <a:prstDash val="dash"/>
          </a:ln>
        </p:spPr>
        <p:txBody>
          <a:bodyPr/>
          <a:lstStyle/>
          <a:p>
            <a:endParaRPr lang="ko-KR" altLang="en-US"/>
          </a:p>
        </p:txBody>
      </p:sp>
      <p:sp>
        <p:nvSpPr>
          <p:cNvPr id="40" name="Shape 38"/>
          <p:cNvSpPr/>
          <p:nvPr/>
        </p:nvSpPr>
        <p:spPr>
          <a:xfrm>
            <a:off x="800100" y="4705350"/>
            <a:ext cx="746760" cy="209550"/>
          </a:xfrm>
          <a:prstGeom prst="roundRect">
            <a:avLst>
              <a:gd name="adj" fmla="val 50000"/>
            </a:avLst>
          </a:prstGeom>
          <a:solidFill>
            <a:srgbClr val="F2F3F5"/>
          </a:solidFill>
          <a:ln/>
        </p:spPr>
        <p:txBody>
          <a:bodyPr/>
          <a:lstStyle/>
          <a:p>
            <a:endParaRPr lang="ko-KR" altLang="en-US"/>
          </a:p>
        </p:txBody>
      </p:sp>
      <p:sp>
        <p:nvSpPr>
          <p:cNvPr id="41" name="Text 39"/>
          <p:cNvSpPr txBox="1"/>
          <p:nvPr/>
        </p:nvSpPr>
        <p:spPr>
          <a:xfrm>
            <a:off x="800100" y="470535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김근형 제공</a:t>
            </a:r>
            <a:endParaRPr lang="en-US" sz="900" dirty="0"/>
          </a:p>
        </p:txBody>
      </p:sp>
      <p:sp>
        <p:nvSpPr>
          <p:cNvPr id="42" name="Text 40"/>
          <p:cNvSpPr txBox="1"/>
          <p:nvPr/>
        </p:nvSpPr>
        <p:spPr>
          <a:xfrm>
            <a:off x="800100" y="4991100"/>
            <a:ext cx="6286500" cy="87630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US9 수집계층 — 612 → 2,949 → 5,502 로 넓어지는 단계 도식</a:t>
            </a:r>
            <a:endParaRPr lang="en-US" sz="1125" dirty="0"/>
          </a:p>
        </p:txBody>
      </p:sp>
      <p:sp>
        <p:nvSpPr>
          <p:cNvPr id="43" name="Shape 41"/>
          <p:cNvSpPr/>
          <p:nvPr/>
        </p:nvSpPr>
        <p:spPr>
          <a:xfrm>
            <a:off x="7505700" y="4533900"/>
            <a:ext cx="4076700" cy="1485900"/>
          </a:xfrm>
          <a:prstGeom prst="roundRect">
            <a:avLst>
              <a:gd name="adj" fmla="val 20513"/>
            </a:avLst>
          </a:prstGeom>
          <a:solidFill>
            <a:srgbClr val="0A0A0A"/>
          </a:solidFill>
          <a:ln/>
        </p:spPr>
        <p:txBody>
          <a:bodyPr/>
          <a:lstStyle/>
          <a:p>
            <a:endParaRPr lang="ko-KR" altLang="en-US"/>
          </a:p>
        </p:txBody>
      </p:sp>
      <p:sp>
        <p:nvSpPr>
          <p:cNvPr id="44" name="Text 42"/>
          <p:cNvSpPr txBox="1"/>
          <p:nvPr/>
        </p:nvSpPr>
        <p:spPr>
          <a:xfrm>
            <a:off x="7810500" y="4762500"/>
            <a:ext cx="3467100" cy="190500"/>
          </a:xfrm>
          <a:prstGeom prst="rect">
            <a:avLst/>
          </a:prstGeom>
          <a:noFill/>
          <a:ln/>
        </p:spPr>
        <p:txBody>
          <a:bodyPr wrap="square" lIns="0" tIns="0" rIns="0" bIns="0" rtlCol="0" anchor="ctr"/>
          <a:lstStyle/>
          <a:p>
            <a:pPr marL="0" indent="0">
              <a:buNone/>
            </a:pPr>
            <a:r>
              <a:rPr lang="en-US" sz="975" b="1" dirty="0">
                <a:solidFill>
                  <a:srgbClr val="FF5530"/>
                </a:solidFill>
                <a:latin typeface="Malgun Gothic" pitchFamily="34" charset="0"/>
                <a:ea typeface="Malgun Gothic" pitchFamily="34" charset="-122"/>
                <a:cs typeface="Malgun Gothic" pitchFamily="34" charset="-120"/>
              </a:rPr>
              <a:t>주의</a:t>
            </a:r>
            <a:endParaRPr lang="en-US" sz="975" dirty="0"/>
          </a:p>
        </p:txBody>
      </p:sp>
      <p:sp>
        <p:nvSpPr>
          <p:cNvPr id="45" name="Text 43"/>
          <p:cNvSpPr txBox="1"/>
          <p:nvPr/>
        </p:nvSpPr>
        <p:spPr>
          <a:xfrm>
            <a:off x="7810500" y="5029200"/>
            <a:ext cx="3467100" cy="762000"/>
          </a:xfrm>
          <a:prstGeom prst="rect">
            <a:avLst/>
          </a:prstGeom>
          <a:noFill/>
          <a:ln/>
        </p:spPr>
        <p:txBody>
          <a:bodyPr wrap="square" lIns="0" tIns="0" rIns="0" bIns="0" rtlCol="0" anchor="t"/>
          <a:lstStyle/>
          <a:p>
            <a:pPr marL="0" indent="0">
              <a:lnSpc>
                <a:spcPct val="140000"/>
              </a:lnSpc>
              <a:buNone/>
            </a:pPr>
            <a:r>
              <a:rPr lang="en-US" sz="1425" b="1" dirty="0">
                <a:solidFill>
                  <a:srgbClr val="FFFFFF"/>
                </a:solidFill>
                <a:latin typeface="Malgun Gothic" pitchFamily="34" charset="0"/>
                <a:ea typeface="Malgun Gothic" pitchFamily="34" charset="-122"/>
                <a:cs typeface="Malgun Gothic" pitchFamily="34" charset="-120"/>
              </a:rPr>
              <a:t>437건은 확정 사건 수가 아니라</a:t>
            </a:r>
            <a:endParaRPr lang="en-US" sz="1425" dirty="0"/>
          </a:p>
          <a:p>
            <a:pPr marL="0" indent="0">
              <a:lnSpc>
                <a:spcPct val="140000"/>
              </a:lnSpc>
              <a:buNone/>
            </a:pPr>
            <a:r>
              <a:rPr lang="en-US" sz="1425" b="1" dirty="0">
                <a:solidFill>
                  <a:srgbClr val="FFFFFF"/>
                </a:solidFill>
                <a:latin typeface="Malgun Gothic" pitchFamily="34" charset="0"/>
                <a:ea typeface="Malgun Gothic" pitchFamily="34" charset="-122"/>
                <a:cs typeface="Malgun Gothic" pitchFamily="34" charset="-120"/>
              </a:rPr>
              <a:t>조사후보입니다.</a:t>
            </a:r>
            <a:endParaRPr lang="en-US" sz="14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자료 · 김근형</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담당범위와 후속범위의 분리</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완료를 과장하지 않는 것이 재현성의 출발점입니다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10</a:t>
            </a:r>
            <a:endParaRPr lang="en-US" sz="900" dirty="0"/>
          </a:p>
        </p:txBody>
      </p:sp>
      <p:sp>
        <p:nvSpPr>
          <p:cNvPr id="9" name="Shape 7"/>
          <p:cNvSpPr/>
          <p:nvPr/>
        </p:nvSpPr>
        <p:spPr>
          <a:xfrm>
            <a:off x="609600" y="2590800"/>
            <a:ext cx="2072640" cy="1238250"/>
          </a:xfrm>
          <a:prstGeom prst="roundRect">
            <a:avLst>
              <a:gd name="adj" fmla="val 15385"/>
            </a:avLst>
          </a:prstGeom>
          <a:solidFill>
            <a:srgbClr val="0A0A0A"/>
          </a:solidFill>
          <a:ln/>
        </p:spPr>
        <p:txBody>
          <a:bodyPr/>
          <a:lstStyle/>
          <a:p>
            <a:endParaRPr lang="ko-KR" altLang="en-US"/>
          </a:p>
        </p:txBody>
      </p:sp>
      <p:sp>
        <p:nvSpPr>
          <p:cNvPr id="10" name="Text 8"/>
          <p:cNvSpPr txBox="1"/>
          <p:nvPr/>
        </p:nvSpPr>
        <p:spPr>
          <a:xfrm>
            <a:off x="762000" y="2590800"/>
            <a:ext cx="1767840" cy="1238250"/>
          </a:xfrm>
          <a:prstGeom prst="rect">
            <a:avLst/>
          </a:prstGeom>
          <a:noFill/>
          <a:ln/>
        </p:spPr>
        <p:txBody>
          <a:bodyPr wrap="square" lIns="0" tIns="0" rIns="0" bIns="0" rtlCol="0" anchor="ctr"/>
          <a:lstStyle/>
          <a:p>
            <a:pPr marL="0" indent="0" algn="ctr">
              <a:lnSpc>
                <a:spcPct val="130000"/>
              </a:lnSpc>
              <a:buNone/>
            </a:pPr>
            <a:r>
              <a:rPr lang="en-US" sz="1350" b="1" dirty="0">
                <a:solidFill>
                  <a:srgbClr val="FFFFFF"/>
                </a:solidFill>
                <a:latin typeface="Malgun Gothic" pitchFamily="34" charset="0"/>
                <a:ea typeface="Malgun Gothic" pitchFamily="34" charset="-122"/>
                <a:cs typeface="Malgun Gothic" pitchFamily="34" charset="-120"/>
              </a:rPr>
              <a:t>담당범위 완료</a:t>
            </a:r>
            <a:endParaRPr lang="en-US" sz="1350" dirty="0"/>
          </a:p>
        </p:txBody>
      </p:sp>
      <p:sp>
        <p:nvSpPr>
          <p:cNvPr id="11" name="Shape 9"/>
          <p:cNvSpPr/>
          <p:nvPr/>
        </p:nvSpPr>
        <p:spPr>
          <a:xfrm>
            <a:off x="2834640" y="2590800"/>
            <a:ext cx="2072640" cy="1238250"/>
          </a:xfrm>
          <a:prstGeom prst="roundRect">
            <a:avLst>
              <a:gd name="adj" fmla="val 15385"/>
            </a:avLst>
          </a:prstGeom>
          <a:solidFill>
            <a:srgbClr val="F7F8FA"/>
          </a:solidFill>
          <a:ln/>
        </p:spPr>
        <p:txBody>
          <a:bodyPr/>
          <a:lstStyle/>
          <a:p>
            <a:endParaRPr lang="ko-KR" altLang="en-US"/>
          </a:p>
        </p:txBody>
      </p:sp>
      <p:sp>
        <p:nvSpPr>
          <p:cNvPr id="12" name="Text 10"/>
          <p:cNvSpPr txBox="1"/>
          <p:nvPr/>
        </p:nvSpPr>
        <p:spPr>
          <a:xfrm>
            <a:off x="2682240" y="3067050"/>
            <a:ext cx="152400" cy="285750"/>
          </a:xfrm>
          <a:prstGeom prst="rect">
            <a:avLst/>
          </a:prstGeom>
          <a:noFill/>
          <a:ln/>
        </p:spPr>
        <p:txBody>
          <a:bodyPr wrap="square" lIns="0" tIns="0" rIns="0" bIns="0" rtlCol="0" anchor="ctr"/>
          <a:lstStyle/>
          <a:p>
            <a:pPr marL="0" indent="0" algn="ctr">
              <a:buNone/>
            </a:pPr>
            <a:r>
              <a:rPr lang="en-US" sz="1200" b="1" dirty="0">
                <a:solidFill>
                  <a:srgbClr val="A8AAB2"/>
                </a:solidFill>
                <a:latin typeface="Malgun Gothic" pitchFamily="34" charset="0"/>
                <a:ea typeface="Malgun Gothic" pitchFamily="34" charset="-122"/>
                <a:cs typeface="Malgun Gothic" pitchFamily="34" charset="-120"/>
              </a:rPr>
              <a:t>≠</a:t>
            </a:r>
            <a:endParaRPr lang="en-US" sz="1200" dirty="0"/>
          </a:p>
        </p:txBody>
      </p:sp>
      <p:sp>
        <p:nvSpPr>
          <p:cNvPr id="13" name="Text 11"/>
          <p:cNvSpPr txBox="1"/>
          <p:nvPr/>
        </p:nvSpPr>
        <p:spPr>
          <a:xfrm>
            <a:off x="2987040" y="2590800"/>
            <a:ext cx="1767840" cy="1238250"/>
          </a:xfrm>
          <a:prstGeom prst="rect">
            <a:avLst/>
          </a:prstGeom>
          <a:noFill/>
          <a:ln/>
        </p:spPr>
        <p:txBody>
          <a:bodyPr wrap="square" lIns="0" tIns="0" rIns="0" bIns="0" rtlCol="0" anchor="ctr"/>
          <a:lstStyle/>
          <a:p>
            <a:pPr marL="0" indent="0" algn="ctr">
              <a:lnSpc>
                <a:spcPct val="135000"/>
              </a:lnSpc>
              <a:buNone/>
            </a:pPr>
            <a:r>
              <a:rPr lang="en-US" sz="1200" dirty="0">
                <a:solidFill>
                  <a:srgbClr val="45515E"/>
                </a:solidFill>
                <a:latin typeface="Malgun Gothic" pitchFamily="34" charset="0"/>
                <a:ea typeface="Malgun Gothic" pitchFamily="34" charset="-122"/>
                <a:cs typeface="Malgun Gothic" pitchFamily="34" charset="-120"/>
              </a:rPr>
              <a:t>독립 QA 완료</a:t>
            </a:r>
            <a:endParaRPr lang="en-US" sz="1200" dirty="0"/>
          </a:p>
        </p:txBody>
      </p:sp>
      <p:sp>
        <p:nvSpPr>
          <p:cNvPr id="14" name="Shape 12"/>
          <p:cNvSpPr/>
          <p:nvPr/>
        </p:nvSpPr>
        <p:spPr>
          <a:xfrm>
            <a:off x="5059680" y="2590800"/>
            <a:ext cx="2072640" cy="1238250"/>
          </a:xfrm>
          <a:prstGeom prst="roundRect">
            <a:avLst>
              <a:gd name="adj" fmla="val 15385"/>
            </a:avLst>
          </a:prstGeom>
          <a:solidFill>
            <a:srgbClr val="F7F8FA"/>
          </a:solidFill>
          <a:ln/>
        </p:spPr>
        <p:txBody>
          <a:bodyPr/>
          <a:lstStyle/>
          <a:p>
            <a:endParaRPr lang="ko-KR" altLang="en-US"/>
          </a:p>
        </p:txBody>
      </p:sp>
      <p:sp>
        <p:nvSpPr>
          <p:cNvPr id="15" name="Text 13"/>
          <p:cNvSpPr txBox="1"/>
          <p:nvPr/>
        </p:nvSpPr>
        <p:spPr>
          <a:xfrm>
            <a:off x="4907280" y="3067050"/>
            <a:ext cx="152400" cy="285750"/>
          </a:xfrm>
          <a:prstGeom prst="rect">
            <a:avLst/>
          </a:prstGeom>
          <a:noFill/>
          <a:ln/>
        </p:spPr>
        <p:txBody>
          <a:bodyPr wrap="square" lIns="0" tIns="0" rIns="0" bIns="0" rtlCol="0" anchor="ctr"/>
          <a:lstStyle/>
          <a:p>
            <a:pPr marL="0" indent="0" algn="ctr">
              <a:buNone/>
            </a:pPr>
            <a:r>
              <a:rPr lang="en-US" sz="1200" b="1" dirty="0">
                <a:solidFill>
                  <a:srgbClr val="A8AAB2"/>
                </a:solidFill>
                <a:latin typeface="Malgun Gothic" pitchFamily="34" charset="0"/>
                <a:ea typeface="Malgun Gothic" pitchFamily="34" charset="-122"/>
                <a:cs typeface="Malgun Gothic" pitchFamily="34" charset="-120"/>
              </a:rPr>
              <a:t>≠</a:t>
            </a:r>
            <a:endParaRPr lang="en-US" sz="1200" dirty="0"/>
          </a:p>
        </p:txBody>
      </p:sp>
      <p:sp>
        <p:nvSpPr>
          <p:cNvPr id="16" name="Text 14"/>
          <p:cNvSpPr txBox="1"/>
          <p:nvPr/>
        </p:nvSpPr>
        <p:spPr>
          <a:xfrm>
            <a:off x="5212080" y="2590800"/>
            <a:ext cx="1767840" cy="1238250"/>
          </a:xfrm>
          <a:prstGeom prst="rect">
            <a:avLst/>
          </a:prstGeom>
          <a:noFill/>
          <a:ln/>
        </p:spPr>
        <p:txBody>
          <a:bodyPr wrap="square" lIns="0" tIns="0" rIns="0" bIns="0" rtlCol="0" anchor="ctr"/>
          <a:lstStyle/>
          <a:p>
            <a:pPr marL="0" indent="0" algn="ctr">
              <a:lnSpc>
                <a:spcPct val="135000"/>
              </a:lnSpc>
              <a:buNone/>
            </a:pPr>
            <a:r>
              <a:rPr lang="en-US" sz="1200" dirty="0">
                <a:solidFill>
                  <a:srgbClr val="45515E"/>
                </a:solidFill>
                <a:latin typeface="Malgun Gothic" pitchFamily="34" charset="0"/>
                <a:ea typeface="Malgun Gothic" pitchFamily="34" charset="-122"/>
                <a:cs typeface="Malgun Gothic" pitchFamily="34" charset="-120"/>
              </a:rPr>
              <a:t>팀 승인 완료</a:t>
            </a:r>
            <a:endParaRPr lang="en-US" sz="1200" dirty="0"/>
          </a:p>
        </p:txBody>
      </p:sp>
      <p:sp>
        <p:nvSpPr>
          <p:cNvPr id="17" name="Shape 15"/>
          <p:cNvSpPr/>
          <p:nvPr/>
        </p:nvSpPr>
        <p:spPr>
          <a:xfrm>
            <a:off x="7284720" y="2590800"/>
            <a:ext cx="2072640" cy="1238250"/>
          </a:xfrm>
          <a:prstGeom prst="roundRect">
            <a:avLst>
              <a:gd name="adj" fmla="val 15385"/>
            </a:avLst>
          </a:prstGeom>
          <a:solidFill>
            <a:srgbClr val="F7F8FA"/>
          </a:solidFill>
          <a:ln/>
        </p:spPr>
        <p:txBody>
          <a:bodyPr/>
          <a:lstStyle/>
          <a:p>
            <a:endParaRPr lang="ko-KR" altLang="en-US"/>
          </a:p>
        </p:txBody>
      </p:sp>
      <p:sp>
        <p:nvSpPr>
          <p:cNvPr id="18" name="Text 16"/>
          <p:cNvSpPr txBox="1"/>
          <p:nvPr/>
        </p:nvSpPr>
        <p:spPr>
          <a:xfrm>
            <a:off x="7132320" y="3067050"/>
            <a:ext cx="152400" cy="285750"/>
          </a:xfrm>
          <a:prstGeom prst="rect">
            <a:avLst/>
          </a:prstGeom>
          <a:noFill/>
          <a:ln/>
        </p:spPr>
        <p:txBody>
          <a:bodyPr wrap="square" lIns="0" tIns="0" rIns="0" bIns="0" rtlCol="0" anchor="ctr"/>
          <a:lstStyle/>
          <a:p>
            <a:pPr marL="0" indent="0" algn="ctr">
              <a:buNone/>
            </a:pPr>
            <a:r>
              <a:rPr lang="en-US" sz="1200" b="1" dirty="0">
                <a:solidFill>
                  <a:srgbClr val="A8AAB2"/>
                </a:solidFill>
                <a:latin typeface="Malgun Gothic" pitchFamily="34" charset="0"/>
                <a:ea typeface="Malgun Gothic" pitchFamily="34" charset="-122"/>
                <a:cs typeface="Malgun Gothic" pitchFamily="34" charset="-120"/>
              </a:rPr>
              <a:t>≠</a:t>
            </a:r>
            <a:endParaRPr lang="en-US" sz="1200" dirty="0"/>
          </a:p>
        </p:txBody>
      </p:sp>
      <p:sp>
        <p:nvSpPr>
          <p:cNvPr id="19" name="Text 17"/>
          <p:cNvSpPr txBox="1"/>
          <p:nvPr/>
        </p:nvSpPr>
        <p:spPr>
          <a:xfrm>
            <a:off x="7437120" y="2590800"/>
            <a:ext cx="1767840" cy="1238250"/>
          </a:xfrm>
          <a:prstGeom prst="rect">
            <a:avLst/>
          </a:prstGeom>
          <a:noFill/>
          <a:ln/>
        </p:spPr>
        <p:txBody>
          <a:bodyPr wrap="square" lIns="0" tIns="0" rIns="0" bIns="0" rtlCol="0" anchor="ctr"/>
          <a:lstStyle/>
          <a:p>
            <a:pPr marL="0" indent="0" algn="ctr">
              <a:lnSpc>
                <a:spcPct val="135000"/>
              </a:lnSpc>
              <a:buNone/>
            </a:pPr>
            <a:r>
              <a:rPr lang="en-US" sz="1200" dirty="0">
                <a:solidFill>
                  <a:srgbClr val="45515E"/>
                </a:solidFill>
                <a:latin typeface="Malgun Gothic" pitchFamily="34" charset="0"/>
                <a:ea typeface="Malgun Gothic" pitchFamily="34" charset="-122"/>
                <a:cs typeface="Malgun Gothic" pitchFamily="34" charset="-120"/>
              </a:rPr>
              <a:t>승인값의 엔진 입력 반영</a:t>
            </a:r>
            <a:endParaRPr lang="en-US" sz="1200" dirty="0"/>
          </a:p>
        </p:txBody>
      </p:sp>
      <p:sp>
        <p:nvSpPr>
          <p:cNvPr id="20" name="Shape 18"/>
          <p:cNvSpPr/>
          <p:nvPr/>
        </p:nvSpPr>
        <p:spPr>
          <a:xfrm>
            <a:off x="9509760" y="2590800"/>
            <a:ext cx="2072640" cy="1238250"/>
          </a:xfrm>
          <a:prstGeom prst="roundRect">
            <a:avLst>
              <a:gd name="adj" fmla="val 15385"/>
            </a:avLst>
          </a:prstGeom>
          <a:solidFill>
            <a:srgbClr val="F7F8FA"/>
          </a:solidFill>
          <a:ln/>
        </p:spPr>
        <p:txBody>
          <a:bodyPr/>
          <a:lstStyle/>
          <a:p>
            <a:endParaRPr lang="ko-KR" altLang="en-US"/>
          </a:p>
        </p:txBody>
      </p:sp>
      <p:sp>
        <p:nvSpPr>
          <p:cNvPr id="21" name="Text 19"/>
          <p:cNvSpPr txBox="1"/>
          <p:nvPr/>
        </p:nvSpPr>
        <p:spPr>
          <a:xfrm>
            <a:off x="9357360" y="3067050"/>
            <a:ext cx="152400" cy="285750"/>
          </a:xfrm>
          <a:prstGeom prst="rect">
            <a:avLst/>
          </a:prstGeom>
          <a:noFill/>
          <a:ln/>
        </p:spPr>
        <p:txBody>
          <a:bodyPr wrap="square" lIns="0" tIns="0" rIns="0" bIns="0" rtlCol="0" anchor="ctr"/>
          <a:lstStyle/>
          <a:p>
            <a:pPr marL="0" indent="0" algn="ctr">
              <a:buNone/>
            </a:pPr>
            <a:r>
              <a:rPr lang="en-US" sz="1200" b="1" dirty="0">
                <a:solidFill>
                  <a:srgbClr val="A8AAB2"/>
                </a:solidFill>
                <a:latin typeface="Malgun Gothic" pitchFamily="34" charset="0"/>
                <a:ea typeface="Malgun Gothic" pitchFamily="34" charset="-122"/>
                <a:cs typeface="Malgun Gothic" pitchFamily="34" charset="-120"/>
              </a:rPr>
              <a:t>≠</a:t>
            </a:r>
            <a:endParaRPr lang="en-US" sz="1200" dirty="0"/>
          </a:p>
        </p:txBody>
      </p:sp>
      <p:sp>
        <p:nvSpPr>
          <p:cNvPr id="22" name="Text 20"/>
          <p:cNvSpPr txBox="1"/>
          <p:nvPr/>
        </p:nvSpPr>
        <p:spPr>
          <a:xfrm>
            <a:off x="9662160" y="2590800"/>
            <a:ext cx="1767840" cy="1238250"/>
          </a:xfrm>
          <a:prstGeom prst="rect">
            <a:avLst/>
          </a:prstGeom>
          <a:noFill/>
          <a:ln/>
        </p:spPr>
        <p:txBody>
          <a:bodyPr wrap="square" lIns="0" tIns="0" rIns="0" bIns="0" rtlCol="0" anchor="ctr"/>
          <a:lstStyle/>
          <a:p>
            <a:pPr marL="0" indent="0" algn="ctr">
              <a:lnSpc>
                <a:spcPct val="135000"/>
              </a:lnSpc>
              <a:buNone/>
            </a:pPr>
            <a:r>
              <a:rPr lang="en-US" sz="1200" dirty="0">
                <a:solidFill>
                  <a:srgbClr val="45515E"/>
                </a:solidFill>
                <a:latin typeface="Malgun Gothic" pitchFamily="34" charset="0"/>
                <a:ea typeface="Malgun Gothic" pitchFamily="34" charset="-122"/>
                <a:cs typeface="Malgun Gothic" pitchFamily="34" charset="-120"/>
              </a:rPr>
              <a:t>운영 적용 승인</a:t>
            </a:r>
            <a:endParaRPr lang="en-US" sz="1200" dirty="0"/>
          </a:p>
        </p:txBody>
      </p:sp>
      <p:sp>
        <p:nvSpPr>
          <p:cNvPr id="23" name="Shape 21"/>
          <p:cNvSpPr/>
          <p:nvPr/>
        </p:nvSpPr>
        <p:spPr>
          <a:xfrm>
            <a:off x="609600" y="4057650"/>
            <a:ext cx="6667500" cy="1962150"/>
          </a:xfrm>
          <a:prstGeom prst="roundRect">
            <a:avLst>
              <a:gd name="adj" fmla="val 7767"/>
            </a:avLst>
          </a:prstGeom>
          <a:solidFill>
            <a:srgbClr val="F7F8FA"/>
          </a:solidFill>
          <a:ln w="12700">
            <a:solidFill>
              <a:srgbClr val="A8AAB2"/>
            </a:solidFill>
            <a:prstDash val="dash"/>
          </a:ln>
        </p:spPr>
        <p:txBody>
          <a:bodyPr/>
          <a:lstStyle/>
          <a:p>
            <a:endParaRPr lang="ko-KR" altLang="en-US"/>
          </a:p>
        </p:txBody>
      </p:sp>
      <p:sp>
        <p:nvSpPr>
          <p:cNvPr id="24" name="Shape 22"/>
          <p:cNvSpPr/>
          <p:nvPr/>
        </p:nvSpPr>
        <p:spPr>
          <a:xfrm>
            <a:off x="800100" y="4229100"/>
            <a:ext cx="746760" cy="209550"/>
          </a:xfrm>
          <a:prstGeom prst="roundRect">
            <a:avLst>
              <a:gd name="adj" fmla="val 50000"/>
            </a:avLst>
          </a:prstGeom>
          <a:solidFill>
            <a:srgbClr val="F2F3F5"/>
          </a:solidFill>
          <a:ln/>
        </p:spPr>
        <p:txBody>
          <a:bodyPr/>
          <a:lstStyle/>
          <a:p>
            <a:endParaRPr lang="ko-KR" altLang="en-US"/>
          </a:p>
        </p:txBody>
      </p:sp>
      <p:sp>
        <p:nvSpPr>
          <p:cNvPr id="25" name="Text 23"/>
          <p:cNvSpPr txBox="1"/>
          <p:nvPr/>
        </p:nvSpPr>
        <p:spPr>
          <a:xfrm>
            <a:off x="800100" y="422910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김근형 제공</a:t>
            </a:r>
            <a:endParaRPr lang="en-US" sz="900" dirty="0"/>
          </a:p>
        </p:txBody>
      </p:sp>
      <p:sp>
        <p:nvSpPr>
          <p:cNvPr id="26" name="Text 24"/>
          <p:cNvSpPr txBox="1"/>
          <p:nvPr/>
        </p:nvSpPr>
        <p:spPr>
          <a:xfrm>
            <a:off x="800100" y="4514850"/>
            <a:ext cx="6286500" cy="135255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완료 / 후속 범위 분리도 — 어디까지가 담당 완료이고 어디부터가 후속 절차인지 한 장으로</a:t>
            </a:r>
            <a:endParaRPr lang="en-US" sz="1125" dirty="0"/>
          </a:p>
        </p:txBody>
      </p:sp>
      <p:sp>
        <p:nvSpPr>
          <p:cNvPr id="27" name="Shape 25"/>
          <p:cNvSpPr/>
          <p:nvPr/>
        </p:nvSpPr>
        <p:spPr>
          <a:xfrm>
            <a:off x="7505700" y="4057650"/>
            <a:ext cx="4076700" cy="1962150"/>
          </a:xfrm>
          <a:prstGeom prst="roundRect">
            <a:avLst>
              <a:gd name="adj" fmla="val 15534"/>
            </a:avLst>
          </a:prstGeom>
          <a:solidFill>
            <a:srgbClr val="FF5530"/>
          </a:solidFill>
          <a:ln/>
        </p:spPr>
        <p:txBody>
          <a:bodyPr/>
          <a:lstStyle/>
          <a:p>
            <a:endParaRPr lang="ko-KR" altLang="en-US"/>
          </a:p>
        </p:txBody>
      </p:sp>
      <p:sp>
        <p:nvSpPr>
          <p:cNvPr id="28" name="Text 26"/>
          <p:cNvSpPr txBox="1"/>
          <p:nvPr/>
        </p:nvSpPr>
        <p:spPr>
          <a:xfrm>
            <a:off x="7810500" y="4552950"/>
            <a:ext cx="3467100" cy="1143000"/>
          </a:xfrm>
          <a:prstGeom prst="rect">
            <a:avLst/>
          </a:prstGeom>
          <a:noFill/>
          <a:ln/>
        </p:spPr>
        <p:txBody>
          <a:bodyPr wrap="square" lIns="0" tIns="0" rIns="0" bIns="0" rtlCol="0" anchor="t"/>
          <a:lstStyle/>
          <a:p>
            <a:pPr marL="0" indent="0">
              <a:lnSpc>
                <a:spcPct val="135000"/>
              </a:lnSpc>
              <a:buNone/>
            </a:pPr>
            <a:r>
              <a:rPr lang="en-US" sz="1800" b="1" kern="0" spc="-50" dirty="0">
                <a:solidFill>
                  <a:srgbClr val="FFFFFF"/>
                </a:solidFill>
                <a:latin typeface="Malgun Gothic" pitchFamily="34" charset="0"/>
                <a:ea typeface="Malgun Gothic" pitchFamily="34" charset="-122"/>
                <a:cs typeface="Malgun Gothic" pitchFamily="34" charset="-120"/>
              </a:rPr>
              <a:t>완료를 과장하지 않는 것이</a:t>
            </a:r>
            <a:endParaRPr lang="en-US" sz="1800" dirty="0"/>
          </a:p>
          <a:p>
            <a:pPr marL="0" indent="0">
              <a:lnSpc>
                <a:spcPct val="135000"/>
              </a:lnSpc>
              <a:buNone/>
            </a:pPr>
            <a:r>
              <a:rPr lang="en-US" sz="1800" b="1" kern="0" spc="-50" dirty="0">
                <a:solidFill>
                  <a:srgbClr val="FFFFFF"/>
                </a:solidFill>
                <a:latin typeface="Malgun Gothic" pitchFamily="34" charset="0"/>
                <a:ea typeface="Malgun Gothic" pitchFamily="34" charset="-122"/>
                <a:cs typeface="Malgun Gothic" pitchFamily="34" charset="-120"/>
              </a:rPr>
              <a:t>재현성의 출발점입니다.</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선별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유니버스와 테마</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테마 3 × 지역 2 · 파일럿은 Seed18(KR 9 · US 9)입니다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11</a:t>
            </a:r>
            <a:endParaRPr lang="en-US" sz="900" dirty="0"/>
          </a:p>
        </p:txBody>
      </p:sp>
      <p:sp>
        <p:nvSpPr>
          <p:cNvPr id="9" name="Shape 7"/>
          <p:cNvSpPr/>
          <p:nvPr/>
        </p:nvSpPr>
        <p:spPr>
          <a:xfrm>
            <a:off x="609600" y="2590800"/>
            <a:ext cx="3505200" cy="1200150"/>
          </a:xfrm>
          <a:prstGeom prst="roundRect">
            <a:avLst>
              <a:gd name="adj" fmla="val 25397"/>
            </a:avLst>
          </a:prstGeom>
          <a:solidFill>
            <a:srgbClr val="FF5530"/>
          </a:solidFill>
          <a:ln/>
        </p:spPr>
        <p:txBody>
          <a:bodyPr/>
          <a:lstStyle/>
          <a:p>
            <a:endParaRPr lang="ko-KR" altLang="en-US"/>
          </a:p>
        </p:txBody>
      </p:sp>
      <p:sp>
        <p:nvSpPr>
          <p:cNvPr id="10" name="Text 8"/>
          <p:cNvSpPr txBox="1"/>
          <p:nvPr/>
        </p:nvSpPr>
        <p:spPr>
          <a:xfrm>
            <a:off x="876300" y="2781300"/>
            <a:ext cx="2971800" cy="171450"/>
          </a:xfrm>
          <a:prstGeom prst="rect">
            <a:avLst/>
          </a:prstGeom>
          <a:noFill/>
          <a:ln/>
        </p:spPr>
        <p:txBody>
          <a:bodyPr wrap="square" lIns="0" tIns="0" rIns="0" bIns="0" rtlCol="0" anchor="ctr"/>
          <a:lstStyle/>
          <a:p>
            <a:pPr marL="0" indent="0">
              <a:buNone/>
            </a:pPr>
            <a:r>
              <a:rPr lang="en-US" sz="900" b="1" kern="0" spc="100" dirty="0">
                <a:solidFill>
                  <a:srgbClr val="FFFFFF"/>
                </a:solidFill>
                <a:latin typeface="Malgun Gothic" pitchFamily="34" charset="0"/>
                <a:ea typeface="Malgun Gothic" pitchFamily="34" charset="-122"/>
                <a:cs typeface="Malgun Gothic" pitchFamily="34" charset="-120"/>
              </a:rPr>
              <a:t>AEROSPACE &amp; DEFENSE</a:t>
            </a:r>
            <a:endParaRPr lang="en-US" sz="900" dirty="0"/>
          </a:p>
        </p:txBody>
      </p:sp>
      <p:sp>
        <p:nvSpPr>
          <p:cNvPr id="11" name="Text 9"/>
          <p:cNvSpPr txBox="1"/>
          <p:nvPr/>
        </p:nvSpPr>
        <p:spPr>
          <a:xfrm>
            <a:off x="876300" y="3009900"/>
            <a:ext cx="2971800" cy="381000"/>
          </a:xfrm>
          <a:prstGeom prst="rect">
            <a:avLst/>
          </a:prstGeom>
          <a:noFill/>
          <a:ln/>
        </p:spPr>
        <p:txBody>
          <a:bodyPr wrap="square" lIns="0" tIns="0" rIns="0" bIns="0" rtlCol="0" anchor="ctr"/>
          <a:lstStyle/>
          <a:p>
            <a:pPr marL="0" indent="0">
              <a:buNone/>
            </a:pPr>
            <a:r>
              <a:rPr lang="en-US" sz="1800" b="1" kern="0" spc="-50" dirty="0">
                <a:solidFill>
                  <a:srgbClr val="FFFFFF"/>
                </a:solidFill>
                <a:latin typeface="Malgun Gothic" pitchFamily="34" charset="0"/>
                <a:ea typeface="Malgun Gothic" pitchFamily="34" charset="-122"/>
                <a:cs typeface="Malgun Gothic" pitchFamily="34" charset="-120"/>
              </a:rPr>
              <a:t>우주·방산</a:t>
            </a:r>
            <a:endParaRPr lang="en-US" sz="1800" dirty="0"/>
          </a:p>
        </p:txBody>
      </p:sp>
      <p:sp>
        <p:nvSpPr>
          <p:cNvPr id="12" name="Text 10"/>
          <p:cNvSpPr txBox="1"/>
          <p:nvPr/>
        </p:nvSpPr>
        <p:spPr>
          <a:xfrm>
            <a:off x="876300" y="3409950"/>
            <a:ext cx="2971800" cy="209550"/>
          </a:xfrm>
          <a:prstGeom prst="rect">
            <a:avLst/>
          </a:prstGeom>
          <a:noFill/>
          <a:ln/>
        </p:spPr>
        <p:txBody>
          <a:bodyPr wrap="square" lIns="0" tIns="0" rIns="0" bIns="0" rtlCol="0" anchor="ctr"/>
          <a:lstStyle/>
          <a:p>
            <a:pPr marL="0" indent="0">
              <a:buNone/>
            </a:pPr>
            <a:r>
              <a:rPr lang="en-US" sz="1050" dirty="0">
                <a:solidFill>
                  <a:srgbClr val="FFFFFF"/>
                </a:solidFill>
                <a:latin typeface="Malgun Gothic" pitchFamily="34" charset="0"/>
                <a:ea typeface="Malgun Gothic" pitchFamily="34" charset="-122"/>
                <a:cs typeface="Malgun Gothic" pitchFamily="34" charset="-120"/>
              </a:rPr>
              <a:t>한국 · 미국</a:t>
            </a:r>
            <a:endParaRPr lang="en-US" sz="1050" dirty="0"/>
          </a:p>
        </p:txBody>
      </p:sp>
      <p:sp>
        <p:nvSpPr>
          <p:cNvPr id="13" name="Shape 11"/>
          <p:cNvSpPr/>
          <p:nvPr/>
        </p:nvSpPr>
        <p:spPr>
          <a:xfrm>
            <a:off x="4343400" y="2590800"/>
            <a:ext cx="3505200" cy="1200150"/>
          </a:xfrm>
          <a:prstGeom prst="roundRect">
            <a:avLst>
              <a:gd name="adj" fmla="val 25397"/>
            </a:avLst>
          </a:prstGeom>
          <a:solidFill>
            <a:srgbClr val="1456F0"/>
          </a:solidFill>
          <a:ln/>
        </p:spPr>
        <p:txBody>
          <a:bodyPr/>
          <a:lstStyle/>
          <a:p>
            <a:endParaRPr lang="ko-KR" altLang="en-US"/>
          </a:p>
        </p:txBody>
      </p:sp>
      <p:sp>
        <p:nvSpPr>
          <p:cNvPr id="14" name="Text 12"/>
          <p:cNvSpPr txBox="1"/>
          <p:nvPr/>
        </p:nvSpPr>
        <p:spPr>
          <a:xfrm>
            <a:off x="4610100" y="2781300"/>
            <a:ext cx="2971800" cy="171450"/>
          </a:xfrm>
          <a:prstGeom prst="rect">
            <a:avLst/>
          </a:prstGeom>
          <a:noFill/>
          <a:ln/>
        </p:spPr>
        <p:txBody>
          <a:bodyPr wrap="square" lIns="0" tIns="0" rIns="0" bIns="0" rtlCol="0" anchor="ctr"/>
          <a:lstStyle/>
          <a:p>
            <a:pPr marL="0" indent="0">
              <a:buNone/>
            </a:pPr>
            <a:r>
              <a:rPr lang="en-US" sz="900" b="1" kern="0" spc="100" dirty="0">
                <a:solidFill>
                  <a:srgbClr val="FFFFFF"/>
                </a:solidFill>
                <a:latin typeface="Malgun Gothic" pitchFamily="34" charset="0"/>
                <a:ea typeface="Malgun Gothic" pitchFamily="34" charset="-122"/>
                <a:cs typeface="Malgun Gothic" pitchFamily="34" charset="-120"/>
              </a:rPr>
              <a:t>AI &amp; ROBOTICS</a:t>
            </a:r>
            <a:endParaRPr lang="en-US" sz="900" dirty="0"/>
          </a:p>
        </p:txBody>
      </p:sp>
      <p:sp>
        <p:nvSpPr>
          <p:cNvPr id="15" name="Text 13"/>
          <p:cNvSpPr txBox="1"/>
          <p:nvPr/>
        </p:nvSpPr>
        <p:spPr>
          <a:xfrm>
            <a:off x="4610100" y="3009900"/>
            <a:ext cx="2971800" cy="381000"/>
          </a:xfrm>
          <a:prstGeom prst="rect">
            <a:avLst/>
          </a:prstGeom>
          <a:noFill/>
          <a:ln/>
        </p:spPr>
        <p:txBody>
          <a:bodyPr wrap="square" lIns="0" tIns="0" rIns="0" bIns="0" rtlCol="0" anchor="ctr"/>
          <a:lstStyle/>
          <a:p>
            <a:pPr marL="0" indent="0">
              <a:buNone/>
            </a:pPr>
            <a:r>
              <a:rPr lang="en-US" sz="1800" b="1" kern="0" spc="-50" dirty="0">
                <a:solidFill>
                  <a:srgbClr val="FFFFFF"/>
                </a:solidFill>
                <a:latin typeface="Malgun Gothic" pitchFamily="34" charset="0"/>
                <a:ea typeface="Malgun Gothic" pitchFamily="34" charset="-122"/>
                <a:cs typeface="Malgun Gothic" pitchFamily="34" charset="-120"/>
              </a:rPr>
              <a:t>AI·로보틱스</a:t>
            </a:r>
            <a:endParaRPr lang="en-US" sz="1800" dirty="0"/>
          </a:p>
        </p:txBody>
      </p:sp>
      <p:sp>
        <p:nvSpPr>
          <p:cNvPr id="16" name="Text 14"/>
          <p:cNvSpPr txBox="1"/>
          <p:nvPr/>
        </p:nvSpPr>
        <p:spPr>
          <a:xfrm>
            <a:off x="4610100" y="3409950"/>
            <a:ext cx="2971800" cy="209550"/>
          </a:xfrm>
          <a:prstGeom prst="rect">
            <a:avLst/>
          </a:prstGeom>
          <a:noFill/>
          <a:ln/>
        </p:spPr>
        <p:txBody>
          <a:bodyPr wrap="square" lIns="0" tIns="0" rIns="0" bIns="0" rtlCol="0" anchor="ctr"/>
          <a:lstStyle/>
          <a:p>
            <a:pPr marL="0" indent="0">
              <a:buNone/>
            </a:pPr>
            <a:r>
              <a:rPr lang="en-US" sz="1050" dirty="0">
                <a:solidFill>
                  <a:srgbClr val="FFFFFF"/>
                </a:solidFill>
                <a:latin typeface="Malgun Gothic" pitchFamily="34" charset="0"/>
                <a:ea typeface="Malgun Gothic" pitchFamily="34" charset="-122"/>
                <a:cs typeface="Malgun Gothic" pitchFamily="34" charset="-120"/>
              </a:rPr>
              <a:t>한국 · 미국</a:t>
            </a:r>
            <a:endParaRPr lang="en-US" sz="1050" dirty="0"/>
          </a:p>
        </p:txBody>
      </p:sp>
      <p:sp>
        <p:nvSpPr>
          <p:cNvPr id="17" name="Shape 15"/>
          <p:cNvSpPr/>
          <p:nvPr/>
        </p:nvSpPr>
        <p:spPr>
          <a:xfrm>
            <a:off x="8077200" y="2590800"/>
            <a:ext cx="3505200" cy="1200150"/>
          </a:xfrm>
          <a:prstGeom prst="roundRect">
            <a:avLst>
              <a:gd name="adj" fmla="val 25397"/>
            </a:avLst>
          </a:prstGeom>
          <a:solidFill>
            <a:srgbClr val="A855F7"/>
          </a:solidFill>
          <a:ln/>
        </p:spPr>
        <p:txBody>
          <a:bodyPr/>
          <a:lstStyle/>
          <a:p>
            <a:endParaRPr lang="ko-KR" altLang="en-US"/>
          </a:p>
        </p:txBody>
      </p:sp>
      <p:sp>
        <p:nvSpPr>
          <p:cNvPr id="18" name="Text 16"/>
          <p:cNvSpPr txBox="1"/>
          <p:nvPr/>
        </p:nvSpPr>
        <p:spPr>
          <a:xfrm>
            <a:off x="8343900" y="2781300"/>
            <a:ext cx="2971800" cy="171450"/>
          </a:xfrm>
          <a:prstGeom prst="rect">
            <a:avLst/>
          </a:prstGeom>
          <a:noFill/>
          <a:ln/>
        </p:spPr>
        <p:txBody>
          <a:bodyPr wrap="square" lIns="0" tIns="0" rIns="0" bIns="0" rtlCol="0" anchor="ctr"/>
          <a:lstStyle/>
          <a:p>
            <a:pPr marL="0" indent="0">
              <a:buNone/>
            </a:pPr>
            <a:r>
              <a:rPr lang="en-US" sz="900" b="1" kern="0" spc="100" dirty="0">
                <a:solidFill>
                  <a:srgbClr val="FFFFFF"/>
                </a:solidFill>
                <a:latin typeface="Malgun Gothic" pitchFamily="34" charset="0"/>
                <a:ea typeface="Malgun Gothic" pitchFamily="34" charset="-122"/>
                <a:cs typeface="Malgun Gothic" pitchFamily="34" charset="-120"/>
              </a:rPr>
              <a:t>ENERGY &amp; POWER</a:t>
            </a:r>
            <a:endParaRPr lang="en-US" sz="900" dirty="0"/>
          </a:p>
        </p:txBody>
      </p:sp>
      <p:sp>
        <p:nvSpPr>
          <p:cNvPr id="19" name="Text 17"/>
          <p:cNvSpPr txBox="1"/>
          <p:nvPr/>
        </p:nvSpPr>
        <p:spPr>
          <a:xfrm>
            <a:off x="8343900" y="3009900"/>
            <a:ext cx="2971800" cy="381000"/>
          </a:xfrm>
          <a:prstGeom prst="rect">
            <a:avLst/>
          </a:prstGeom>
          <a:noFill/>
          <a:ln/>
        </p:spPr>
        <p:txBody>
          <a:bodyPr wrap="square" lIns="0" tIns="0" rIns="0" bIns="0" rtlCol="0" anchor="ctr"/>
          <a:lstStyle/>
          <a:p>
            <a:pPr marL="0" indent="0">
              <a:buNone/>
            </a:pPr>
            <a:r>
              <a:rPr lang="en-US" sz="1800" b="1" kern="0" spc="-50" dirty="0">
                <a:solidFill>
                  <a:srgbClr val="FFFFFF"/>
                </a:solidFill>
                <a:latin typeface="Malgun Gothic" pitchFamily="34" charset="0"/>
                <a:ea typeface="Malgun Gothic" pitchFamily="34" charset="-122"/>
                <a:cs typeface="Malgun Gothic" pitchFamily="34" charset="-120"/>
              </a:rPr>
              <a:t>에너지·전력 인프라</a:t>
            </a:r>
            <a:endParaRPr lang="en-US" sz="1800" dirty="0"/>
          </a:p>
        </p:txBody>
      </p:sp>
      <p:sp>
        <p:nvSpPr>
          <p:cNvPr id="20" name="Text 18"/>
          <p:cNvSpPr txBox="1"/>
          <p:nvPr/>
        </p:nvSpPr>
        <p:spPr>
          <a:xfrm>
            <a:off x="8343900" y="3409950"/>
            <a:ext cx="2971800" cy="209550"/>
          </a:xfrm>
          <a:prstGeom prst="rect">
            <a:avLst/>
          </a:prstGeom>
          <a:noFill/>
          <a:ln/>
        </p:spPr>
        <p:txBody>
          <a:bodyPr wrap="square" lIns="0" tIns="0" rIns="0" bIns="0" rtlCol="0" anchor="ctr"/>
          <a:lstStyle/>
          <a:p>
            <a:pPr marL="0" indent="0">
              <a:buNone/>
            </a:pPr>
            <a:r>
              <a:rPr lang="en-US" sz="1050" dirty="0">
                <a:solidFill>
                  <a:srgbClr val="FFFFFF"/>
                </a:solidFill>
                <a:latin typeface="Malgun Gothic" pitchFamily="34" charset="0"/>
                <a:ea typeface="Malgun Gothic" pitchFamily="34" charset="-122"/>
                <a:cs typeface="Malgun Gothic" pitchFamily="34" charset="-120"/>
              </a:rPr>
              <a:t>한국 · 미국</a:t>
            </a:r>
            <a:endParaRPr lang="en-US" sz="1050" dirty="0"/>
          </a:p>
        </p:txBody>
      </p:sp>
      <p:sp>
        <p:nvSpPr>
          <p:cNvPr id="21" name="Shape 19"/>
          <p:cNvSpPr/>
          <p:nvPr/>
        </p:nvSpPr>
        <p:spPr>
          <a:xfrm>
            <a:off x="609600" y="4019550"/>
            <a:ext cx="10972800" cy="609600"/>
          </a:xfrm>
          <a:prstGeom prst="roundRect">
            <a:avLst>
              <a:gd name="adj" fmla="val 18750"/>
            </a:avLst>
          </a:prstGeom>
          <a:solidFill>
            <a:srgbClr val="FFF4EC"/>
          </a:solidFill>
          <a:ln/>
        </p:spPr>
        <p:txBody>
          <a:bodyPr/>
          <a:lstStyle/>
          <a:p>
            <a:endParaRPr lang="ko-KR" altLang="en-US"/>
          </a:p>
        </p:txBody>
      </p:sp>
      <p:sp>
        <p:nvSpPr>
          <p:cNvPr id="22" name="Text 20"/>
          <p:cNvSpPr txBox="1"/>
          <p:nvPr/>
        </p:nvSpPr>
        <p:spPr>
          <a:xfrm>
            <a:off x="838200" y="4019550"/>
            <a:ext cx="10515600" cy="609600"/>
          </a:xfrm>
          <a:prstGeom prst="rect">
            <a:avLst/>
          </a:prstGeom>
          <a:noFill/>
          <a:ln/>
        </p:spPr>
        <p:txBody>
          <a:bodyPr wrap="square" lIns="0" tIns="0" rIns="0" bIns="0" rtlCol="0" anchor="ctr"/>
          <a:lstStyle/>
          <a:p>
            <a:pPr marL="0" indent="0" algn="l">
              <a:lnSpc>
                <a:spcPct val="130000"/>
              </a:lnSpc>
              <a:buNone/>
            </a:pPr>
            <a:r>
              <a:rPr lang="en-US" sz="1275" b="1" dirty="0">
                <a:solidFill>
                  <a:srgbClr val="C23B14"/>
                </a:solidFill>
                <a:latin typeface="Malgun Gothic" pitchFamily="34" charset="0"/>
                <a:ea typeface="Malgun Gothic" pitchFamily="34" charset="-122"/>
                <a:cs typeface="Malgun Gothic" pitchFamily="34" charset="-120"/>
              </a:rPr>
              <a:t>전체시장 유니버스 스캔은 미구현 — 과거 상장상태 원출처 미확보 (안건 B)</a:t>
            </a:r>
            <a:endParaRPr lang="en-US" sz="1275" dirty="0"/>
          </a:p>
        </p:txBody>
      </p:sp>
      <p:sp>
        <p:nvSpPr>
          <p:cNvPr id="23" name="Shape 21"/>
          <p:cNvSpPr/>
          <p:nvPr/>
        </p:nvSpPr>
        <p:spPr>
          <a:xfrm>
            <a:off x="609600" y="4857750"/>
            <a:ext cx="10972800" cy="1162050"/>
          </a:xfrm>
          <a:prstGeom prst="roundRect">
            <a:avLst>
              <a:gd name="adj" fmla="val 13115"/>
            </a:avLst>
          </a:prstGeom>
          <a:solidFill>
            <a:srgbClr val="F7F8FA"/>
          </a:solidFill>
          <a:ln w="12700">
            <a:solidFill>
              <a:srgbClr val="A8AAB2"/>
            </a:solidFill>
            <a:prstDash val="dash"/>
          </a:ln>
        </p:spPr>
        <p:txBody>
          <a:bodyPr/>
          <a:lstStyle/>
          <a:p>
            <a:endParaRPr lang="ko-KR" altLang="en-US"/>
          </a:p>
        </p:txBody>
      </p:sp>
      <p:sp>
        <p:nvSpPr>
          <p:cNvPr id="24" name="Shape 22"/>
          <p:cNvSpPr/>
          <p:nvPr/>
        </p:nvSpPr>
        <p:spPr>
          <a:xfrm>
            <a:off x="800100" y="5029200"/>
            <a:ext cx="746760" cy="209550"/>
          </a:xfrm>
          <a:prstGeom prst="roundRect">
            <a:avLst>
              <a:gd name="adj" fmla="val 50000"/>
            </a:avLst>
          </a:prstGeom>
          <a:solidFill>
            <a:srgbClr val="F2F3F5"/>
          </a:solidFill>
          <a:ln/>
        </p:spPr>
        <p:txBody>
          <a:bodyPr/>
          <a:lstStyle/>
          <a:p>
            <a:endParaRPr lang="ko-KR" altLang="en-US"/>
          </a:p>
        </p:txBody>
      </p:sp>
      <p:sp>
        <p:nvSpPr>
          <p:cNvPr id="25" name="Text 23"/>
          <p:cNvSpPr txBox="1"/>
          <p:nvPr/>
        </p:nvSpPr>
        <p:spPr>
          <a:xfrm>
            <a:off x="800100" y="502920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추주원 제공</a:t>
            </a:r>
            <a:endParaRPr lang="en-US" sz="900" dirty="0"/>
          </a:p>
        </p:txBody>
      </p:sp>
      <p:sp>
        <p:nvSpPr>
          <p:cNvPr id="26" name="Text 24"/>
          <p:cNvSpPr txBox="1"/>
          <p:nvPr/>
        </p:nvSpPr>
        <p:spPr>
          <a:xfrm>
            <a:off x="800100" y="5314950"/>
            <a:ext cx="10591800" cy="55245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테마별 종목 선정 근거표 — 공시 사업내용 · 제품 · 매출 · 수주 근거로 판정한 기록</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선별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어떻게 고르는가 — 4관문</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파일럿에서 실제로 발동한 것은 ② 시즈닝과 ③ 유동성 두 개입니다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12</a:t>
            </a:r>
            <a:endParaRPr lang="en-US" sz="900" dirty="0"/>
          </a:p>
        </p:txBody>
      </p:sp>
      <p:sp>
        <p:nvSpPr>
          <p:cNvPr id="9" name="Shape 7"/>
          <p:cNvSpPr/>
          <p:nvPr/>
        </p:nvSpPr>
        <p:spPr>
          <a:xfrm>
            <a:off x="609600" y="2590800"/>
            <a:ext cx="2600325" cy="1809750"/>
          </a:xfrm>
          <a:prstGeom prst="roundRect">
            <a:avLst>
              <a:gd name="adj" fmla="val 8421"/>
            </a:avLst>
          </a:prstGeom>
          <a:solidFill>
            <a:srgbClr val="F7F8FA"/>
          </a:solidFill>
          <a:ln/>
        </p:spPr>
        <p:txBody>
          <a:bodyPr/>
          <a:lstStyle/>
          <a:p>
            <a:endParaRPr lang="ko-KR" altLang="en-US"/>
          </a:p>
        </p:txBody>
      </p:sp>
      <p:sp>
        <p:nvSpPr>
          <p:cNvPr id="10" name="Text 8"/>
          <p:cNvSpPr txBox="1"/>
          <p:nvPr/>
        </p:nvSpPr>
        <p:spPr>
          <a:xfrm>
            <a:off x="800100" y="2781300"/>
            <a:ext cx="381000" cy="266700"/>
          </a:xfrm>
          <a:prstGeom prst="rect">
            <a:avLst/>
          </a:prstGeom>
          <a:noFill/>
          <a:ln/>
        </p:spPr>
        <p:txBody>
          <a:bodyPr wrap="square" lIns="0" tIns="0" rIns="0" bIns="0" rtlCol="0" anchor="ctr"/>
          <a:lstStyle/>
          <a:p>
            <a:pPr marL="0" indent="0">
              <a:buNone/>
            </a:pPr>
            <a:r>
              <a:rPr lang="en-US" sz="1500" b="1" dirty="0">
                <a:solidFill>
                  <a:srgbClr val="A8AAB2"/>
                </a:solidFill>
                <a:latin typeface="Malgun Gothic" pitchFamily="34" charset="0"/>
                <a:ea typeface="Malgun Gothic" pitchFamily="34" charset="-122"/>
                <a:cs typeface="Malgun Gothic" pitchFamily="34" charset="-120"/>
              </a:rPr>
              <a:t>①</a:t>
            </a:r>
            <a:endParaRPr lang="en-US" sz="1500" dirty="0"/>
          </a:p>
        </p:txBody>
      </p:sp>
      <p:sp>
        <p:nvSpPr>
          <p:cNvPr id="11" name="Text 9"/>
          <p:cNvSpPr txBox="1"/>
          <p:nvPr/>
        </p:nvSpPr>
        <p:spPr>
          <a:xfrm>
            <a:off x="800100" y="310515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테마 게이트</a:t>
            </a:r>
            <a:endParaRPr lang="en-US" sz="1425" dirty="0"/>
          </a:p>
        </p:txBody>
      </p:sp>
      <p:sp>
        <p:nvSpPr>
          <p:cNvPr id="12" name="Text 10"/>
          <p:cNvSpPr txBox="1"/>
          <p:nvPr/>
        </p:nvSpPr>
        <p:spPr>
          <a:xfrm>
            <a:off x="800100" y="3429000"/>
            <a:ext cx="2219325" cy="4381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그 테마인가</a:t>
            </a:r>
            <a:endParaRPr lang="en-US" sz="1050" dirty="0"/>
          </a:p>
        </p:txBody>
      </p:sp>
      <p:sp>
        <p:nvSpPr>
          <p:cNvPr id="13" name="Text 11"/>
          <p:cNvSpPr txBox="1"/>
          <p:nvPr/>
        </p:nvSpPr>
        <p:spPr>
          <a:xfrm>
            <a:off x="800100" y="3886200"/>
            <a:ext cx="2219325"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사람이 사전 판정</a:t>
            </a:r>
            <a:endParaRPr lang="en-US" sz="975" dirty="0"/>
          </a:p>
        </p:txBody>
      </p:sp>
      <p:sp>
        <p:nvSpPr>
          <p:cNvPr id="14" name="Shape 12"/>
          <p:cNvSpPr/>
          <p:nvPr/>
        </p:nvSpPr>
        <p:spPr>
          <a:xfrm>
            <a:off x="800100" y="4095750"/>
            <a:ext cx="1373505" cy="209550"/>
          </a:xfrm>
          <a:prstGeom prst="roundRect">
            <a:avLst>
              <a:gd name="adj" fmla="val 50000"/>
            </a:avLst>
          </a:prstGeom>
          <a:solidFill>
            <a:srgbClr val="FFF4EC"/>
          </a:solidFill>
          <a:ln/>
        </p:spPr>
        <p:txBody>
          <a:bodyPr/>
          <a:lstStyle/>
          <a:p>
            <a:endParaRPr lang="ko-KR" altLang="en-US"/>
          </a:p>
        </p:txBody>
      </p:sp>
      <p:sp>
        <p:nvSpPr>
          <p:cNvPr id="15" name="Text 13"/>
          <p:cNvSpPr txBox="1"/>
          <p:nvPr/>
        </p:nvSpPr>
        <p:spPr>
          <a:xfrm>
            <a:off x="800100" y="4095750"/>
            <a:ext cx="1373505" cy="209550"/>
          </a:xfrm>
          <a:prstGeom prst="rect">
            <a:avLst/>
          </a:prstGeom>
          <a:noFill/>
          <a:ln/>
        </p:spPr>
        <p:txBody>
          <a:bodyPr wrap="square" lIns="0" tIns="0" rIns="0" bIns="0" rtlCol="0" anchor="ctr"/>
          <a:lstStyle/>
          <a:p>
            <a:pPr marL="0" indent="0" algn="ctr">
              <a:buNone/>
            </a:pPr>
            <a:r>
              <a:rPr lang="en-US" sz="900" b="1" dirty="0">
                <a:solidFill>
                  <a:srgbClr val="C23B14"/>
                </a:solidFill>
                <a:latin typeface="Malgun Gothic" pitchFamily="34" charset="0"/>
                <a:ea typeface="Malgun Gothic" pitchFamily="34" charset="-122"/>
                <a:cs typeface="Malgun Gothic" pitchFamily="34" charset="-120"/>
              </a:rPr>
              <a:t>기준 미명문 · 안건 D</a:t>
            </a:r>
            <a:endParaRPr lang="en-US" sz="900" dirty="0"/>
          </a:p>
        </p:txBody>
      </p:sp>
      <p:sp>
        <p:nvSpPr>
          <p:cNvPr id="16" name="Shape 14"/>
          <p:cNvSpPr/>
          <p:nvPr/>
        </p:nvSpPr>
        <p:spPr>
          <a:xfrm>
            <a:off x="3400425" y="2590800"/>
            <a:ext cx="2600325" cy="1809750"/>
          </a:xfrm>
          <a:prstGeom prst="roundRect">
            <a:avLst>
              <a:gd name="adj" fmla="val 8421"/>
            </a:avLst>
          </a:prstGeom>
          <a:solidFill>
            <a:srgbClr val="FFFFFF"/>
          </a:solidFill>
          <a:ln w="12700">
            <a:solidFill>
              <a:srgbClr val="E5E7EB"/>
            </a:solidFill>
            <a:prstDash val="solid"/>
          </a:ln>
        </p:spPr>
        <p:txBody>
          <a:bodyPr/>
          <a:lstStyle/>
          <a:p>
            <a:endParaRPr lang="ko-KR" altLang="en-US"/>
          </a:p>
        </p:txBody>
      </p:sp>
      <p:sp>
        <p:nvSpPr>
          <p:cNvPr id="17" name="Text 15"/>
          <p:cNvSpPr txBox="1"/>
          <p:nvPr/>
        </p:nvSpPr>
        <p:spPr>
          <a:xfrm>
            <a:off x="3590925" y="2781300"/>
            <a:ext cx="381000" cy="266700"/>
          </a:xfrm>
          <a:prstGeom prst="rect">
            <a:avLst/>
          </a:prstGeom>
          <a:noFill/>
          <a:ln/>
        </p:spPr>
        <p:txBody>
          <a:bodyPr wrap="square" lIns="0" tIns="0" rIns="0" bIns="0" rtlCol="0" anchor="ctr"/>
          <a:lstStyle/>
          <a:p>
            <a:pPr marL="0" indent="0">
              <a:buNone/>
            </a:pPr>
            <a:r>
              <a:rPr lang="en-US" sz="1500" b="1" dirty="0">
                <a:solidFill>
                  <a:srgbClr val="FF5530"/>
                </a:solidFill>
                <a:latin typeface="Malgun Gothic" pitchFamily="34" charset="0"/>
                <a:ea typeface="Malgun Gothic" pitchFamily="34" charset="-122"/>
                <a:cs typeface="Malgun Gothic" pitchFamily="34" charset="-120"/>
              </a:rPr>
              <a:t>②</a:t>
            </a:r>
            <a:endParaRPr lang="en-US" sz="1500" dirty="0"/>
          </a:p>
        </p:txBody>
      </p:sp>
      <p:sp>
        <p:nvSpPr>
          <p:cNvPr id="18" name="Text 16"/>
          <p:cNvSpPr txBox="1"/>
          <p:nvPr/>
        </p:nvSpPr>
        <p:spPr>
          <a:xfrm>
            <a:off x="3590925" y="310515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시즈닝 게이트</a:t>
            </a:r>
            <a:endParaRPr lang="en-US" sz="1425" dirty="0"/>
          </a:p>
        </p:txBody>
      </p:sp>
      <p:sp>
        <p:nvSpPr>
          <p:cNvPr id="19" name="Text 17"/>
          <p:cNvSpPr txBox="1"/>
          <p:nvPr/>
        </p:nvSpPr>
        <p:spPr>
          <a:xfrm>
            <a:off x="3590925" y="3429000"/>
            <a:ext cx="2219325" cy="4381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유효관측 90일을 넘겼는가</a:t>
            </a:r>
            <a:endParaRPr lang="en-US" sz="1050" dirty="0"/>
          </a:p>
        </p:txBody>
      </p:sp>
      <p:sp>
        <p:nvSpPr>
          <p:cNvPr id="20" name="Text 18"/>
          <p:cNvSpPr txBox="1"/>
          <p:nvPr/>
        </p:nvSpPr>
        <p:spPr>
          <a:xfrm>
            <a:off x="3590925" y="3886200"/>
            <a:ext cx="2219325"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엔진 자동</a:t>
            </a:r>
            <a:endParaRPr lang="en-US" sz="975" dirty="0"/>
          </a:p>
        </p:txBody>
      </p:sp>
      <p:sp>
        <p:nvSpPr>
          <p:cNvPr id="21" name="Shape 19"/>
          <p:cNvSpPr/>
          <p:nvPr/>
        </p:nvSpPr>
        <p:spPr>
          <a:xfrm>
            <a:off x="3590925" y="4095750"/>
            <a:ext cx="438150" cy="209550"/>
          </a:xfrm>
          <a:prstGeom prst="roundRect">
            <a:avLst>
              <a:gd name="adj" fmla="val 50000"/>
            </a:avLst>
          </a:prstGeom>
          <a:solidFill>
            <a:srgbClr val="E8FFEA"/>
          </a:solidFill>
          <a:ln/>
        </p:spPr>
        <p:txBody>
          <a:bodyPr/>
          <a:lstStyle/>
          <a:p>
            <a:endParaRPr lang="ko-KR" altLang="en-US"/>
          </a:p>
        </p:txBody>
      </p:sp>
      <p:sp>
        <p:nvSpPr>
          <p:cNvPr id="22" name="Text 20"/>
          <p:cNvSpPr txBox="1"/>
          <p:nvPr/>
        </p:nvSpPr>
        <p:spPr>
          <a:xfrm>
            <a:off x="3590925" y="4095750"/>
            <a:ext cx="438150" cy="209550"/>
          </a:xfrm>
          <a:prstGeom prst="rect">
            <a:avLst/>
          </a:prstGeom>
          <a:noFill/>
          <a:ln/>
        </p:spPr>
        <p:txBody>
          <a:bodyPr wrap="square" lIns="0" tIns="0" rIns="0" bIns="0" rtlCol="0" anchor="ctr"/>
          <a:lstStyle/>
          <a:p>
            <a:pPr marL="0" indent="0" algn="ctr">
              <a:buNone/>
            </a:pPr>
            <a:r>
              <a:rPr lang="en-US" sz="900" b="1" dirty="0">
                <a:solidFill>
                  <a:srgbClr val="1BA673"/>
                </a:solidFill>
                <a:latin typeface="Malgun Gothic" pitchFamily="34" charset="0"/>
                <a:ea typeface="Malgun Gothic" pitchFamily="34" charset="-122"/>
                <a:cs typeface="Malgun Gothic" pitchFamily="34" charset="-120"/>
              </a:rPr>
              <a:t>발동</a:t>
            </a:r>
            <a:endParaRPr lang="en-US" sz="900" dirty="0"/>
          </a:p>
        </p:txBody>
      </p:sp>
      <p:sp>
        <p:nvSpPr>
          <p:cNvPr id="23" name="Shape 21"/>
          <p:cNvSpPr/>
          <p:nvPr/>
        </p:nvSpPr>
        <p:spPr>
          <a:xfrm>
            <a:off x="6191250" y="2590800"/>
            <a:ext cx="2600325" cy="1809750"/>
          </a:xfrm>
          <a:prstGeom prst="roundRect">
            <a:avLst>
              <a:gd name="adj" fmla="val 8421"/>
            </a:avLst>
          </a:prstGeom>
          <a:solidFill>
            <a:srgbClr val="FFFFFF"/>
          </a:solidFill>
          <a:ln w="12700">
            <a:solidFill>
              <a:srgbClr val="E5E7EB"/>
            </a:solidFill>
            <a:prstDash val="solid"/>
          </a:ln>
        </p:spPr>
        <p:txBody>
          <a:bodyPr/>
          <a:lstStyle/>
          <a:p>
            <a:endParaRPr lang="ko-KR" altLang="en-US"/>
          </a:p>
        </p:txBody>
      </p:sp>
      <p:sp>
        <p:nvSpPr>
          <p:cNvPr id="24" name="Text 22"/>
          <p:cNvSpPr txBox="1"/>
          <p:nvPr/>
        </p:nvSpPr>
        <p:spPr>
          <a:xfrm>
            <a:off x="6381750" y="2781300"/>
            <a:ext cx="381000" cy="266700"/>
          </a:xfrm>
          <a:prstGeom prst="rect">
            <a:avLst/>
          </a:prstGeom>
          <a:noFill/>
          <a:ln/>
        </p:spPr>
        <p:txBody>
          <a:bodyPr wrap="square" lIns="0" tIns="0" rIns="0" bIns="0" rtlCol="0" anchor="ctr"/>
          <a:lstStyle/>
          <a:p>
            <a:pPr marL="0" indent="0">
              <a:buNone/>
            </a:pPr>
            <a:r>
              <a:rPr lang="en-US" sz="1500" b="1" dirty="0">
                <a:solidFill>
                  <a:srgbClr val="FF5530"/>
                </a:solidFill>
                <a:latin typeface="Malgun Gothic" pitchFamily="34" charset="0"/>
                <a:ea typeface="Malgun Gothic" pitchFamily="34" charset="-122"/>
                <a:cs typeface="Malgun Gothic" pitchFamily="34" charset="-120"/>
              </a:rPr>
              <a:t>③</a:t>
            </a:r>
            <a:endParaRPr lang="en-US" sz="1500" dirty="0"/>
          </a:p>
        </p:txBody>
      </p:sp>
      <p:sp>
        <p:nvSpPr>
          <p:cNvPr id="25" name="Text 23"/>
          <p:cNvSpPr txBox="1"/>
          <p:nvPr/>
        </p:nvSpPr>
        <p:spPr>
          <a:xfrm>
            <a:off x="6381750" y="310515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유동성 게이트</a:t>
            </a:r>
            <a:endParaRPr lang="en-US" sz="1425" dirty="0"/>
          </a:p>
        </p:txBody>
      </p:sp>
      <p:sp>
        <p:nvSpPr>
          <p:cNvPr id="26" name="Text 24"/>
          <p:cNvSpPr txBox="1"/>
          <p:nvPr/>
        </p:nvSpPr>
        <p:spPr>
          <a:xfrm>
            <a:off x="6381750" y="3429000"/>
            <a:ext cx="2219325" cy="4381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ADTV90 ≥ 시장별 P10</a:t>
            </a:r>
            <a:endParaRPr lang="en-US" sz="1050" dirty="0"/>
          </a:p>
        </p:txBody>
      </p:sp>
      <p:sp>
        <p:nvSpPr>
          <p:cNvPr id="27" name="Text 25"/>
          <p:cNvSpPr txBox="1"/>
          <p:nvPr/>
        </p:nvSpPr>
        <p:spPr>
          <a:xfrm>
            <a:off x="6381750" y="3886200"/>
            <a:ext cx="2219325"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엔진 자동</a:t>
            </a:r>
            <a:endParaRPr lang="en-US" sz="975" dirty="0"/>
          </a:p>
        </p:txBody>
      </p:sp>
      <p:sp>
        <p:nvSpPr>
          <p:cNvPr id="28" name="Shape 26"/>
          <p:cNvSpPr/>
          <p:nvPr/>
        </p:nvSpPr>
        <p:spPr>
          <a:xfrm>
            <a:off x="6381750" y="4095750"/>
            <a:ext cx="438150" cy="209550"/>
          </a:xfrm>
          <a:prstGeom prst="roundRect">
            <a:avLst>
              <a:gd name="adj" fmla="val 50000"/>
            </a:avLst>
          </a:prstGeom>
          <a:solidFill>
            <a:srgbClr val="E8FFEA"/>
          </a:solidFill>
          <a:ln/>
        </p:spPr>
        <p:txBody>
          <a:bodyPr/>
          <a:lstStyle/>
          <a:p>
            <a:endParaRPr lang="ko-KR" altLang="en-US"/>
          </a:p>
        </p:txBody>
      </p:sp>
      <p:sp>
        <p:nvSpPr>
          <p:cNvPr id="29" name="Text 27"/>
          <p:cNvSpPr txBox="1"/>
          <p:nvPr/>
        </p:nvSpPr>
        <p:spPr>
          <a:xfrm>
            <a:off x="6381750" y="4095750"/>
            <a:ext cx="438150" cy="209550"/>
          </a:xfrm>
          <a:prstGeom prst="rect">
            <a:avLst/>
          </a:prstGeom>
          <a:noFill/>
          <a:ln/>
        </p:spPr>
        <p:txBody>
          <a:bodyPr wrap="square" lIns="0" tIns="0" rIns="0" bIns="0" rtlCol="0" anchor="ctr"/>
          <a:lstStyle/>
          <a:p>
            <a:pPr marL="0" indent="0" algn="ctr">
              <a:buNone/>
            </a:pPr>
            <a:r>
              <a:rPr lang="en-US" sz="900" b="1" dirty="0">
                <a:solidFill>
                  <a:srgbClr val="1BA673"/>
                </a:solidFill>
                <a:latin typeface="Malgun Gothic" pitchFamily="34" charset="0"/>
                <a:ea typeface="Malgun Gothic" pitchFamily="34" charset="-122"/>
                <a:cs typeface="Malgun Gothic" pitchFamily="34" charset="-120"/>
              </a:rPr>
              <a:t>발동</a:t>
            </a:r>
            <a:endParaRPr lang="en-US" sz="900" dirty="0"/>
          </a:p>
        </p:txBody>
      </p:sp>
      <p:sp>
        <p:nvSpPr>
          <p:cNvPr id="30" name="Shape 28"/>
          <p:cNvSpPr/>
          <p:nvPr/>
        </p:nvSpPr>
        <p:spPr>
          <a:xfrm>
            <a:off x="8982075" y="2590800"/>
            <a:ext cx="2600325" cy="1809750"/>
          </a:xfrm>
          <a:prstGeom prst="roundRect">
            <a:avLst>
              <a:gd name="adj" fmla="val 8421"/>
            </a:avLst>
          </a:prstGeom>
          <a:solidFill>
            <a:srgbClr val="F7F8FA"/>
          </a:solidFill>
          <a:ln/>
        </p:spPr>
        <p:txBody>
          <a:bodyPr/>
          <a:lstStyle/>
          <a:p>
            <a:endParaRPr lang="ko-KR" altLang="en-US"/>
          </a:p>
        </p:txBody>
      </p:sp>
      <p:sp>
        <p:nvSpPr>
          <p:cNvPr id="31" name="Text 29"/>
          <p:cNvSpPr txBox="1"/>
          <p:nvPr/>
        </p:nvSpPr>
        <p:spPr>
          <a:xfrm>
            <a:off x="9172575" y="2781300"/>
            <a:ext cx="381000" cy="266700"/>
          </a:xfrm>
          <a:prstGeom prst="rect">
            <a:avLst/>
          </a:prstGeom>
          <a:noFill/>
          <a:ln/>
        </p:spPr>
        <p:txBody>
          <a:bodyPr wrap="square" lIns="0" tIns="0" rIns="0" bIns="0" rtlCol="0" anchor="ctr"/>
          <a:lstStyle/>
          <a:p>
            <a:pPr marL="0" indent="0">
              <a:buNone/>
            </a:pPr>
            <a:r>
              <a:rPr lang="en-US" sz="1500" b="1" dirty="0">
                <a:solidFill>
                  <a:srgbClr val="A8AAB2"/>
                </a:solidFill>
                <a:latin typeface="Malgun Gothic" pitchFamily="34" charset="0"/>
                <a:ea typeface="Malgun Gothic" pitchFamily="34" charset="-122"/>
                <a:cs typeface="Malgun Gothic" pitchFamily="34" charset="-120"/>
              </a:rPr>
              <a:t>④</a:t>
            </a:r>
            <a:endParaRPr lang="en-US" sz="1500" dirty="0"/>
          </a:p>
        </p:txBody>
      </p:sp>
      <p:sp>
        <p:nvSpPr>
          <p:cNvPr id="32" name="Text 30"/>
          <p:cNvSpPr txBox="1"/>
          <p:nvPr/>
        </p:nvSpPr>
        <p:spPr>
          <a:xfrm>
            <a:off x="9172575" y="310515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재무 게이트</a:t>
            </a:r>
            <a:endParaRPr lang="en-US" sz="1425" dirty="0"/>
          </a:p>
        </p:txBody>
      </p:sp>
      <p:sp>
        <p:nvSpPr>
          <p:cNvPr id="33" name="Text 31"/>
          <p:cNvSpPr txBox="1"/>
          <p:nvPr/>
        </p:nvSpPr>
        <p:spPr>
          <a:xfrm>
            <a:off x="9172575" y="3429000"/>
            <a:ext cx="2219325" cy="4381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당좌비율 ≥ 하한</a:t>
            </a:r>
            <a:endParaRPr lang="en-US" sz="1050" dirty="0"/>
          </a:p>
        </p:txBody>
      </p:sp>
      <p:sp>
        <p:nvSpPr>
          <p:cNvPr id="34" name="Text 32"/>
          <p:cNvSpPr txBox="1"/>
          <p:nvPr/>
        </p:nvSpPr>
        <p:spPr>
          <a:xfrm>
            <a:off x="9172575" y="3886200"/>
            <a:ext cx="2219325"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미구현</a:t>
            </a:r>
            <a:endParaRPr lang="en-US" sz="975" dirty="0"/>
          </a:p>
        </p:txBody>
      </p:sp>
      <p:sp>
        <p:nvSpPr>
          <p:cNvPr id="35" name="Shape 33"/>
          <p:cNvSpPr/>
          <p:nvPr/>
        </p:nvSpPr>
        <p:spPr>
          <a:xfrm>
            <a:off x="9172575" y="4095750"/>
            <a:ext cx="567690" cy="209550"/>
          </a:xfrm>
          <a:prstGeom prst="roundRect">
            <a:avLst>
              <a:gd name="adj" fmla="val 50000"/>
            </a:avLst>
          </a:prstGeom>
          <a:solidFill>
            <a:srgbClr val="FFF4EC"/>
          </a:solidFill>
          <a:ln/>
        </p:spPr>
        <p:txBody>
          <a:bodyPr/>
          <a:lstStyle/>
          <a:p>
            <a:endParaRPr lang="ko-KR" altLang="en-US"/>
          </a:p>
        </p:txBody>
      </p:sp>
      <p:sp>
        <p:nvSpPr>
          <p:cNvPr id="36" name="Text 34"/>
          <p:cNvSpPr txBox="1"/>
          <p:nvPr/>
        </p:nvSpPr>
        <p:spPr>
          <a:xfrm>
            <a:off x="9172575" y="4095750"/>
            <a:ext cx="567690" cy="209550"/>
          </a:xfrm>
          <a:prstGeom prst="rect">
            <a:avLst/>
          </a:prstGeom>
          <a:noFill/>
          <a:ln/>
        </p:spPr>
        <p:txBody>
          <a:bodyPr wrap="square" lIns="0" tIns="0" rIns="0" bIns="0" rtlCol="0" anchor="ctr"/>
          <a:lstStyle/>
          <a:p>
            <a:pPr marL="0" indent="0" algn="ctr">
              <a:buNone/>
            </a:pPr>
            <a:r>
              <a:rPr lang="en-US" sz="900" b="1" dirty="0">
                <a:solidFill>
                  <a:srgbClr val="C23B14"/>
                </a:solidFill>
                <a:latin typeface="Malgun Gothic" pitchFamily="34" charset="0"/>
                <a:ea typeface="Malgun Gothic" pitchFamily="34" charset="-122"/>
                <a:cs typeface="Malgun Gothic" pitchFamily="34" charset="-120"/>
              </a:rPr>
              <a:t>안건 F</a:t>
            </a:r>
            <a:endParaRPr lang="en-US" sz="900" dirty="0"/>
          </a:p>
        </p:txBody>
      </p:sp>
      <p:sp>
        <p:nvSpPr>
          <p:cNvPr id="37" name="Shape 35"/>
          <p:cNvSpPr/>
          <p:nvPr/>
        </p:nvSpPr>
        <p:spPr>
          <a:xfrm>
            <a:off x="609600" y="4629150"/>
            <a:ext cx="10972800" cy="666750"/>
          </a:xfrm>
          <a:prstGeom prst="roundRect">
            <a:avLst>
              <a:gd name="adj" fmla="val 17143"/>
            </a:avLst>
          </a:prstGeom>
          <a:solidFill>
            <a:srgbClr val="0A0A0A"/>
          </a:solidFill>
          <a:ln/>
        </p:spPr>
        <p:txBody>
          <a:bodyPr/>
          <a:lstStyle/>
          <a:p>
            <a:endParaRPr lang="ko-KR" altLang="en-US"/>
          </a:p>
        </p:txBody>
      </p:sp>
      <p:sp>
        <p:nvSpPr>
          <p:cNvPr id="38" name="Text 36"/>
          <p:cNvSpPr txBox="1"/>
          <p:nvPr/>
        </p:nvSpPr>
        <p:spPr>
          <a:xfrm>
            <a:off x="838200" y="4629150"/>
            <a:ext cx="10515600" cy="666750"/>
          </a:xfrm>
          <a:prstGeom prst="rect">
            <a:avLst/>
          </a:prstGeom>
          <a:noFill/>
          <a:ln/>
        </p:spPr>
        <p:txBody>
          <a:bodyPr wrap="square" lIns="0" tIns="0" rIns="0" bIns="0" rtlCol="0" anchor="ctr"/>
          <a:lstStyle/>
          <a:p>
            <a:pPr marL="0" indent="0" algn="l">
              <a:lnSpc>
                <a:spcPct val="130000"/>
              </a:lnSpc>
              <a:buNone/>
            </a:pPr>
            <a:r>
              <a:rPr lang="en-US" sz="1575" b="1" dirty="0">
                <a:solidFill>
                  <a:srgbClr val="FFFFFF"/>
                </a:solidFill>
                <a:latin typeface="Malgun Gothic" pitchFamily="34" charset="0"/>
                <a:ea typeface="Malgun Gothic" pitchFamily="34" charset="-122"/>
                <a:cs typeface="Malgun Gothic" pitchFamily="34" charset="-120"/>
              </a:rPr>
              <a:t>파일럿 발동 — ② 시즈닝 · ③ 유동성 두 개</a:t>
            </a:r>
            <a:endParaRPr lang="en-US" sz="1575" dirty="0"/>
          </a:p>
        </p:txBody>
      </p:sp>
      <p:sp>
        <p:nvSpPr>
          <p:cNvPr id="39" name="Shape 37"/>
          <p:cNvSpPr/>
          <p:nvPr/>
        </p:nvSpPr>
        <p:spPr>
          <a:xfrm>
            <a:off x="609600" y="5524500"/>
            <a:ext cx="10972800" cy="495300"/>
          </a:xfrm>
          <a:prstGeom prst="roundRect">
            <a:avLst>
              <a:gd name="adj" fmla="val 30769"/>
            </a:avLst>
          </a:prstGeom>
          <a:solidFill>
            <a:srgbClr val="F7F8FA"/>
          </a:solidFill>
          <a:ln/>
        </p:spPr>
        <p:txBody>
          <a:bodyPr/>
          <a:lstStyle/>
          <a:p>
            <a:endParaRPr lang="ko-KR" altLang="en-US"/>
          </a:p>
        </p:txBody>
      </p:sp>
      <p:sp>
        <p:nvSpPr>
          <p:cNvPr id="40" name="Text 38"/>
          <p:cNvSpPr txBox="1"/>
          <p:nvPr/>
        </p:nvSpPr>
        <p:spPr>
          <a:xfrm>
            <a:off x="800100" y="5715000"/>
            <a:ext cx="10591800" cy="152400"/>
          </a:xfrm>
          <a:prstGeom prst="rect">
            <a:avLst/>
          </a:prstGeom>
          <a:noFill/>
          <a:ln/>
        </p:spPr>
        <p:txBody>
          <a:bodyPr wrap="square" lIns="0" tIns="0" rIns="0" bIns="0" rtlCol="0" anchor="t"/>
          <a:lstStyle/>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① 테마 게이트의 판정 기준 명문화는 안건 D, ④ 재무 게이트 구현은 안건 F로 남아 있습니다.</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선별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유동성 하한은 고정값이 아니다</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매 회차 그 시장 분포의 하위 10% 지점을 계산해 하한으로 씁니다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13</a:t>
            </a:r>
            <a:endParaRPr lang="en-US" sz="900" dirty="0"/>
          </a:p>
        </p:txBody>
      </p:sp>
      <p:pic>
        <p:nvPicPr>
          <p:cNvPr id="9" name="Image 0" descr="/root/deck/fig/06_P10하한.png"/>
          <p:cNvPicPr>
            <a:picLocks noChangeAspect="1"/>
          </p:cNvPicPr>
          <p:nvPr/>
        </p:nvPicPr>
        <p:blipFill>
          <a:blip r:embed="rId3"/>
          <a:stretch>
            <a:fillRect/>
          </a:stretch>
        </p:blipFill>
        <p:spPr>
          <a:xfrm>
            <a:off x="609600" y="2576474"/>
            <a:ext cx="6667500" cy="2981402"/>
          </a:xfrm>
          <a:prstGeom prst="rect">
            <a:avLst/>
          </a:prstGeom>
        </p:spPr>
      </p:pic>
      <p:sp>
        <p:nvSpPr>
          <p:cNvPr id="10" name="Text 7"/>
          <p:cNvSpPr txBox="1"/>
          <p:nvPr/>
        </p:nvSpPr>
        <p:spPr>
          <a:xfrm>
            <a:off x="609600" y="5581650"/>
            <a:ext cx="66675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13년간 유동성 하한의 변화 — 좌우는 통화가 다르므로 높이 비교 금지</a:t>
            </a:r>
            <a:endParaRPr lang="en-US" sz="900" dirty="0"/>
          </a:p>
        </p:txBody>
      </p:sp>
      <p:sp>
        <p:nvSpPr>
          <p:cNvPr id="11" name="Shape 8"/>
          <p:cNvSpPr/>
          <p:nvPr/>
        </p:nvSpPr>
        <p:spPr>
          <a:xfrm>
            <a:off x="7505700" y="2552700"/>
            <a:ext cx="4076700" cy="1524000"/>
          </a:xfrm>
          <a:prstGeom prst="roundRect">
            <a:avLst>
              <a:gd name="adj" fmla="val 10000"/>
            </a:avLst>
          </a:prstGeom>
          <a:solidFill>
            <a:srgbClr val="FFFFFF"/>
          </a:solidFill>
          <a:ln w="12700">
            <a:solidFill>
              <a:srgbClr val="E5E7EB"/>
            </a:solidFill>
            <a:prstDash val="solid"/>
          </a:ln>
        </p:spPr>
        <p:txBody>
          <a:bodyPr/>
          <a:lstStyle/>
          <a:p>
            <a:endParaRPr lang="ko-KR" altLang="en-US"/>
          </a:p>
        </p:txBody>
      </p:sp>
      <p:sp>
        <p:nvSpPr>
          <p:cNvPr id="12" name="Text 9"/>
          <p:cNvSpPr txBox="1"/>
          <p:nvPr/>
        </p:nvSpPr>
        <p:spPr>
          <a:xfrm>
            <a:off x="7696200" y="2743200"/>
            <a:ext cx="36957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왜 고정값이 아닌가</a:t>
            </a:r>
            <a:endParaRPr lang="en-US" sz="1425" dirty="0"/>
          </a:p>
        </p:txBody>
      </p:sp>
      <p:sp>
        <p:nvSpPr>
          <p:cNvPr id="13" name="Text 10"/>
          <p:cNvSpPr txBox="1"/>
          <p:nvPr/>
        </p:nvSpPr>
        <p:spPr>
          <a:xfrm>
            <a:off x="7696200" y="3048000"/>
            <a:ext cx="3695700" cy="876300"/>
          </a:xfrm>
          <a:prstGeom prst="rect">
            <a:avLst/>
          </a:prstGeom>
          <a:noFill/>
          <a:ln/>
        </p:spPr>
        <p:txBody>
          <a:bodyPr wrap="square" lIns="0" tIns="0" rIns="0" bIns="0" rtlCol="0" anchor="t"/>
          <a:lstStyle/>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시장 전체의 거래대금 수준은 해마다 달라진다. 고정 금액을 하한으로 쓰면 어떤 해에는 아무도 걸리지 않고 어떤 해에는 전부 탈락한다.</a:t>
            </a:r>
            <a:endParaRPr lang="en-US" sz="1050" dirty="0"/>
          </a:p>
        </p:txBody>
      </p:sp>
      <p:sp>
        <p:nvSpPr>
          <p:cNvPr id="14" name="Shape 11"/>
          <p:cNvSpPr/>
          <p:nvPr/>
        </p:nvSpPr>
        <p:spPr>
          <a:xfrm>
            <a:off x="7505700" y="4229100"/>
            <a:ext cx="4076700" cy="1466850"/>
          </a:xfrm>
          <a:prstGeom prst="roundRect">
            <a:avLst>
              <a:gd name="adj" fmla="val 5195"/>
            </a:avLst>
          </a:prstGeom>
          <a:solidFill>
            <a:srgbClr val="FFFFFF"/>
          </a:solidFill>
          <a:ln w="12700">
            <a:solidFill>
              <a:srgbClr val="E5E7EB"/>
            </a:solidFill>
            <a:prstDash val="solid"/>
          </a:ln>
        </p:spPr>
        <p:txBody>
          <a:bodyPr/>
          <a:lstStyle/>
          <a:p>
            <a:endParaRPr lang="ko-KR" altLang="en-US"/>
          </a:p>
        </p:txBody>
      </p:sp>
      <p:sp>
        <p:nvSpPr>
          <p:cNvPr id="15" name="Shape 12"/>
          <p:cNvSpPr/>
          <p:nvPr/>
        </p:nvSpPr>
        <p:spPr>
          <a:xfrm>
            <a:off x="7505700" y="4229100"/>
            <a:ext cx="4076700" cy="323850"/>
          </a:xfrm>
          <a:prstGeom prst="rect">
            <a:avLst/>
          </a:prstGeom>
          <a:solidFill>
            <a:srgbClr val="F7F8FA"/>
          </a:solidFill>
          <a:ln/>
        </p:spPr>
        <p:txBody>
          <a:bodyPr/>
          <a:lstStyle/>
          <a:p>
            <a:endParaRPr lang="ko-KR" altLang="en-US"/>
          </a:p>
        </p:txBody>
      </p:sp>
      <p:sp>
        <p:nvSpPr>
          <p:cNvPr id="16" name="Shape 13"/>
          <p:cNvSpPr/>
          <p:nvPr/>
        </p:nvSpPr>
        <p:spPr>
          <a:xfrm>
            <a:off x="7505700" y="4552950"/>
            <a:ext cx="4076700" cy="9525"/>
          </a:xfrm>
          <a:prstGeom prst="rect">
            <a:avLst/>
          </a:prstGeom>
          <a:solidFill>
            <a:srgbClr val="E5E7EB"/>
          </a:solidFill>
          <a:ln/>
        </p:spPr>
        <p:txBody>
          <a:bodyPr/>
          <a:lstStyle/>
          <a:p>
            <a:endParaRPr lang="ko-KR" altLang="en-US"/>
          </a:p>
        </p:txBody>
      </p:sp>
      <p:sp>
        <p:nvSpPr>
          <p:cNvPr id="17" name="Text 14"/>
          <p:cNvSpPr txBox="1"/>
          <p:nvPr/>
        </p:nvSpPr>
        <p:spPr>
          <a:xfrm>
            <a:off x="7639050" y="4229100"/>
            <a:ext cx="1363980"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2026-06-30 한국</a:t>
            </a:r>
            <a:endParaRPr lang="en-US" sz="975" dirty="0"/>
          </a:p>
        </p:txBody>
      </p:sp>
      <p:sp>
        <p:nvSpPr>
          <p:cNvPr id="18" name="Text 15"/>
          <p:cNvSpPr txBox="1"/>
          <p:nvPr/>
        </p:nvSpPr>
        <p:spPr>
          <a:xfrm>
            <a:off x="9269730" y="4229100"/>
            <a:ext cx="1160145" cy="323850"/>
          </a:xfrm>
          <a:prstGeom prst="rect">
            <a:avLst/>
          </a:prstGeom>
          <a:noFill/>
          <a:ln/>
        </p:spPr>
        <p:txBody>
          <a:bodyPr wrap="square" lIns="0" tIns="0" rIns="0" bIns="0" rtlCol="0" anchor="ctr"/>
          <a:lstStyle/>
          <a:p>
            <a:pPr marL="0" indent="0" algn="r">
              <a:buNone/>
            </a:pPr>
            <a:r>
              <a:rPr lang="en-US" sz="975" b="1" dirty="0">
                <a:solidFill>
                  <a:srgbClr val="5F5F5F"/>
                </a:solidFill>
                <a:latin typeface="Malgun Gothic" pitchFamily="34" charset="0"/>
                <a:ea typeface="Malgun Gothic" pitchFamily="34" charset="-122"/>
                <a:cs typeface="Malgun Gothic" pitchFamily="34" charset="-120"/>
              </a:rPr>
              <a:t>ADTV90</a:t>
            </a:r>
            <a:endParaRPr lang="en-US" sz="975" dirty="0"/>
          </a:p>
        </p:txBody>
      </p:sp>
      <p:sp>
        <p:nvSpPr>
          <p:cNvPr id="19" name="Text 16"/>
          <p:cNvSpPr txBox="1"/>
          <p:nvPr/>
        </p:nvSpPr>
        <p:spPr>
          <a:xfrm>
            <a:off x="10696575" y="4229100"/>
            <a:ext cx="752475" cy="323850"/>
          </a:xfrm>
          <a:prstGeom prst="rect">
            <a:avLst/>
          </a:prstGeom>
          <a:noFill/>
          <a:ln/>
        </p:spPr>
        <p:txBody>
          <a:bodyPr wrap="square" lIns="0" tIns="0" rIns="0" bIns="0" rtlCol="0" anchor="ctr"/>
          <a:lstStyle/>
          <a:p>
            <a:pPr marL="0" indent="0" algn="r">
              <a:buNone/>
            </a:pPr>
            <a:r>
              <a:rPr lang="en-US" sz="975" b="1" dirty="0">
                <a:solidFill>
                  <a:srgbClr val="5F5F5F"/>
                </a:solidFill>
                <a:latin typeface="Malgun Gothic" pitchFamily="34" charset="0"/>
                <a:ea typeface="Malgun Gothic" pitchFamily="34" charset="-122"/>
                <a:cs typeface="Malgun Gothic" pitchFamily="34" charset="-120"/>
              </a:rPr>
              <a:t>판정</a:t>
            </a:r>
            <a:endParaRPr lang="en-US" sz="975" dirty="0"/>
          </a:p>
        </p:txBody>
      </p:sp>
      <p:sp>
        <p:nvSpPr>
          <p:cNvPr id="20" name="Text 17"/>
          <p:cNvSpPr txBox="1"/>
          <p:nvPr/>
        </p:nvSpPr>
        <p:spPr>
          <a:xfrm>
            <a:off x="7639050" y="4552950"/>
            <a:ext cx="1363980"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018260</a:t>
            </a:r>
            <a:endParaRPr lang="en-US" sz="1050" dirty="0"/>
          </a:p>
        </p:txBody>
      </p:sp>
      <p:sp>
        <p:nvSpPr>
          <p:cNvPr id="21" name="Text 18"/>
          <p:cNvSpPr txBox="1"/>
          <p:nvPr/>
        </p:nvSpPr>
        <p:spPr>
          <a:xfrm>
            <a:off x="9269730" y="4552950"/>
            <a:ext cx="1160145"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1,115억</a:t>
            </a:r>
            <a:endParaRPr lang="en-US" sz="1050" dirty="0"/>
          </a:p>
        </p:txBody>
      </p:sp>
      <p:sp>
        <p:nvSpPr>
          <p:cNvPr id="22" name="Text 19"/>
          <p:cNvSpPr txBox="1"/>
          <p:nvPr/>
        </p:nvSpPr>
        <p:spPr>
          <a:xfrm>
            <a:off x="10696575" y="4552950"/>
            <a:ext cx="752475" cy="285750"/>
          </a:xfrm>
          <a:prstGeom prst="rect">
            <a:avLst/>
          </a:prstGeom>
          <a:noFill/>
          <a:ln/>
        </p:spPr>
        <p:txBody>
          <a:bodyPr wrap="square" lIns="0" tIns="0" rIns="0" bIns="0" rtlCol="0" anchor="ctr"/>
          <a:lstStyle/>
          <a:p>
            <a:pPr marL="0" indent="0" algn="r">
              <a:buNone/>
            </a:pPr>
            <a:r>
              <a:rPr lang="en-US" sz="1050" b="1" dirty="0">
                <a:solidFill>
                  <a:srgbClr val="C23B14"/>
                </a:solidFill>
                <a:latin typeface="Malgun Gothic" pitchFamily="34" charset="0"/>
                <a:ea typeface="Malgun Gothic" pitchFamily="34" charset="-122"/>
                <a:cs typeface="Malgun Gothic" pitchFamily="34" charset="-120"/>
              </a:rPr>
              <a:t>탈락</a:t>
            </a:r>
            <a:endParaRPr lang="en-US" sz="1050" dirty="0"/>
          </a:p>
        </p:txBody>
      </p:sp>
      <p:sp>
        <p:nvSpPr>
          <p:cNvPr id="23" name="Shape 20"/>
          <p:cNvSpPr/>
          <p:nvPr/>
        </p:nvSpPr>
        <p:spPr>
          <a:xfrm>
            <a:off x="7639050" y="4838700"/>
            <a:ext cx="3810000" cy="9525"/>
          </a:xfrm>
          <a:prstGeom prst="rect">
            <a:avLst/>
          </a:prstGeom>
          <a:solidFill>
            <a:srgbClr val="EAECF0"/>
          </a:solidFill>
          <a:ln/>
        </p:spPr>
        <p:txBody>
          <a:bodyPr/>
          <a:lstStyle/>
          <a:p>
            <a:endParaRPr lang="ko-KR" altLang="en-US"/>
          </a:p>
        </p:txBody>
      </p:sp>
      <p:sp>
        <p:nvSpPr>
          <p:cNvPr id="24" name="Text 21"/>
          <p:cNvSpPr txBox="1"/>
          <p:nvPr/>
        </p:nvSpPr>
        <p:spPr>
          <a:xfrm>
            <a:off x="7639050" y="4838700"/>
            <a:ext cx="1363980" cy="285750"/>
          </a:xfrm>
          <a:prstGeom prst="rect">
            <a:avLst/>
          </a:prstGeom>
          <a:noFill/>
          <a:ln/>
        </p:spPr>
        <p:txBody>
          <a:bodyPr wrap="square" lIns="0" tIns="0" rIns="0" bIns="0" rtlCol="0" anchor="ctr"/>
          <a:lstStyle/>
          <a:p>
            <a:pPr marL="0" indent="0" algn="l">
              <a:buNone/>
            </a:pPr>
            <a:r>
              <a:rPr lang="en-US" sz="1050" b="1" dirty="0">
                <a:solidFill>
                  <a:srgbClr val="5F5F5F"/>
                </a:solidFill>
                <a:latin typeface="Malgun Gothic" pitchFamily="34" charset="0"/>
                <a:ea typeface="Malgun Gothic" pitchFamily="34" charset="-122"/>
                <a:cs typeface="Malgun Gothic" pitchFamily="34" charset="-120"/>
              </a:rPr>
              <a:t>P10 하한</a:t>
            </a:r>
            <a:endParaRPr lang="en-US" sz="1050" dirty="0"/>
          </a:p>
        </p:txBody>
      </p:sp>
      <p:sp>
        <p:nvSpPr>
          <p:cNvPr id="25" name="Text 22"/>
          <p:cNvSpPr txBox="1"/>
          <p:nvPr/>
        </p:nvSpPr>
        <p:spPr>
          <a:xfrm>
            <a:off x="9269730" y="4838700"/>
            <a:ext cx="1160145" cy="285750"/>
          </a:xfrm>
          <a:prstGeom prst="rect">
            <a:avLst/>
          </a:prstGeom>
          <a:noFill/>
          <a:ln/>
        </p:spPr>
        <p:txBody>
          <a:bodyPr wrap="square" lIns="0" tIns="0" rIns="0" bIns="0" rtlCol="0" anchor="ctr"/>
          <a:lstStyle/>
          <a:p>
            <a:pPr marL="0" indent="0" algn="r">
              <a:buNone/>
            </a:pPr>
            <a:r>
              <a:rPr lang="en-US" sz="1050" b="1" dirty="0">
                <a:solidFill>
                  <a:srgbClr val="5F5F5F"/>
                </a:solidFill>
                <a:latin typeface="Malgun Gothic" pitchFamily="34" charset="0"/>
                <a:ea typeface="Malgun Gothic" pitchFamily="34" charset="-122"/>
                <a:cs typeface="Malgun Gothic" pitchFamily="34" charset="-120"/>
              </a:rPr>
              <a:t>1,276억</a:t>
            </a:r>
            <a:endParaRPr lang="en-US" sz="1050" dirty="0"/>
          </a:p>
        </p:txBody>
      </p:sp>
      <p:sp>
        <p:nvSpPr>
          <p:cNvPr id="26" name="Text 23"/>
          <p:cNvSpPr txBox="1"/>
          <p:nvPr/>
        </p:nvSpPr>
        <p:spPr>
          <a:xfrm>
            <a:off x="10696575" y="4838700"/>
            <a:ext cx="752475" cy="285750"/>
          </a:xfrm>
          <a:prstGeom prst="rect">
            <a:avLst/>
          </a:prstGeom>
          <a:noFill/>
          <a:ln/>
        </p:spPr>
        <p:txBody>
          <a:bodyPr wrap="square" lIns="0" tIns="0" rIns="0" bIns="0" rtlCol="0" anchor="ctr"/>
          <a:lstStyle/>
          <a:p>
            <a:pPr marL="0" indent="0" algn="r">
              <a:buNone/>
            </a:pPr>
            <a:endParaRPr lang="en-US" sz="1050" dirty="0"/>
          </a:p>
        </p:txBody>
      </p:sp>
      <p:sp>
        <p:nvSpPr>
          <p:cNvPr id="27" name="Shape 24"/>
          <p:cNvSpPr/>
          <p:nvPr/>
        </p:nvSpPr>
        <p:spPr>
          <a:xfrm>
            <a:off x="7639050" y="5124450"/>
            <a:ext cx="3810000" cy="9525"/>
          </a:xfrm>
          <a:prstGeom prst="rect">
            <a:avLst/>
          </a:prstGeom>
          <a:solidFill>
            <a:srgbClr val="EAECF0"/>
          </a:solidFill>
          <a:ln/>
        </p:spPr>
        <p:txBody>
          <a:bodyPr/>
          <a:lstStyle/>
          <a:p>
            <a:endParaRPr lang="ko-KR" altLang="en-US"/>
          </a:p>
        </p:txBody>
      </p:sp>
      <p:sp>
        <p:nvSpPr>
          <p:cNvPr id="28" name="Text 25"/>
          <p:cNvSpPr txBox="1"/>
          <p:nvPr/>
        </p:nvSpPr>
        <p:spPr>
          <a:xfrm>
            <a:off x="7639050" y="5124450"/>
            <a:ext cx="1363980"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307950</a:t>
            </a:r>
            <a:endParaRPr lang="en-US" sz="1050" dirty="0"/>
          </a:p>
        </p:txBody>
      </p:sp>
      <p:sp>
        <p:nvSpPr>
          <p:cNvPr id="29" name="Text 26"/>
          <p:cNvSpPr txBox="1"/>
          <p:nvPr/>
        </p:nvSpPr>
        <p:spPr>
          <a:xfrm>
            <a:off x="9269730" y="5124450"/>
            <a:ext cx="1160145"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1,317억</a:t>
            </a:r>
            <a:endParaRPr lang="en-US" sz="1050" dirty="0"/>
          </a:p>
        </p:txBody>
      </p:sp>
      <p:sp>
        <p:nvSpPr>
          <p:cNvPr id="30" name="Text 27"/>
          <p:cNvSpPr txBox="1"/>
          <p:nvPr/>
        </p:nvSpPr>
        <p:spPr>
          <a:xfrm>
            <a:off x="10696575" y="5124450"/>
            <a:ext cx="752475" cy="285750"/>
          </a:xfrm>
          <a:prstGeom prst="rect">
            <a:avLst/>
          </a:prstGeom>
          <a:noFill/>
          <a:ln/>
        </p:spPr>
        <p:txBody>
          <a:bodyPr wrap="square" lIns="0" tIns="0" rIns="0" bIns="0" rtlCol="0" anchor="ctr"/>
          <a:lstStyle/>
          <a:p>
            <a:pPr marL="0" indent="0" algn="r">
              <a:buNone/>
            </a:pPr>
            <a:r>
              <a:rPr lang="en-US" sz="1050" b="1" dirty="0">
                <a:solidFill>
                  <a:srgbClr val="1BA673"/>
                </a:solidFill>
                <a:latin typeface="Malgun Gothic" pitchFamily="34" charset="0"/>
                <a:ea typeface="Malgun Gothic" pitchFamily="34" charset="-122"/>
                <a:cs typeface="Malgun Gothic" pitchFamily="34" charset="-120"/>
              </a:rPr>
              <a:t>통과</a:t>
            </a:r>
            <a:endParaRPr lang="en-US" sz="1050" dirty="0"/>
          </a:p>
        </p:txBody>
      </p:sp>
      <p:sp>
        <p:nvSpPr>
          <p:cNvPr id="31" name="Shape 28"/>
          <p:cNvSpPr/>
          <p:nvPr/>
        </p:nvSpPr>
        <p:spPr>
          <a:xfrm>
            <a:off x="7639050" y="5410200"/>
            <a:ext cx="3810000" cy="9525"/>
          </a:xfrm>
          <a:prstGeom prst="rect">
            <a:avLst/>
          </a:prstGeom>
          <a:solidFill>
            <a:srgbClr val="EAECF0"/>
          </a:solidFill>
          <a:ln/>
        </p:spPr>
        <p:txBody>
          <a:bodyPr/>
          <a:lstStyle/>
          <a:p>
            <a:endParaRPr lang="ko-KR" altLang="en-US"/>
          </a:p>
        </p:txBody>
      </p:sp>
      <p:sp>
        <p:nvSpPr>
          <p:cNvPr id="32" name="Text 29"/>
          <p:cNvSpPr txBox="1"/>
          <p:nvPr/>
        </p:nvSpPr>
        <p:spPr>
          <a:xfrm>
            <a:off x="7639050" y="5410200"/>
            <a:ext cx="1363980"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012450</a:t>
            </a:r>
            <a:endParaRPr lang="en-US" sz="1050" dirty="0"/>
          </a:p>
        </p:txBody>
      </p:sp>
      <p:sp>
        <p:nvSpPr>
          <p:cNvPr id="33" name="Text 30"/>
          <p:cNvSpPr txBox="1"/>
          <p:nvPr/>
        </p:nvSpPr>
        <p:spPr>
          <a:xfrm>
            <a:off x="9269730" y="5410200"/>
            <a:ext cx="1160145"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3,617억</a:t>
            </a:r>
            <a:endParaRPr lang="en-US" sz="1050" dirty="0"/>
          </a:p>
        </p:txBody>
      </p:sp>
      <p:sp>
        <p:nvSpPr>
          <p:cNvPr id="34" name="Text 31"/>
          <p:cNvSpPr txBox="1"/>
          <p:nvPr/>
        </p:nvSpPr>
        <p:spPr>
          <a:xfrm>
            <a:off x="10696575" y="5410200"/>
            <a:ext cx="752475" cy="285750"/>
          </a:xfrm>
          <a:prstGeom prst="rect">
            <a:avLst/>
          </a:prstGeom>
          <a:noFill/>
          <a:ln/>
        </p:spPr>
        <p:txBody>
          <a:bodyPr wrap="square" lIns="0" tIns="0" rIns="0" bIns="0" rtlCol="0" anchor="ctr"/>
          <a:lstStyle/>
          <a:p>
            <a:pPr marL="0" indent="0" algn="r">
              <a:buNone/>
            </a:pPr>
            <a:r>
              <a:rPr lang="en-US" sz="1050" b="1" dirty="0">
                <a:solidFill>
                  <a:srgbClr val="1BA673"/>
                </a:solidFill>
                <a:latin typeface="Malgun Gothic" pitchFamily="34" charset="0"/>
                <a:ea typeface="Malgun Gothic" pitchFamily="34" charset="-122"/>
                <a:cs typeface="Malgun Gothic" pitchFamily="34" charset="-120"/>
              </a:rPr>
              <a:t>통과</a:t>
            </a:r>
            <a:endParaRPr lang="en-US" sz="1050" dirty="0"/>
          </a:p>
        </p:txBody>
      </p:sp>
      <p:sp>
        <p:nvSpPr>
          <p:cNvPr id="35" name="Text 32"/>
          <p:cNvSpPr txBox="1"/>
          <p:nvPr/>
        </p:nvSpPr>
        <p:spPr>
          <a:xfrm>
            <a:off x="609600" y="5867400"/>
            <a:ext cx="66675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06_코드/backtest_long/figures/06_P10하한.png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선별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6셀 구조와 가중치</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테마 3 × 지역 2 = 6셀, 각 1/6 · 셀 안에서는 균등</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14</a:t>
            </a:r>
            <a:endParaRPr lang="en-US" sz="900" dirty="0"/>
          </a:p>
        </p:txBody>
      </p:sp>
      <p:sp>
        <p:nvSpPr>
          <p:cNvPr id="9" name="Shape 7"/>
          <p:cNvSpPr/>
          <p:nvPr/>
        </p:nvSpPr>
        <p:spPr>
          <a:xfrm>
            <a:off x="609600" y="2590800"/>
            <a:ext cx="5334000" cy="1428750"/>
          </a:xfrm>
          <a:prstGeom prst="roundRect">
            <a:avLst>
              <a:gd name="adj" fmla="val 5333"/>
            </a:avLst>
          </a:prstGeom>
          <a:solidFill>
            <a:srgbClr val="FFFFFF"/>
          </a:solidFill>
          <a:ln w="12700">
            <a:solidFill>
              <a:srgbClr val="E5E7EB"/>
            </a:solidFill>
            <a:prstDash val="solid"/>
          </a:ln>
        </p:spPr>
        <p:txBody>
          <a:bodyPr/>
          <a:lstStyle/>
          <a:p>
            <a:endParaRPr lang="ko-KR" altLang="en-US"/>
          </a:p>
        </p:txBody>
      </p:sp>
      <p:sp>
        <p:nvSpPr>
          <p:cNvPr id="10" name="Shape 8"/>
          <p:cNvSpPr/>
          <p:nvPr/>
        </p:nvSpPr>
        <p:spPr>
          <a:xfrm>
            <a:off x="609600" y="2590800"/>
            <a:ext cx="5334000" cy="342900"/>
          </a:xfrm>
          <a:prstGeom prst="rect">
            <a:avLst/>
          </a:prstGeom>
          <a:solidFill>
            <a:srgbClr val="F7F8FA"/>
          </a:solidFill>
          <a:ln/>
        </p:spPr>
        <p:txBody>
          <a:bodyPr/>
          <a:lstStyle/>
          <a:p>
            <a:endParaRPr lang="ko-KR" altLang="en-US"/>
          </a:p>
        </p:txBody>
      </p:sp>
      <p:sp>
        <p:nvSpPr>
          <p:cNvPr id="11" name="Shape 9"/>
          <p:cNvSpPr/>
          <p:nvPr/>
        </p:nvSpPr>
        <p:spPr>
          <a:xfrm>
            <a:off x="609600" y="2933700"/>
            <a:ext cx="5334000" cy="9525"/>
          </a:xfrm>
          <a:prstGeom prst="rect">
            <a:avLst/>
          </a:prstGeom>
          <a:solidFill>
            <a:srgbClr val="E5E7EB"/>
          </a:solidFill>
          <a:ln/>
        </p:spPr>
        <p:txBody>
          <a:bodyPr/>
          <a:lstStyle/>
          <a:p>
            <a:endParaRPr lang="ko-KR" altLang="en-US"/>
          </a:p>
        </p:txBody>
      </p:sp>
      <p:sp>
        <p:nvSpPr>
          <p:cNvPr id="12" name="Text 10"/>
          <p:cNvSpPr txBox="1"/>
          <p:nvPr/>
        </p:nvSpPr>
        <p:spPr>
          <a:xfrm>
            <a:off x="742950" y="2590800"/>
            <a:ext cx="2080260" cy="342900"/>
          </a:xfrm>
          <a:prstGeom prst="rect">
            <a:avLst/>
          </a:prstGeom>
          <a:noFill/>
          <a:ln/>
        </p:spPr>
        <p:txBody>
          <a:bodyPr wrap="square" lIns="0" tIns="0" rIns="0" bIns="0" rtlCol="0" anchor="ctr"/>
          <a:lstStyle/>
          <a:p>
            <a:pPr marL="0" indent="0" algn="l">
              <a:buNone/>
            </a:pPr>
            <a:endParaRPr lang="en-US" sz="975" dirty="0"/>
          </a:p>
        </p:txBody>
      </p:sp>
      <p:sp>
        <p:nvSpPr>
          <p:cNvPr id="13" name="Text 11"/>
          <p:cNvSpPr txBox="1"/>
          <p:nvPr/>
        </p:nvSpPr>
        <p:spPr>
          <a:xfrm>
            <a:off x="3089910" y="2590800"/>
            <a:ext cx="1226820" cy="342900"/>
          </a:xfrm>
          <a:prstGeom prst="rect">
            <a:avLst/>
          </a:prstGeom>
          <a:noFill/>
          <a:ln/>
        </p:spPr>
        <p:txBody>
          <a:bodyPr wrap="square" lIns="0" tIns="0" rIns="0" bIns="0" rtlCol="0" anchor="ctr"/>
          <a:lstStyle/>
          <a:p>
            <a:pPr marL="0" indent="0" algn="ctr">
              <a:buNone/>
            </a:pPr>
            <a:r>
              <a:rPr lang="en-US" sz="975" b="1" dirty="0">
                <a:solidFill>
                  <a:srgbClr val="5F5F5F"/>
                </a:solidFill>
                <a:latin typeface="Malgun Gothic" pitchFamily="34" charset="0"/>
                <a:ea typeface="Malgun Gothic" pitchFamily="34" charset="-122"/>
                <a:cs typeface="Malgun Gothic" pitchFamily="34" charset="-120"/>
              </a:rPr>
              <a:t>한국</a:t>
            </a:r>
            <a:endParaRPr lang="en-US" sz="975" dirty="0"/>
          </a:p>
        </p:txBody>
      </p:sp>
      <p:sp>
        <p:nvSpPr>
          <p:cNvPr id="14" name="Text 12"/>
          <p:cNvSpPr txBox="1"/>
          <p:nvPr/>
        </p:nvSpPr>
        <p:spPr>
          <a:xfrm>
            <a:off x="4583430" y="2590800"/>
            <a:ext cx="1226820" cy="342900"/>
          </a:xfrm>
          <a:prstGeom prst="rect">
            <a:avLst/>
          </a:prstGeom>
          <a:noFill/>
          <a:ln/>
        </p:spPr>
        <p:txBody>
          <a:bodyPr wrap="square" lIns="0" tIns="0" rIns="0" bIns="0" rtlCol="0" anchor="ctr"/>
          <a:lstStyle/>
          <a:p>
            <a:pPr marL="0" indent="0" algn="ctr">
              <a:buNone/>
            </a:pPr>
            <a:r>
              <a:rPr lang="en-US" sz="975" b="1" dirty="0">
                <a:solidFill>
                  <a:srgbClr val="5F5F5F"/>
                </a:solidFill>
                <a:latin typeface="Malgun Gothic" pitchFamily="34" charset="0"/>
                <a:ea typeface="Malgun Gothic" pitchFamily="34" charset="-122"/>
                <a:cs typeface="Malgun Gothic" pitchFamily="34" charset="-120"/>
              </a:rPr>
              <a:t>미국</a:t>
            </a:r>
            <a:endParaRPr lang="en-US" sz="975" dirty="0"/>
          </a:p>
        </p:txBody>
      </p:sp>
      <p:sp>
        <p:nvSpPr>
          <p:cNvPr id="15" name="Text 13"/>
          <p:cNvSpPr txBox="1"/>
          <p:nvPr/>
        </p:nvSpPr>
        <p:spPr>
          <a:xfrm>
            <a:off x="742950" y="2933700"/>
            <a:ext cx="2080260" cy="361950"/>
          </a:xfrm>
          <a:prstGeom prst="rect">
            <a:avLst/>
          </a:prstGeom>
          <a:noFill/>
          <a:ln/>
        </p:spPr>
        <p:txBody>
          <a:bodyPr wrap="square" lIns="0" tIns="0" rIns="0" bIns="0" rtlCol="0" anchor="ctr"/>
          <a:lstStyle/>
          <a:p>
            <a:pPr marL="0" indent="0" algn="l">
              <a:buNone/>
            </a:pPr>
            <a:r>
              <a:rPr lang="en-US" sz="1200" dirty="0">
                <a:solidFill>
                  <a:srgbClr val="0A0A0A"/>
                </a:solidFill>
                <a:latin typeface="Malgun Gothic" pitchFamily="34" charset="0"/>
                <a:ea typeface="Malgun Gothic" pitchFamily="34" charset="-122"/>
                <a:cs typeface="Malgun Gothic" pitchFamily="34" charset="-120"/>
              </a:rPr>
              <a:t>우주·방산</a:t>
            </a:r>
            <a:endParaRPr lang="en-US" sz="1200" dirty="0"/>
          </a:p>
        </p:txBody>
      </p:sp>
      <p:sp>
        <p:nvSpPr>
          <p:cNvPr id="16" name="Text 14"/>
          <p:cNvSpPr txBox="1"/>
          <p:nvPr/>
        </p:nvSpPr>
        <p:spPr>
          <a:xfrm>
            <a:off x="3089910" y="2933700"/>
            <a:ext cx="1226820" cy="361950"/>
          </a:xfrm>
          <a:prstGeom prst="rect">
            <a:avLst/>
          </a:prstGeom>
          <a:noFill/>
          <a:ln/>
        </p:spPr>
        <p:txBody>
          <a:bodyPr wrap="square" lIns="0" tIns="0" rIns="0" bIns="0" rtlCol="0" anchor="ctr"/>
          <a:lstStyle/>
          <a:p>
            <a:pPr marL="0" indent="0" algn="ctr">
              <a:buNone/>
            </a:pPr>
            <a:r>
              <a:rPr lang="en-US" sz="1200" dirty="0">
                <a:solidFill>
                  <a:srgbClr val="0A0A0A"/>
                </a:solidFill>
                <a:latin typeface="Malgun Gothic" pitchFamily="34" charset="0"/>
                <a:ea typeface="Malgun Gothic" pitchFamily="34" charset="-122"/>
                <a:cs typeface="Malgun Gothic" pitchFamily="34" charset="-120"/>
              </a:rPr>
              <a:t>1/6</a:t>
            </a:r>
            <a:endParaRPr lang="en-US" sz="1200" dirty="0"/>
          </a:p>
        </p:txBody>
      </p:sp>
      <p:sp>
        <p:nvSpPr>
          <p:cNvPr id="17" name="Text 15"/>
          <p:cNvSpPr txBox="1"/>
          <p:nvPr/>
        </p:nvSpPr>
        <p:spPr>
          <a:xfrm>
            <a:off x="4583430" y="2933700"/>
            <a:ext cx="1226820" cy="361950"/>
          </a:xfrm>
          <a:prstGeom prst="rect">
            <a:avLst/>
          </a:prstGeom>
          <a:noFill/>
          <a:ln/>
        </p:spPr>
        <p:txBody>
          <a:bodyPr wrap="square" lIns="0" tIns="0" rIns="0" bIns="0" rtlCol="0" anchor="ctr"/>
          <a:lstStyle/>
          <a:p>
            <a:pPr marL="0" indent="0" algn="ctr">
              <a:buNone/>
            </a:pPr>
            <a:r>
              <a:rPr lang="en-US" sz="1200" dirty="0">
                <a:solidFill>
                  <a:srgbClr val="0A0A0A"/>
                </a:solidFill>
                <a:latin typeface="Malgun Gothic" pitchFamily="34" charset="0"/>
                <a:ea typeface="Malgun Gothic" pitchFamily="34" charset="-122"/>
                <a:cs typeface="Malgun Gothic" pitchFamily="34" charset="-120"/>
              </a:rPr>
              <a:t>1/6</a:t>
            </a:r>
            <a:endParaRPr lang="en-US" sz="1200" dirty="0"/>
          </a:p>
        </p:txBody>
      </p:sp>
      <p:sp>
        <p:nvSpPr>
          <p:cNvPr id="18" name="Shape 16"/>
          <p:cNvSpPr/>
          <p:nvPr/>
        </p:nvSpPr>
        <p:spPr>
          <a:xfrm>
            <a:off x="742950" y="3295650"/>
            <a:ext cx="5067300" cy="9525"/>
          </a:xfrm>
          <a:prstGeom prst="rect">
            <a:avLst/>
          </a:prstGeom>
          <a:solidFill>
            <a:srgbClr val="EAECF0"/>
          </a:solidFill>
          <a:ln/>
        </p:spPr>
        <p:txBody>
          <a:bodyPr/>
          <a:lstStyle/>
          <a:p>
            <a:endParaRPr lang="ko-KR" altLang="en-US"/>
          </a:p>
        </p:txBody>
      </p:sp>
      <p:sp>
        <p:nvSpPr>
          <p:cNvPr id="19" name="Text 17"/>
          <p:cNvSpPr txBox="1"/>
          <p:nvPr/>
        </p:nvSpPr>
        <p:spPr>
          <a:xfrm>
            <a:off x="742950" y="3295650"/>
            <a:ext cx="2080260" cy="361950"/>
          </a:xfrm>
          <a:prstGeom prst="rect">
            <a:avLst/>
          </a:prstGeom>
          <a:noFill/>
          <a:ln/>
        </p:spPr>
        <p:txBody>
          <a:bodyPr wrap="square" lIns="0" tIns="0" rIns="0" bIns="0" rtlCol="0" anchor="ctr"/>
          <a:lstStyle/>
          <a:p>
            <a:pPr marL="0" indent="0" algn="l">
              <a:buNone/>
            </a:pPr>
            <a:r>
              <a:rPr lang="en-US" sz="1200" dirty="0">
                <a:solidFill>
                  <a:srgbClr val="0A0A0A"/>
                </a:solidFill>
                <a:latin typeface="Malgun Gothic" pitchFamily="34" charset="0"/>
                <a:ea typeface="Malgun Gothic" pitchFamily="34" charset="-122"/>
                <a:cs typeface="Malgun Gothic" pitchFamily="34" charset="-120"/>
              </a:rPr>
              <a:t>AI·로보틱스</a:t>
            </a:r>
            <a:endParaRPr lang="en-US" sz="1200" dirty="0"/>
          </a:p>
        </p:txBody>
      </p:sp>
      <p:sp>
        <p:nvSpPr>
          <p:cNvPr id="20" name="Text 18"/>
          <p:cNvSpPr txBox="1"/>
          <p:nvPr/>
        </p:nvSpPr>
        <p:spPr>
          <a:xfrm>
            <a:off x="3089910" y="3295650"/>
            <a:ext cx="1226820" cy="361950"/>
          </a:xfrm>
          <a:prstGeom prst="rect">
            <a:avLst/>
          </a:prstGeom>
          <a:noFill/>
          <a:ln/>
        </p:spPr>
        <p:txBody>
          <a:bodyPr wrap="square" lIns="0" tIns="0" rIns="0" bIns="0" rtlCol="0" anchor="ctr"/>
          <a:lstStyle/>
          <a:p>
            <a:pPr marL="0" indent="0" algn="ctr">
              <a:buNone/>
            </a:pPr>
            <a:r>
              <a:rPr lang="en-US" sz="1200" dirty="0">
                <a:solidFill>
                  <a:srgbClr val="0A0A0A"/>
                </a:solidFill>
                <a:latin typeface="Malgun Gothic" pitchFamily="34" charset="0"/>
                <a:ea typeface="Malgun Gothic" pitchFamily="34" charset="-122"/>
                <a:cs typeface="Malgun Gothic" pitchFamily="34" charset="-120"/>
              </a:rPr>
              <a:t>1/6</a:t>
            </a:r>
            <a:endParaRPr lang="en-US" sz="1200" dirty="0"/>
          </a:p>
        </p:txBody>
      </p:sp>
      <p:sp>
        <p:nvSpPr>
          <p:cNvPr id="21" name="Text 19"/>
          <p:cNvSpPr txBox="1"/>
          <p:nvPr/>
        </p:nvSpPr>
        <p:spPr>
          <a:xfrm>
            <a:off x="4583430" y="3295650"/>
            <a:ext cx="1226820" cy="361950"/>
          </a:xfrm>
          <a:prstGeom prst="rect">
            <a:avLst/>
          </a:prstGeom>
          <a:noFill/>
          <a:ln/>
        </p:spPr>
        <p:txBody>
          <a:bodyPr wrap="square" lIns="0" tIns="0" rIns="0" bIns="0" rtlCol="0" anchor="ctr"/>
          <a:lstStyle/>
          <a:p>
            <a:pPr marL="0" indent="0" algn="ctr">
              <a:buNone/>
            </a:pPr>
            <a:r>
              <a:rPr lang="en-US" sz="1200" dirty="0">
                <a:solidFill>
                  <a:srgbClr val="0A0A0A"/>
                </a:solidFill>
                <a:latin typeface="Malgun Gothic" pitchFamily="34" charset="0"/>
                <a:ea typeface="Malgun Gothic" pitchFamily="34" charset="-122"/>
                <a:cs typeface="Malgun Gothic" pitchFamily="34" charset="-120"/>
              </a:rPr>
              <a:t>1/6</a:t>
            </a:r>
            <a:endParaRPr lang="en-US" sz="1200" dirty="0"/>
          </a:p>
        </p:txBody>
      </p:sp>
      <p:sp>
        <p:nvSpPr>
          <p:cNvPr id="22" name="Shape 20"/>
          <p:cNvSpPr/>
          <p:nvPr/>
        </p:nvSpPr>
        <p:spPr>
          <a:xfrm>
            <a:off x="742950" y="3657600"/>
            <a:ext cx="5067300" cy="9525"/>
          </a:xfrm>
          <a:prstGeom prst="rect">
            <a:avLst/>
          </a:prstGeom>
          <a:solidFill>
            <a:srgbClr val="EAECF0"/>
          </a:solidFill>
          <a:ln/>
        </p:spPr>
        <p:txBody>
          <a:bodyPr/>
          <a:lstStyle/>
          <a:p>
            <a:endParaRPr lang="ko-KR" altLang="en-US"/>
          </a:p>
        </p:txBody>
      </p:sp>
      <p:sp>
        <p:nvSpPr>
          <p:cNvPr id="23" name="Text 21"/>
          <p:cNvSpPr txBox="1"/>
          <p:nvPr/>
        </p:nvSpPr>
        <p:spPr>
          <a:xfrm>
            <a:off x="742950" y="3657600"/>
            <a:ext cx="2080260" cy="361950"/>
          </a:xfrm>
          <a:prstGeom prst="rect">
            <a:avLst/>
          </a:prstGeom>
          <a:noFill/>
          <a:ln/>
        </p:spPr>
        <p:txBody>
          <a:bodyPr wrap="square" lIns="0" tIns="0" rIns="0" bIns="0" rtlCol="0" anchor="ctr"/>
          <a:lstStyle/>
          <a:p>
            <a:pPr marL="0" indent="0" algn="l">
              <a:buNone/>
            </a:pPr>
            <a:r>
              <a:rPr lang="en-US" sz="1200" dirty="0">
                <a:solidFill>
                  <a:srgbClr val="0A0A0A"/>
                </a:solidFill>
                <a:latin typeface="Malgun Gothic" pitchFamily="34" charset="0"/>
                <a:ea typeface="Malgun Gothic" pitchFamily="34" charset="-122"/>
                <a:cs typeface="Malgun Gothic" pitchFamily="34" charset="-120"/>
              </a:rPr>
              <a:t>에너지·전력</a:t>
            </a:r>
            <a:endParaRPr lang="en-US" sz="1200" dirty="0"/>
          </a:p>
        </p:txBody>
      </p:sp>
      <p:sp>
        <p:nvSpPr>
          <p:cNvPr id="24" name="Text 22"/>
          <p:cNvSpPr txBox="1"/>
          <p:nvPr/>
        </p:nvSpPr>
        <p:spPr>
          <a:xfrm>
            <a:off x="3089910" y="3657600"/>
            <a:ext cx="1226820" cy="361950"/>
          </a:xfrm>
          <a:prstGeom prst="rect">
            <a:avLst/>
          </a:prstGeom>
          <a:noFill/>
          <a:ln/>
        </p:spPr>
        <p:txBody>
          <a:bodyPr wrap="square" lIns="0" tIns="0" rIns="0" bIns="0" rtlCol="0" anchor="ctr"/>
          <a:lstStyle/>
          <a:p>
            <a:pPr marL="0" indent="0" algn="ctr">
              <a:buNone/>
            </a:pPr>
            <a:r>
              <a:rPr lang="en-US" sz="1200" dirty="0">
                <a:solidFill>
                  <a:srgbClr val="0A0A0A"/>
                </a:solidFill>
                <a:latin typeface="Malgun Gothic" pitchFamily="34" charset="0"/>
                <a:ea typeface="Malgun Gothic" pitchFamily="34" charset="-122"/>
                <a:cs typeface="Malgun Gothic" pitchFamily="34" charset="-120"/>
              </a:rPr>
              <a:t>1/6</a:t>
            </a:r>
            <a:endParaRPr lang="en-US" sz="1200" dirty="0"/>
          </a:p>
        </p:txBody>
      </p:sp>
      <p:sp>
        <p:nvSpPr>
          <p:cNvPr id="25" name="Text 23"/>
          <p:cNvSpPr txBox="1"/>
          <p:nvPr/>
        </p:nvSpPr>
        <p:spPr>
          <a:xfrm>
            <a:off x="4583430" y="3657600"/>
            <a:ext cx="1226820" cy="361950"/>
          </a:xfrm>
          <a:prstGeom prst="rect">
            <a:avLst/>
          </a:prstGeom>
          <a:noFill/>
          <a:ln/>
        </p:spPr>
        <p:txBody>
          <a:bodyPr wrap="square" lIns="0" tIns="0" rIns="0" bIns="0" rtlCol="0" anchor="ctr"/>
          <a:lstStyle/>
          <a:p>
            <a:pPr marL="0" indent="0" algn="ctr">
              <a:buNone/>
            </a:pPr>
            <a:r>
              <a:rPr lang="en-US" sz="1200" dirty="0">
                <a:solidFill>
                  <a:srgbClr val="0A0A0A"/>
                </a:solidFill>
                <a:latin typeface="Malgun Gothic" pitchFamily="34" charset="0"/>
                <a:ea typeface="Malgun Gothic" pitchFamily="34" charset="-122"/>
                <a:cs typeface="Malgun Gothic" pitchFamily="34" charset="-120"/>
              </a:rPr>
              <a:t>1/6</a:t>
            </a:r>
            <a:endParaRPr lang="en-US" sz="1200" dirty="0"/>
          </a:p>
        </p:txBody>
      </p:sp>
      <p:sp>
        <p:nvSpPr>
          <p:cNvPr id="26" name="Shape 24"/>
          <p:cNvSpPr/>
          <p:nvPr/>
        </p:nvSpPr>
        <p:spPr>
          <a:xfrm>
            <a:off x="6248400" y="2590800"/>
            <a:ext cx="5334000" cy="1428750"/>
          </a:xfrm>
          <a:prstGeom prst="roundRect">
            <a:avLst>
              <a:gd name="adj" fmla="val 10667"/>
            </a:avLst>
          </a:prstGeom>
          <a:solidFill>
            <a:srgbClr val="FFFFFF"/>
          </a:solidFill>
          <a:ln w="12700">
            <a:solidFill>
              <a:srgbClr val="E5E7EB"/>
            </a:solidFill>
            <a:prstDash val="solid"/>
          </a:ln>
        </p:spPr>
        <p:txBody>
          <a:bodyPr/>
          <a:lstStyle/>
          <a:p>
            <a:endParaRPr lang="ko-KR" altLang="en-US"/>
          </a:p>
        </p:txBody>
      </p:sp>
      <p:sp>
        <p:nvSpPr>
          <p:cNvPr id="27" name="Text 25"/>
          <p:cNvSpPr txBox="1"/>
          <p:nvPr/>
        </p:nvSpPr>
        <p:spPr>
          <a:xfrm>
            <a:off x="6438900" y="2781300"/>
            <a:ext cx="49530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빈 셀 처리</a:t>
            </a:r>
            <a:endParaRPr lang="en-US" sz="1425" dirty="0"/>
          </a:p>
        </p:txBody>
      </p:sp>
      <p:sp>
        <p:nvSpPr>
          <p:cNvPr id="28" name="Text 26"/>
          <p:cNvSpPr txBox="1"/>
          <p:nvPr/>
        </p:nvSpPr>
        <p:spPr>
          <a:xfrm>
            <a:off x="6438900" y="3086100"/>
            <a:ext cx="4953000" cy="781050"/>
          </a:xfrm>
          <a:prstGeom prst="rect">
            <a:avLst/>
          </a:prstGeom>
          <a:noFill/>
          <a:ln/>
        </p:spPr>
        <p:txBody>
          <a:bodyPr wrap="square" lIns="0" tIns="0" rIns="0" bIns="0" rtlCol="0" anchor="t"/>
          <a:lstStyle/>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셀에 편입 종목이 없으면 같은 테마의 타지역 셀로 비중을 재배분한다 (D-10 ③)</a:t>
            </a: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가중합이 1.0이 아니면 계산을 중단한다</a:t>
            </a:r>
            <a:endParaRPr lang="en-US" sz="1050" dirty="0"/>
          </a:p>
        </p:txBody>
      </p:sp>
      <p:sp>
        <p:nvSpPr>
          <p:cNvPr id="29" name="Shape 27"/>
          <p:cNvSpPr/>
          <p:nvPr/>
        </p:nvSpPr>
        <p:spPr>
          <a:xfrm>
            <a:off x="609600" y="4305300"/>
            <a:ext cx="10972800" cy="1714500"/>
          </a:xfrm>
          <a:prstGeom prst="roundRect">
            <a:avLst>
              <a:gd name="adj" fmla="val 8889"/>
            </a:avLst>
          </a:prstGeom>
          <a:solidFill>
            <a:srgbClr val="F7F8FA"/>
          </a:solidFill>
          <a:ln w="12700">
            <a:solidFill>
              <a:srgbClr val="A8AAB2"/>
            </a:solidFill>
            <a:prstDash val="dash"/>
          </a:ln>
        </p:spPr>
        <p:txBody>
          <a:bodyPr/>
          <a:lstStyle/>
          <a:p>
            <a:endParaRPr lang="ko-KR" altLang="en-US"/>
          </a:p>
        </p:txBody>
      </p:sp>
      <p:sp>
        <p:nvSpPr>
          <p:cNvPr id="30" name="Shape 28"/>
          <p:cNvSpPr/>
          <p:nvPr/>
        </p:nvSpPr>
        <p:spPr>
          <a:xfrm>
            <a:off x="800100" y="4476750"/>
            <a:ext cx="746760" cy="209550"/>
          </a:xfrm>
          <a:prstGeom prst="roundRect">
            <a:avLst>
              <a:gd name="adj" fmla="val 50000"/>
            </a:avLst>
          </a:prstGeom>
          <a:solidFill>
            <a:srgbClr val="F2F3F5"/>
          </a:solidFill>
          <a:ln/>
        </p:spPr>
        <p:txBody>
          <a:bodyPr/>
          <a:lstStyle/>
          <a:p>
            <a:endParaRPr lang="ko-KR" altLang="en-US"/>
          </a:p>
        </p:txBody>
      </p:sp>
      <p:sp>
        <p:nvSpPr>
          <p:cNvPr id="31" name="Text 29"/>
          <p:cNvSpPr txBox="1"/>
          <p:nvPr/>
        </p:nvSpPr>
        <p:spPr>
          <a:xfrm>
            <a:off x="800100" y="447675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추주원 제공</a:t>
            </a:r>
            <a:endParaRPr lang="en-US" sz="900" dirty="0"/>
          </a:p>
        </p:txBody>
      </p:sp>
      <p:sp>
        <p:nvSpPr>
          <p:cNvPr id="32" name="Text 30"/>
          <p:cNvSpPr txBox="1"/>
          <p:nvPr/>
        </p:nvSpPr>
        <p:spPr>
          <a:xfrm>
            <a:off x="800100" y="4762500"/>
            <a:ext cx="10591800" cy="110490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가중 방식 3종 비교표 — 유동시총가중 / 동일가중 / 팩터가중의 변동성 · 회전율 · 집중도 비교</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선별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벤치마크 2층 구조</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시장 대비 차별성과 기성 테마 상품 대비 차별성을 나눠서 봅니다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15</a:t>
            </a:r>
            <a:endParaRPr lang="en-US" sz="900" dirty="0"/>
          </a:p>
        </p:txBody>
      </p:sp>
      <p:sp>
        <p:nvSpPr>
          <p:cNvPr id="9" name="Shape 7"/>
          <p:cNvSpPr/>
          <p:nvPr/>
        </p:nvSpPr>
        <p:spPr>
          <a:xfrm>
            <a:off x="609600" y="2590800"/>
            <a:ext cx="5372100" cy="1619250"/>
          </a:xfrm>
          <a:prstGeom prst="roundRect">
            <a:avLst>
              <a:gd name="adj" fmla="val 9412"/>
            </a:avLst>
          </a:prstGeom>
          <a:solidFill>
            <a:srgbClr val="FFFFFF"/>
          </a:solidFill>
          <a:ln w="12700">
            <a:solidFill>
              <a:srgbClr val="E5E7EB"/>
            </a:solidFill>
            <a:prstDash val="solid"/>
          </a:ln>
        </p:spPr>
        <p:txBody>
          <a:bodyPr/>
          <a:lstStyle/>
          <a:p>
            <a:endParaRPr lang="ko-KR" altLang="en-US"/>
          </a:p>
        </p:txBody>
      </p:sp>
      <p:sp>
        <p:nvSpPr>
          <p:cNvPr id="10" name="Text 8"/>
          <p:cNvSpPr txBox="1"/>
          <p:nvPr/>
        </p:nvSpPr>
        <p:spPr>
          <a:xfrm>
            <a:off x="8001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1차 · 시장 BM</a:t>
            </a:r>
            <a:endParaRPr lang="en-US" sz="1425" dirty="0"/>
          </a:p>
        </p:txBody>
      </p:sp>
      <p:sp>
        <p:nvSpPr>
          <p:cNvPr id="11" name="Text 9"/>
          <p:cNvSpPr txBox="1"/>
          <p:nvPr/>
        </p:nvSpPr>
        <p:spPr>
          <a:xfrm>
            <a:off x="800100" y="3086100"/>
            <a:ext cx="4991100" cy="971550"/>
          </a:xfrm>
          <a:prstGeom prst="rect">
            <a:avLst/>
          </a:prstGeom>
          <a:noFill/>
          <a:ln/>
        </p:spPr>
        <p:txBody>
          <a:bodyPr wrap="square" lIns="0" tIns="0" rIns="0" bIns="0" rtlCol="0" anchor="t"/>
          <a:lstStyle/>
          <a:p>
            <a:pPr marL="0" indent="0">
              <a:lnSpc>
                <a:spcPct val="142000"/>
              </a:lnSpc>
              <a:buNone/>
            </a:pPr>
            <a:r>
              <a:rPr lang="en-US" sz="1425" b="1" dirty="0">
                <a:solidFill>
                  <a:srgbClr val="0A0A0A"/>
                </a:solidFill>
                <a:latin typeface="Malgun Gothic" pitchFamily="34" charset="0"/>
                <a:ea typeface="Malgun Gothic" pitchFamily="34" charset="-122"/>
                <a:cs typeface="Malgun Gothic" pitchFamily="34" charset="-120"/>
              </a:rPr>
              <a:t>KOSPI 200 PR + Russell 3000 PR</a:t>
            </a:r>
            <a:endParaRPr lang="en-US" sz="1125" dirty="0"/>
          </a:p>
          <a:p>
            <a:pPr marL="0" indent="0">
              <a:lnSpc>
                <a:spcPct val="142000"/>
              </a:lnSpc>
              <a:buNone/>
            </a:pP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지수와 같은 지역비중으로 합성 → 시장 대비 차별성을 본다</a:t>
            </a:r>
            <a:endParaRPr lang="en-US" sz="1125" dirty="0"/>
          </a:p>
        </p:txBody>
      </p:sp>
      <p:sp>
        <p:nvSpPr>
          <p:cNvPr id="12" name="Shape 10"/>
          <p:cNvSpPr/>
          <p:nvPr/>
        </p:nvSpPr>
        <p:spPr>
          <a:xfrm>
            <a:off x="6210300" y="2590800"/>
            <a:ext cx="5372100" cy="1619250"/>
          </a:xfrm>
          <a:prstGeom prst="roundRect">
            <a:avLst>
              <a:gd name="adj" fmla="val 9412"/>
            </a:avLst>
          </a:prstGeom>
          <a:solidFill>
            <a:srgbClr val="FFFFFF"/>
          </a:solidFill>
          <a:ln w="12700">
            <a:solidFill>
              <a:srgbClr val="E5E7EB"/>
            </a:solidFill>
            <a:prstDash val="solid"/>
          </a:ln>
        </p:spPr>
        <p:txBody>
          <a:bodyPr/>
          <a:lstStyle/>
          <a:p>
            <a:endParaRPr lang="ko-KR" altLang="en-US"/>
          </a:p>
        </p:txBody>
      </p:sp>
      <p:sp>
        <p:nvSpPr>
          <p:cNvPr id="13" name="Text 11"/>
          <p:cNvSpPr txBox="1"/>
          <p:nvPr/>
        </p:nvSpPr>
        <p:spPr>
          <a:xfrm>
            <a:off x="64008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2차 · 테마 참고 BM</a:t>
            </a:r>
            <a:endParaRPr lang="en-US" sz="1425" dirty="0"/>
          </a:p>
        </p:txBody>
      </p:sp>
      <p:sp>
        <p:nvSpPr>
          <p:cNvPr id="14" name="Text 12"/>
          <p:cNvSpPr txBox="1"/>
          <p:nvPr/>
        </p:nvSpPr>
        <p:spPr>
          <a:xfrm>
            <a:off x="6400800" y="3086100"/>
            <a:ext cx="4991100" cy="971550"/>
          </a:xfrm>
          <a:prstGeom prst="rect">
            <a:avLst/>
          </a:prstGeom>
          <a:noFill/>
          <a:ln/>
        </p:spPr>
        <p:txBody>
          <a:bodyPr wrap="square" lIns="0" tIns="0" rIns="0" bIns="0" rtlCol="0" anchor="t"/>
          <a:lstStyle/>
          <a:p>
            <a:pPr marL="0" indent="0">
              <a:lnSpc>
                <a:spcPct val="142000"/>
              </a:lnSpc>
              <a:buNone/>
            </a:pPr>
            <a:r>
              <a:rPr lang="en-US" sz="1425" b="1" dirty="0">
                <a:solidFill>
                  <a:srgbClr val="0A0A0A"/>
                </a:solidFill>
                <a:latin typeface="Malgun Gothic" pitchFamily="34" charset="0"/>
                <a:ea typeface="Malgun Gothic" pitchFamily="34" charset="-122"/>
                <a:cs typeface="Malgun Gothic" pitchFamily="34" charset="-120"/>
              </a:rPr>
              <a:t>ITA · BOTZ · GRID</a:t>
            </a:r>
            <a:endParaRPr lang="en-US" sz="1125" dirty="0"/>
          </a:p>
          <a:p>
            <a:pPr marL="0" indent="0">
              <a:lnSpc>
                <a:spcPct val="142000"/>
              </a:lnSpc>
              <a:buNone/>
            </a:pP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기성 테마 ETF 3종 → 상품 대비 차별성을 본다</a:t>
            </a:r>
            <a:endParaRPr lang="en-US" sz="1125" dirty="0"/>
          </a:p>
        </p:txBody>
      </p:sp>
      <p:sp>
        <p:nvSpPr>
          <p:cNvPr id="15" name="Shape 13"/>
          <p:cNvSpPr/>
          <p:nvPr/>
        </p:nvSpPr>
        <p:spPr>
          <a:xfrm>
            <a:off x="609600" y="4419600"/>
            <a:ext cx="6667500" cy="1600200"/>
          </a:xfrm>
          <a:prstGeom prst="roundRect">
            <a:avLst>
              <a:gd name="adj" fmla="val 19048"/>
            </a:avLst>
          </a:prstGeom>
          <a:solidFill>
            <a:srgbClr val="0A0A0A"/>
          </a:solidFill>
          <a:ln/>
        </p:spPr>
        <p:txBody>
          <a:bodyPr/>
          <a:lstStyle/>
          <a:p>
            <a:endParaRPr lang="ko-KR" altLang="en-US"/>
          </a:p>
        </p:txBody>
      </p:sp>
      <p:sp>
        <p:nvSpPr>
          <p:cNvPr id="16" name="Text 14"/>
          <p:cNvSpPr txBox="1"/>
          <p:nvPr/>
        </p:nvSpPr>
        <p:spPr>
          <a:xfrm>
            <a:off x="914400" y="4686300"/>
            <a:ext cx="6057900" cy="228600"/>
          </a:xfrm>
          <a:prstGeom prst="rect">
            <a:avLst/>
          </a:prstGeom>
          <a:noFill/>
          <a:ln/>
        </p:spPr>
        <p:txBody>
          <a:bodyPr wrap="square" lIns="0" tIns="0" rIns="0" bIns="0" rtlCol="0" anchor="ctr"/>
          <a:lstStyle/>
          <a:p>
            <a:pPr marL="0" indent="0">
              <a:buNone/>
            </a:pPr>
            <a:r>
              <a:rPr lang="en-US" sz="1125" b="1" dirty="0">
                <a:solidFill>
                  <a:srgbClr val="FF5530"/>
                </a:solidFill>
                <a:latin typeface="Malgun Gothic" pitchFamily="34" charset="0"/>
                <a:ea typeface="Malgun Gothic" pitchFamily="34" charset="-122"/>
                <a:cs typeface="Malgun Gothic" pitchFamily="34" charset="-120"/>
              </a:rPr>
              <a:t>지역비중을 1:1로 미러링하는 이유</a:t>
            </a:r>
            <a:endParaRPr lang="en-US" sz="1125" dirty="0"/>
          </a:p>
        </p:txBody>
      </p:sp>
      <p:sp>
        <p:nvSpPr>
          <p:cNvPr id="17" name="Text 15"/>
          <p:cNvSpPr txBox="1"/>
          <p:nvPr/>
        </p:nvSpPr>
        <p:spPr>
          <a:xfrm>
            <a:off x="914400" y="5010150"/>
            <a:ext cx="6057900" cy="762000"/>
          </a:xfrm>
          <a:prstGeom prst="rect">
            <a:avLst/>
          </a:prstGeom>
          <a:noFill/>
          <a:ln/>
        </p:spPr>
        <p:txBody>
          <a:bodyPr wrap="square" lIns="0" tIns="0" rIns="0" bIns="0" rtlCol="0" anchor="t"/>
          <a:lstStyle/>
          <a:p>
            <a:pPr marL="0" indent="0">
              <a:lnSpc>
                <a:spcPct val="140000"/>
              </a:lnSpc>
              <a:buNone/>
            </a:pPr>
            <a:r>
              <a:rPr lang="en-US" sz="1575" b="1" dirty="0">
                <a:solidFill>
                  <a:srgbClr val="FFFFFF"/>
                </a:solidFill>
                <a:latin typeface="Malgun Gothic" pitchFamily="34" charset="0"/>
                <a:ea typeface="Malgun Gothic" pitchFamily="34" charset="-122"/>
                <a:cs typeface="Malgun Gothic" pitchFamily="34" charset="-120"/>
              </a:rPr>
              <a:t>단순 국가배분 효과를 제거하고</a:t>
            </a:r>
            <a:endParaRPr lang="en-US" sz="1575" dirty="0"/>
          </a:p>
          <a:p>
            <a:pPr marL="0" indent="0">
              <a:lnSpc>
                <a:spcPct val="140000"/>
              </a:lnSpc>
              <a:buNone/>
            </a:pPr>
            <a:r>
              <a:rPr lang="en-US" sz="1575" b="1" dirty="0">
                <a:solidFill>
                  <a:srgbClr val="FFFFFF"/>
                </a:solidFill>
                <a:latin typeface="Malgun Gothic" pitchFamily="34" charset="0"/>
                <a:ea typeface="Malgun Gothic" pitchFamily="34" charset="-122"/>
                <a:cs typeface="Malgun Gothic" pitchFamily="34" charset="-120"/>
              </a:rPr>
              <a:t>종목 선별 효과만 남기기 위해서입니다.</a:t>
            </a:r>
            <a:endParaRPr lang="en-US" sz="1575" dirty="0"/>
          </a:p>
        </p:txBody>
      </p:sp>
      <p:sp>
        <p:nvSpPr>
          <p:cNvPr id="18" name="Shape 16"/>
          <p:cNvSpPr/>
          <p:nvPr/>
        </p:nvSpPr>
        <p:spPr>
          <a:xfrm>
            <a:off x="7505700" y="4419600"/>
            <a:ext cx="4076700" cy="1600200"/>
          </a:xfrm>
          <a:prstGeom prst="roundRect">
            <a:avLst>
              <a:gd name="adj" fmla="val 9524"/>
            </a:avLst>
          </a:prstGeom>
          <a:solidFill>
            <a:srgbClr val="F7F8FA"/>
          </a:solidFill>
          <a:ln w="12700">
            <a:solidFill>
              <a:srgbClr val="A8AAB2"/>
            </a:solidFill>
            <a:prstDash val="dash"/>
          </a:ln>
        </p:spPr>
        <p:txBody>
          <a:bodyPr/>
          <a:lstStyle/>
          <a:p>
            <a:endParaRPr lang="ko-KR" altLang="en-US"/>
          </a:p>
        </p:txBody>
      </p:sp>
      <p:sp>
        <p:nvSpPr>
          <p:cNvPr id="19" name="Shape 17"/>
          <p:cNvSpPr/>
          <p:nvPr/>
        </p:nvSpPr>
        <p:spPr>
          <a:xfrm>
            <a:off x="7696200" y="4591050"/>
            <a:ext cx="746760" cy="209550"/>
          </a:xfrm>
          <a:prstGeom prst="roundRect">
            <a:avLst>
              <a:gd name="adj" fmla="val 50000"/>
            </a:avLst>
          </a:prstGeom>
          <a:solidFill>
            <a:srgbClr val="F2F3F5"/>
          </a:solidFill>
          <a:ln/>
        </p:spPr>
        <p:txBody>
          <a:bodyPr/>
          <a:lstStyle/>
          <a:p>
            <a:endParaRPr lang="ko-KR" altLang="en-US"/>
          </a:p>
        </p:txBody>
      </p:sp>
      <p:sp>
        <p:nvSpPr>
          <p:cNvPr id="20" name="Text 18"/>
          <p:cNvSpPr txBox="1"/>
          <p:nvPr/>
        </p:nvSpPr>
        <p:spPr>
          <a:xfrm>
            <a:off x="7696200" y="4591050"/>
            <a:ext cx="746760" cy="209550"/>
          </a:xfrm>
          <a:prstGeom prst="rect">
            <a:avLst/>
          </a:prstGeom>
          <a:noFill/>
          <a:ln/>
        </p:spPr>
        <p:txBody>
          <a:bodyPr wrap="square" lIns="0" tIns="0" rIns="0" bIns="0" rtlCol="0" anchor="ctr"/>
          <a:lstStyle/>
          <a:p>
            <a:pPr marL="0" indent="0" algn="ctr">
              <a:buNone/>
            </a:pPr>
            <a:r>
              <a:rPr lang="en-US" sz="900" b="1" dirty="0">
                <a:solidFill>
                  <a:srgbClr val="5F5F5F"/>
                </a:solidFill>
                <a:latin typeface="Malgun Gothic" pitchFamily="34" charset="0"/>
                <a:ea typeface="Malgun Gothic" pitchFamily="34" charset="-122"/>
                <a:cs typeface="Malgun Gothic" pitchFamily="34" charset="-120"/>
              </a:rPr>
              <a:t>추주원 제공</a:t>
            </a:r>
            <a:endParaRPr lang="en-US" sz="900" dirty="0"/>
          </a:p>
        </p:txBody>
      </p:sp>
      <p:sp>
        <p:nvSpPr>
          <p:cNvPr id="21" name="Text 19"/>
          <p:cNvSpPr txBox="1"/>
          <p:nvPr/>
        </p:nvSpPr>
        <p:spPr>
          <a:xfrm>
            <a:off x="7696200" y="4876800"/>
            <a:ext cx="3695700" cy="990600"/>
          </a:xfrm>
          <a:prstGeom prst="rect">
            <a:avLst/>
          </a:prstGeom>
          <a:noFill/>
          <a:ln/>
        </p:spPr>
        <p:txBody>
          <a:bodyPr wrap="square" lIns="0" tIns="0" rIns="0" bIns="0" rtlCol="0" anchor="t"/>
          <a:lstStyle/>
          <a:p>
            <a:pPr marL="0" indent="0">
              <a:lnSpc>
                <a:spcPct val="140000"/>
              </a:lnSpc>
              <a:buNone/>
            </a:pPr>
            <a:r>
              <a:rPr lang="en-US" sz="1125" dirty="0">
                <a:solidFill>
                  <a:srgbClr val="8E8E93"/>
                </a:solidFill>
                <a:latin typeface="Malgun Gothic" pitchFamily="34" charset="0"/>
                <a:ea typeface="Malgun Gothic" pitchFamily="34" charset="-122"/>
                <a:cs typeface="Malgun Gothic" pitchFamily="34" charset="-120"/>
              </a:rPr>
              <a:t>2층 BM 구조도 — 시장 BM과 테마 참고 BM의 관계</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2B180C-5010-9151-8E57-EC1E16E69D28}"/>
              </a:ext>
            </a:extLst>
          </p:cNvPr>
          <p:cNvSpPr txBox="1"/>
          <p:nvPr/>
        </p:nvSpPr>
        <p:spPr>
          <a:xfrm>
            <a:off x="609600" y="381000"/>
            <a:ext cx="2857500" cy="323165"/>
          </a:xfrm>
          <a:prstGeom prst="rect">
            <a:avLst/>
          </a:prstGeom>
          <a:noFill/>
        </p:spPr>
        <p:txBody>
          <a:bodyPr vert="horz" rtlCol="0">
            <a:spAutoFit/>
          </a:bodyPr>
          <a:lstStyle/>
          <a:p>
            <a:r>
              <a:rPr lang="en-US" altLang="ko-KR" sz="1500" b="1">
                <a:solidFill>
                  <a:srgbClr val="0A0A0A"/>
                </a:solidFill>
                <a:latin typeface="맑은 고딕" panose="020B0503020000020004" pitchFamily="50" charset="-127"/>
              </a:rPr>
              <a:t>AI </a:t>
            </a:r>
            <a:r>
              <a:rPr lang="ko-KR" altLang="en-US" sz="1500" b="1">
                <a:solidFill>
                  <a:srgbClr val="0A0A0A"/>
                </a:solidFill>
                <a:latin typeface="맑은 고딕" panose="020B0503020000020004" pitchFamily="50" charset="-127"/>
              </a:rPr>
              <a:t>퀀트 </a:t>
            </a:r>
            <a:r>
              <a:rPr lang="en-US" altLang="ko-KR" sz="1500" b="1">
                <a:solidFill>
                  <a:srgbClr val="0A0A0A"/>
                </a:solidFill>
                <a:latin typeface="맑은 고딕" panose="020B0503020000020004" pitchFamily="50" charset="-127"/>
              </a:rPr>
              <a:t>3</a:t>
            </a:r>
            <a:r>
              <a:rPr lang="ko-KR" altLang="en-US" sz="1500" b="1">
                <a:solidFill>
                  <a:srgbClr val="0A0A0A"/>
                </a:solidFill>
                <a:latin typeface="맑은 고딕" panose="020B0503020000020004" pitchFamily="50" charset="-127"/>
              </a:rPr>
              <a:t>기</a:t>
            </a:r>
          </a:p>
        </p:txBody>
      </p:sp>
      <p:sp>
        <p:nvSpPr>
          <p:cNvPr id="3" name="TextBox 2">
            <a:extLst>
              <a:ext uri="{FF2B5EF4-FFF2-40B4-BE49-F238E27FC236}">
                <a16:creationId xmlns:a16="http://schemas.microsoft.com/office/drawing/2014/main" id="{0741FAD1-79A7-146F-6808-29AD5F60BDF8}"/>
              </a:ext>
            </a:extLst>
          </p:cNvPr>
          <p:cNvSpPr txBox="1"/>
          <p:nvPr/>
        </p:nvSpPr>
        <p:spPr>
          <a:xfrm>
            <a:off x="609600" y="914400"/>
            <a:ext cx="4762500" cy="253916"/>
          </a:xfrm>
          <a:prstGeom prst="rect">
            <a:avLst/>
          </a:prstGeom>
          <a:noFill/>
        </p:spPr>
        <p:txBody>
          <a:bodyPr vert="horz" rtlCol="0">
            <a:spAutoFit/>
          </a:bodyPr>
          <a:lstStyle/>
          <a:p>
            <a:r>
              <a:rPr lang="en-US" altLang="ko-KR" sz="1050" b="1" dirty="0" err="1">
                <a:solidFill>
                  <a:srgbClr val="5F5F5F"/>
                </a:solidFill>
                <a:latin typeface="Malgun Gothic" pitchFamily="34" charset="0"/>
                <a:ea typeface="Malgun Gothic" pitchFamily="34" charset="-122"/>
                <a:cs typeface="Malgun Gothic" pitchFamily="34" charset="-120"/>
              </a:rPr>
              <a:t>선별</a:t>
            </a:r>
            <a:r>
              <a:rPr lang="en-US" altLang="ko-KR" sz="1050" b="1" dirty="0">
                <a:solidFill>
                  <a:srgbClr val="5F5F5F"/>
                </a:solidFill>
                <a:latin typeface="Malgun Gothic" pitchFamily="34" charset="0"/>
                <a:ea typeface="Malgun Gothic" pitchFamily="34" charset="-122"/>
                <a:cs typeface="Malgun Gothic" pitchFamily="34" charset="-120"/>
              </a:rPr>
              <a:t> · 추주원</a:t>
            </a:r>
            <a:endParaRPr lang="en-US" altLang="ko-KR" sz="1050" dirty="0"/>
          </a:p>
        </p:txBody>
      </p:sp>
      <p:sp>
        <p:nvSpPr>
          <p:cNvPr id="4" name="TextBox 3">
            <a:extLst>
              <a:ext uri="{FF2B5EF4-FFF2-40B4-BE49-F238E27FC236}">
                <a16:creationId xmlns:a16="http://schemas.microsoft.com/office/drawing/2014/main" id="{AEA5611F-9CA8-796B-8BCD-811F6C4696D0}"/>
              </a:ext>
            </a:extLst>
          </p:cNvPr>
          <p:cNvSpPr txBox="1"/>
          <p:nvPr/>
        </p:nvSpPr>
        <p:spPr>
          <a:xfrm>
            <a:off x="609600" y="1257300"/>
            <a:ext cx="9525000" cy="553998"/>
          </a:xfrm>
          <a:prstGeom prst="rect">
            <a:avLst/>
          </a:prstGeom>
          <a:noFill/>
        </p:spPr>
        <p:txBody>
          <a:bodyPr vert="horz" rtlCol="0">
            <a:spAutoFit/>
          </a:bodyPr>
          <a:lstStyle/>
          <a:p>
            <a:r>
              <a:rPr lang="en-US" altLang="ko-KR" sz="3000" b="1">
                <a:solidFill>
                  <a:srgbClr val="0A0A0A"/>
                </a:solidFill>
                <a:latin typeface="맑은 고딕" panose="020B0503020000020004" pitchFamily="50" charset="-127"/>
              </a:rPr>
              <a:t>6</a:t>
            </a:r>
            <a:r>
              <a:rPr lang="ko-KR" altLang="en-US" sz="3000" b="1">
                <a:solidFill>
                  <a:srgbClr val="0A0A0A"/>
                </a:solidFill>
                <a:latin typeface="맑은 고딕" panose="020B0503020000020004" pitchFamily="50" charset="-127"/>
              </a:rPr>
              <a:t>셀</a:t>
            </a:r>
            <a:r>
              <a:rPr lang="en-US" altLang="ko-KR" sz="3000" b="1">
                <a:solidFill>
                  <a:srgbClr val="0A0A0A"/>
                </a:solidFill>
                <a:latin typeface="맑은 고딕" panose="020B0503020000020004" pitchFamily="50" charset="-127"/>
              </a:rPr>
              <a:t>(Cell) 1/6 </a:t>
            </a:r>
            <a:r>
              <a:rPr lang="ko-KR" altLang="en-US" sz="3000" b="1">
                <a:solidFill>
                  <a:srgbClr val="0A0A0A"/>
                </a:solidFill>
                <a:latin typeface="맑은 고딕" panose="020B0503020000020004" pitchFamily="50" charset="-127"/>
              </a:rPr>
              <a:t>목표 가중치 산출</a:t>
            </a:r>
          </a:p>
        </p:txBody>
      </p:sp>
      <p:sp>
        <p:nvSpPr>
          <p:cNvPr id="5" name="TextBox 4">
            <a:extLst>
              <a:ext uri="{FF2B5EF4-FFF2-40B4-BE49-F238E27FC236}">
                <a16:creationId xmlns:a16="http://schemas.microsoft.com/office/drawing/2014/main" id="{BEA9929E-975B-8913-86D3-CFECEBF8ABB7}"/>
              </a:ext>
            </a:extLst>
          </p:cNvPr>
          <p:cNvSpPr txBox="1"/>
          <p:nvPr/>
        </p:nvSpPr>
        <p:spPr>
          <a:xfrm>
            <a:off x="609600" y="1866900"/>
            <a:ext cx="9525000" cy="300082"/>
          </a:xfrm>
          <a:prstGeom prst="rect">
            <a:avLst/>
          </a:prstGeom>
          <a:noFill/>
        </p:spPr>
        <p:txBody>
          <a:bodyPr vert="horz" rtlCol="0">
            <a:spAutoFit/>
          </a:bodyPr>
          <a:lstStyle/>
          <a:p>
            <a:r>
              <a:rPr lang="en-US" altLang="ko-KR" sz="1350">
                <a:solidFill>
                  <a:srgbClr val="45515E"/>
                </a:solidFill>
                <a:latin typeface="맑은 고딕" panose="020B0503020000020004" pitchFamily="50" charset="-127"/>
              </a:rPr>
              <a:t>indicator_prototype_v5.py </a:t>
            </a:r>
            <a:r>
              <a:rPr lang="ko-KR" altLang="en-US" sz="1350">
                <a:solidFill>
                  <a:srgbClr val="45515E"/>
                </a:solidFill>
                <a:latin typeface="맑은 고딕" panose="020B0503020000020004" pitchFamily="50" charset="-127"/>
              </a:rPr>
              <a:t>기반 가중치 할당 메커니즘</a:t>
            </a:r>
          </a:p>
        </p:txBody>
      </p:sp>
      <p:cxnSp>
        <p:nvCxnSpPr>
          <p:cNvPr id="6" name="직선 연결선 5">
            <a:extLst>
              <a:ext uri="{FF2B5EF4-FFF2-40B4-BE49-F238E27FC236}">
                <a16:creationId xmlns:a16="http://schemas.microsoft.com/office/drawing/2014/main" id="{53784019-399F-DCCE-F1AB-1BB582917E40}"/>
              </a:ext>
            </a:extLst>
          </p:cNvPr>
          <p:cNvCxnSpPr/>
          <p:nvPr/>
        </p:nvCxnSpPr>
        <p:spPr>
          <a:xfrm>
            <a:off x="609600" y="2286000"/>
            <a:ext cx="10972800" cy="0"/>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사각형: 둥근 모서리 6">
            <a:extLst>
              <a:ext uri="{FF2B5EF4-FFF2-40B4-BE49-F238E27FC236}">
                <a16:creationId xmlns:a16="http://schemas.microsoft.com/office/drawing/2014/main" id="{ABE2F6B9-DE63-C723-270A-6D48ADBBA642}"/>
              </a:ext>
            </a:extLst>
          </p:cNvPr>
          <p:cNvSpPr/>
          <p:nvPr/>
        </p:nvSpPr>
        <p:spPr>
          <a:xfrm>
            <a:off x="609600" y="2514600"/>
            <a:ext cx="10972800" cy="3657600"/>
          </a:xfrm>
          <a:prstGeom prst="roundRect">
            <a:avLst>
              <a:gd name="adj" fmla="val 4000"/>
            </a:avLst>
          </a:prstGeom>
          <a:solidFill>
            <a:srgbClr val="F5F5F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1350"/>
          </a:p>
        </p:txBody>
      </p:sp>
      <p:sp>
        <p:nvSpPr>
          <p:cNvPr id="8" name="TextBox 7">
            <a:extLst>
              <a:ext uri="{FF2B5EF4-FFF2-40B4-BE49-F238E27FC236}">
                <a16:creationId xmlns:a16="http://schemas.microsoft.com/office/drawing/2014/main" id="{2B9094E3-DBA5-1011-B8F4-DAE2D30E7C33}"/>
              </a:ext>
            </a:extLst>
          </p:cNvPr>
          <p:cNvSpPr txBox="1"/>
          <p:nvPr/>
        </p:nvSpPr>
        <p:spPr>
          <a:xfrm>
            <a:off x="914400" y="2819401"/>
            <a:ext cx="10363200" cy="2585323"/>
          </a:xfrm>
          <a:prstGeom prst="rect">
            <a:avLst/>
          </a:prstGeom>
          <a:noFill/>
        </p:spPr>
        <p:txBody>
          <a:bodyPr vert="horz" rtlCol="0">
            <a:spAutoFit/>
          </a:bodyPr>
          <a:lstStyle/>
          <a:p>
            <a:pPr marL="342900" indent="-342900">
              <a:buAutoNum type="arabicPeriod"/>
            </a:pPr>
            <a:r>
              <a:rPr lang="ko-KR" altLang="en-US" sz="1500" b="1" dirty="0">
                <a:latin typeface="맑은 고딕" panose="020B0503020000020004" pitchFamily="50" charset="-127"/>
              </a:rPr>
              <a:t>테마 및 국가별 </a:t>
            </a:r>
            <a:r>
              <a:rPr lang="ko-KR" altLang="en-US" sz="1500" b="1" dirty="0" err="1">
                <a:latin typeface="맑은 고딕" panose="020B0503020000020004" pitchFamily="50" charset="-127"/>
              </a:rPr>
              <a:t>종목수</a:t>
            </a:r>
            <a:r>
              <a:rPr lang="en-US" altLang="ko-KR" sz="1500" b="1" dirty="0">
                <a:latin typeface="맑은 고딕" panose="020B0503020000020004" pitchFamily="50" charset="-127"/>
              </a:rPr>
              <a:t>(</a:t>
            </a:r>
            <a:r>
              <a:rPr lang="en-US" altLang="ko-KR" sz="1500" b="1" dirty="0" err="1">
                <a:latin typeface="맑은 고딕" panose="020B0503020000020004" pitchFamily="50" charset="-127"/>
              </a:rPr>
              <a:t>stock_count</a:t>
            </a:r>
            <a:r>
              <a:rPr lang="en-US" altLang="ko-KR" sz="1500" b="1" dirty="0">
                <a:latin typeface="맑은 고딕" panose="020B0503020000020004" pitchFamily="50" charset="-127"/>
              </a:rPr>
              <a:t>) </a:t>
            </a:r>
            <a:r>
              <a:rPr lang="ko-KR" altLang="en-US" sz="1500" b="1" dirty="0">
                <a:latin typeface="맑은 고딕" panose="020B0503020000020004" pitchFamily="50" charset="-127"/>
              </a:rPr>
              <a:t>카운트 메커니즘</a:t>
            </a:r>
            <a:endParaRPr lang="en-US" altLang="ko-KR" sz="1500" b="1" dirty="0">
              <a:latin typeface="맑은 고딕" panose="020B0503020000020004" pitchFamily="50" charset="-127"/>
            </a:endParaRPr>
          </a:p>
          <a:p>
            <a:pPr marL="342900" indent="-342900">
              <a:buAutoNum type="arabicPeriod"/>
            </a:pPr>
            <a:endParaRPr lang="ko-KR" altLang="en-US" sz="1500" b="1" dirty="0">
              <a:latin typeface="맑은 고딕" panose="020B0503020000020004" pitchFamily="50" charset="-127"/>
            </a:endParaRPr>
          </a:p>
          <a:p>
            <a:r>
              <a:rPr lang="en-US" altLang="ko-KR" sz="1200" dirty="0">
                <a:latin typeface="맑은 고딕" panose="020B0503020000020004" pitchFamily="50" charset="-127"/>
              </a:rPr>
              <a:t>	-</a:t>
            </a:r>
            <a:r>
              <a:rPr lang="ko-KR" altLang="en-US" sz="1200" dirty="0">
                <a:latin typeface="맑은 고딕" panose="020B0503020000020004" pitchFamily="50" charset="-127"/>
              </a:rPr>
              <a:t> </a:t>
            </a:r>
            <a:r>
              <a:rPr lang="en-US" altLang="ko-KR" sz="1200" dirty="0" err="1">
                <a:latin typeface="맑은 고딕" panose="020B0503020000020004" pitchFamily="50" charset="-127"/>
              </a:rPr>
              <a:t>df.groupby</a:t>
            </a:r>
            <a:r>
              <a:rPr lang="en-US" altLang="ko-KR" sz="1200" dirty="0">
                <a:latin typeface="맑은 고딕" panose="020B0503020000020004" pitchFamily="50" charset="-127"/>
              </a:rPr>
              <a:t>(['market', 'theme']).size()</a:t>
            </a:r>
          </a:p>
          <a:p>
            <a:endParaRPr lang="en-US" altLang="ko-KR" sz="1200" b="1" dirty="0">
              <a:latin typeface="맑은 고딕" panose="020B0503020000020004" pitchFamily="50" charset="-127"/>
            </a:endParaRPr>
          </a:p>
          <a:p>
            <a:r>
              <a:rPr lang="en-US" altLang="ko-KR" sz="1500" b="1" dirty="0">
                <a:latin typeface="맑은 고딕" panose="020B0503020000020004" pitchFamily="50" charset="-127"/>
              </a:rPr>
              <a:t>2. R11 </a:t>
            </a:r>
            <a:r>
              <a:rPr lang="ko-KR" altLang="en-US" sz="1500" b="1" dirty="0">
                <a:latin typeface="맑은 고딕" panose="020B0503020000020004" pitchFamily="50" charset="-127"/>
              </a:rPr>
              <a:t>절대 규칙 적용</a:t>
            </a:r>
            <a:r>
              <a:rPr lang="en-US" altLang="ko-KR" sz="1500" b="1" dirty="0">
                <a:latin typeface="맑은 고딕" panose="020B0503020000020004" pitchFamily="50" charset="-127"/>
              </a:rPr>
              <a:t>: </a:t>
            </a:r>
            <a:r>
              <a:rPr lang="ko-KR" altLang="en-US" sz="1500" b="1" dirty="0">
                <a:latin typeface="맑은 고딕" panose="020B0503020000020004" pitchFamily="50" charset="-127"/>
              </a:rPr>
              <a:t>테마 </a:t>
            </a:r>
            <a:r>
              <a:rPr lang="en-US" altLang="ko-KR" sz="1500" b="1" dirty="0">
                <a:latin typeface="맑은 고딕" panose="020B0503020000020004" pitchFamily="50" charset="-127"/>
              </a:rPr>
              <a:t>1:1:1 × </a:t>
            </a:r>
            <a:r>
              <a:rPr lang="ko-KR" altLang="en-US" sz="1500" b="1" dirty="0">
                <a:latin typeface="맑은 고딕" panose="020B0503020000020004" pitchFamily="50" charset="-127"/>
              </a:rPr>
              <a:t>지역 </a:t>
            </a:r>
            <a:r>
              <a:rPr lang="en-US" altLang="ko-KR" sz="1500" b="1" dirty="0">
                <a:latin typeface="맑은 고딕" panose="020B0503020000020004" pitchFamily="50" charset="-127"/>
              </a:rPr>
              <a:t>50:50</a:t>
            </a:r>
          </a:p>
          <a:p>
            <a:endParaRPr lang="en-US" altLang="ko-KR" sz="1500" b="1" dirty="0">
              <a:latin typeface="맑은 고딕" panose="020B0503020000020004" pitchFamily="50" charset="-127"/>
            </a:endParaRPr>
          </a:p>
          <a:p>
            <a:r>
              <a:rPr lang="en-US" altLang="ko-KR" sz="1200" dirty="0">
                <a:latin typeface="맑은 고딕" panose="020B0503020000020004" pitchFamily="50" charset="-127"/>
              </a:rPr>
              <a:t>	- </a:t>
            </a:r>
            <a:r>
              <a:rPr lang="ko-KR" altLang="en-US" sz="1200" dirty="0">
                <a:latin typeface="맑은 고딕" panose="020B0503020000020004" pitchFamily="50" charset="-127"/>
              </a:rPr>
              <a:t>총 </a:t>
            </a:r>
            <a:r>
              <a:rPr lang="en-US" altLang="ko-KR" sz="1200" dirty="0">
                <a:latin typeface="맑은 고딕" panose="020B0503020000020004" pitchFamily="50" charset="-127"/>
              </a:rPr>
              <a:t>6</a:t>
            </a:r>
            <a:r>
              <a:rPr lang="ko-KR" altLang="en-US" sz="1200" dirty="0">
                <a:latin typeface="맑은 고딕" panose="020B0503020000020004" pitchFamily="50" charset="-127"/>
              </a:rPr>
              <a:t>개의 셀</a:t>
            </a:r>
            <a:r>
              <a:rPr lang="en-US" altLang="ko-KR" sz="1200" dirty="0">
                <a:latin typeface="맑은 고딕" panose="020B0503020000020004" pitchFamily="50" charset="-127"/>
              </a:rPr>
              <a:t>(Cell)</a:t>
            </a:r>
            <a:r>
              <a:rPr lang="ko-KR" altLang="en-US" sz="1200" dirty="0">
                <a:latin typeface="맑은 고딕" panose="020B0503020000020004" pitchFamily="50" charset="-127"/>
              </a:rPr>
              <a:t>에 무조건 </a:t>
            </a:r>
            <a:r>
              <a:rPr lang="en-US" altLang="ko-KR" sz="1200" dirty="0">
                <a:latin typeface="맑은 고딕" panose="020B0503020000020004" pitchFamily="50" charset="-127"/>
              </a:rPr>
              <a:t>1/6 (</a:t>
            </a:r>
            <a:r>
              <a:rPr lang="ko-KR" altLang="en-US" sz="1200" dirty="0">
                <a:latin typeface="맑은 고딕" panose="020B0503020000020004" pitchFamily="50" charset="-127"/>
              </a:rPr>
              <a:t>약 </a:t>
            </a:r>
            <a:r>
              <a:rPr lang="en-US" altLang="ko-KR" sz="1200" dirty="0">
                <a:latin typeface="맑은 고딕" panose="020B0503020000020004" pitchFamily="50" charset="-127"/>
              </a:rPr>
              <a:t>16.67%) </a:t>
            </a:r>
            <a:r>
              <a:rPr lang="ko-KR" altLang="en-US" sz="1200" dirty="0">
                <a:latin typeface="맑은 고딕" panose="020B0503020000020004" pitchFamily="50" charset="-127"/>
              </a:rPr>
              <a:t>비중 고정 할당</a:t>
            </a:r>
          </a:p>
          <a:p>
            <a:endParaRPr lang="ko-KR" altLang="en-US" sz="1200" b="1" dirty="0">
              <a:latin typeface="맑은 고딕" panose="020B0503020000020004" pitchFamily="50" charset="-127"/>
            </a:endParaRPr>
          </a:p>
          <a:p>
            <a:r>
              <a:rPr lang="en-US" altLang="ko-KR" sz="1500" b="1" dirty="0">
                <a:latin typeface="맑은 고딕" panose="020B0503020000020004" pitchFamily="50" charset="-127"/>
              </a:rPr>
              <a:t>3. </a:t>
            </a:r>
            <a:r>
              <a:rPr lang="ko-KR" altLang="en-US" sz="1500" b="1" dirty="0">
                <a:latin typeface="맑은 고딕" panose="020B0503020000020004" pitchFamily="50" charset="-127"/>
              </a:rPr>
              <a:t>셀 내 종목 </a:t>
            </a:r>
            <a:r>
              <a:rPr lang="en-US" altLang="ko-KR" sz="1500" b="1" dirty="0">
                <a:latin typeface="맑은 고딕" panose="020B0503020000020004" pitchFamily="50" charset="-127"/>
              </a:rPr>
              <a:t>N</a:t>
            </a:r>
            <a:r>
              <a:rPr lang="ko-KR" altLang="en-US" sz="1500" b="1" dirty="0">
                <a:latin typeface="맑은 고딕" panose="020B0503020000020004" pitchFamily="50" charset="-127"/>
              </a:rPr>
              <a:t>빵 </a:t>
            </a:r>
            <a:r>
              <a:rPr lang="en-US" altLang="ko-KR" sz="1500" b="1" dirty="0">
                <a:latin typeface="맑은 고딕" panose="020B0503020000020004" pitchFamily="50" charset="-127"/>
              </a:rPr>
              <a:t>(</a:t>
            </a:r>
            <a:r>
              <a:rPr lang="ko-KR" altLang="en-US" sz="1500" b="1" dirty="0">
                <a:latin typeface="맑은 고딕" panose="020B0503020000020004" pitchFamily="50" charset="-127"/>
              </a:rPr>
              <a:t>동일 가중</a:t>
            </a:r>
            <a:r>
              <a:rPr lang="en-US" altLang="ko-KR" sz="1500" b="1" dirty="0">
                <a:latin typeface="맑은 고딕" panose="020B0503020000020004" pitchFamily="50" charset="-127"/>
              </a:rPr>
              <a:t>) </a:t>
            </a:r>
            <a:r>
              <a:rPr lang="ko-KR" altLang="en-US" sz="1500" b="1" dirty="0">
                <a:latin typeface="맑은 고딕" panose="020B0503020000020004" pitchFamily="50" charset="-127"/>
              </a:rPr>
              <a:t>분배 로직</a:t>
            </a:r>
            <a:endParaRPr lang="en-US" altLang="ko-KR" sz="1500" b="1" dirty="0">
              <a:latin typeface="맑은 고딕" panose="020B0503020000020004" pitchFamily="50" charset="-127"/>
            </a:endParaRPr>
          </a:p>
          <a:p>
            <a:endParaRPr lang="ko-KR" altLang="en-US" sz="1500" b="1" dirty="0">
              <a:latin typeface="맑은 고딕" panose="020B0503020000020004" pitchFamily="50" charset="-127"/>
            </a:endParaRPr>
          </a:p>
          <a:p>
            <a:r>
              <a:rPr lang="en-US" altLang="ko-KR" sz="1200" dirty="0">
                <a:latin typeface="맑은 고딕" panose="020B0503020000020004" pitchFamily="50" charset="-127"/>
              </a:rPr>
              <a:t>	- </a:t>
            </a:r>
            <a:r>
              <a:rPr lang="en-US" altLang="ko-KR" sz="1200" dirty="0" err="1">
                <a:latin typeface="맑은 고딕" panose="020B0503020000020004" pitchFamily="50" charset="-127"/>
              </a:rPr>
              <a:t>df</a:t>
            </a:r>
            <a:r>
              <a:rPr lang="en-US" altLang="ko-KR" sz="1200" dirty="0">
                <a:latin typeface="맑은 고딕" panose="020B0503020000020004" pitchFamily="50" charset="-127"/>
              </a:rPr>
              <a:t>['</a:t>
            </a:r>
            <a:r>
              <a:rPr lang="en-US" altLang="ko-KR" sz="1200" dirty="0" err="1">
                <a:latin typeface="맑은 고딕" panose="020B0503020000020004" pitchFamily="50" charset="-127"/>
              </a:rPr>
              <a:t>target_weight</a:t>
            </a:r>
            <a:r>
              <a:rPr lang="en-US" altLang="ko-KR" sz="1200" dirty="0">
                <a:latin typeface="맑은 고딕" panose="020B0503020000020004" pitchFamily="50" charset="-127"/>
              </a:rPr>
              <a:t>'] = (1 / 6) / </a:t>
            </a:r>
            <a:r>
              <a:rPr lang="en-US" altLang="ko-KR" sz="1200" dirty="0" err="1">
                <a:latin typeface="맑은 고딕" panose="020B0503020000020004" pitchFamily="50" charset="-127"/>
              </a:rPr>
              <a:t>df</a:t>
            </a:r>
            <a:r>
              <a:rPr lang="en-US" altLang="ko-KR" sz="1200" dirty="0">
                <a:latin typeface="맑은 고딕" panose="020B0503020000020004" pitchFamily="50" charset="-127"/>
              </a:rPr>
              <a:t>['</a:t>
            </a:r>
            <a:r>
              <a:rPr lang="en-US" altLang="ko-KR" sz="1200" dirty="0" err="1">
                <a:latin typeface="맑은 고딕" panose="020B0503020000020004" pitchFamily="50" charset="-127"/>
              </a:rPr>
              <a:t>stock_count</a:t>
            </a:r>
            <a:r>
              <a:rPr lang="en-US" altLang="ko-KR" sz="1200" dirty="0">
                <a:latin typeface="맑은 고딕" panose="020B0503020000020004" pitchFamily="50" charset="-127"/>
              </a:rPr>
              <a:t>’]</a:t>
            </a:r>
          </a:p>
          <a:p>
            <a:r>
              <a:rPr lang="en-US" altLang="ko-KR" sz="1200" dirty="0">
                <a:latin typeface="맑은 고딕" panose="020B0503020000020004" pitchFamily="50" charset="-127"/>
              </a:rPr>
              <a:t>	  </a:t>
            </a:r>
            <a:r>
              <a:rPr lang="ko-KR" altLang="en-US" sz="1200" dirty="0">
                <a:latin typeface="맑은 고딕" panose="020B0503020000020004" pitchFamily="50" charset="-127"/>
              </a:rPr>
              <a:t>특정 테마</a:t>
            </a:r>
            <a:r>
              <a:rPr lang="en-US" altLang="ko-KR" sz="1200" dirty="0">
                <a:latin typeface="맑은 고딕" panose="020B0503020000020004" pitchFamily="50" charset="-127"/>
              </a:rPr>
              <a:t>/</a:t>
            </a:r>
            <a:r>
              <a:rPr lang="ko-KR" altLang="en-US" sz="1200" dirty="0">
                <a:latin typeface="맑은 고딕" panose="020B0503020000020004" pitchFamily="50" charset="-127"/>
              </a:rPr>
              <a:t>시장에 자본 쏠림 통제</a:t>
            </a:r>
            <a:r>
              <a:rPr lang="en-US" altLang="ko-KR" sz="1200" dirty="0">
                <a:latin typeface="맑은 고딕" panose="020B0503020000020004" pitchFamily="50" charset="-127"/>
              </a:rPr>
              <a:t>, </a:t>
            </a:r>
            <a:r>
              <a:rPr lang="ko-KR" altLang="en-US" sz="1200" dirty="0">
                <a:latin typeface="맑은 고딕" panose="020B0503020000020004" pitchFamily="50" charset="-127"/>
              </a:rPr>
              <a:t>순수 알파 추구</a:t>
            </a:r>
          </a:p>
        </p:txBody>
      </p:sp>
      <p:cxnSp>
        <p:nvCxnSpPr>
          <p:cNvPr id="9" name="직선 연결선 8">
            <a:extLst>
              <a:ext uri="{FF2B5EF4-FFF2-40B4-BE49-F238E27FC236}">
                <a16:creationId xmlns:a16="http://schemas.microsoft.com/office/drawing/2014/main" id="{2CE8743F-9BA7-390E-5A2C-B9867D29EEE9}"/>
              </a:ext>
            </a:extLst>
          </p:cNvPr>
          <p:cNvCxnSpPr/>
          <p:nvPr/>
        </p:nvCxnSpPr>
        <p:spPr>
          <a:xfrm>
            <a:off x="609600" y="6324600"/>
            <a:ext cx="10972800" cy="0"/>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18B1EA2-22C4-8E5A-8FD6-D35E01F72775}"/>
              </a:ext>
            </a:extLst>
          </p:cNvPr>
          <p:cNvSpPr txBox="1"/>
          <p:nvPr/>
        </p:nvSpPr>
        <p:spPr>
          <a:xfrm>
            <a:off x="11430000" y="6457950"/>
            <a:ext cx="476250" cy="230832"/>
          </a:xfrm>
          <a:prstGeom prst="rect">
            <a:avLst/>
          </a:prstGeom>
          <a:noFill/>
        </p:spPr>
        <p:txBody>
          <a:bodyPr vert="horz" rtlCol="0">
            <a:spAutoFit/>
          </a:bodyPr>
          <a:lstStyle/>
          <a:p>
            <a:pPr algn="r"/>
            <a:r>
              <a:rPr lang="en-US" altLang="ko-KR" sz="900">
                <a:solidFill>
                  <a:srgbClr val="A8AAB2"/>
                </a:solidFill>
                <a:latin typeface="맑은 고딕" panose="020B0503020000020004" pitchFamily="50" charset="-127"/>
              </a:rPr>
              <a:t>3</a:t>
            </a:r>
            <a:endParaRPr lang="ko-KR" altLang="en-US" sz="900">
              <a:solidFill>
                <a:srgbClr val="A8AAB2"/>
              </a:solidFill>
              <a:latin typeface="맑은 고딕" panose="020B0503020000020004" pitchFamily="50" charset="-127"/>
            </a:endParaRPr>
          </a:p>
        </p:txBody>
      </p:sp>
    </p:spTree>
    <p:extLst>
      <p:ext uri="{BB962C8B-B14F-4D97-AF65-F5344CB8AC3E}">
        <p14:creationId xmlns:p14="http://schemas.microsoft.com/office/powerpoint/2010/main" val="1512661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680A-73CE-F054-9CC8-825C5D4720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5E8A1D-F483-FA5C-66FE-EEEF9A6F075D}"/>
              </a:ext>
            </a:extLst>
          </p:cNvPr>
          <p:cNvSpPr txBox="1"/>
          <p:nvPr/>
        </p:nvSpPr>
        <p:spPr>
          <a:xfrm>
            <a:off x="609600" y="381000"/>
            <a:ext cx="2857500" cy="323165"/>
          </a:xfrm>
          <a:prstGeom prst="rect">
            <a:avLst/>
          </a:prstGeom>
          <a:noFill/>
        </p:spPr>
        <p:txBody>
          <a:bodyPr vert="horz" rtlCol="0">
            <a:spAutoFit/>
          </a:bodyPr>
          <a:lstStyle/>
          <a:p>
            <a:r>
              <a:rPr lang="en-US" altLang="ko-KR" sz="1500" b="1">
                <a:solidFill>
                  <a:srgbClr val="0A0A0A"/>
                </a:solidFill>
                <a:latin typeface="맑은 고딕" panose="020B0503020000020004" pitchFamily="50" charset="-127"/>
              </a:rPr>
              <a:t>AI </a:t>
            </a:r>
            <a:r>
              <a:rPr lang="ko-KR" altLang="en-US" sz="1500" b="1">
                <a:solidFill>
                  <a:srgbClr val="0A0A0A"/>
                </a:solidFill>
                <a:latin typeface="맑은 고딕" panose="020B0503020000020004" pitchFamily="50" charset="-127"/>
              </a:rPr>
              <a:t>퀀트 </a:t>
            </a:r>
            <a:r>
              <a:rPr lang="en-US" altLang="ko-KR" sz="1500" b="1">
                <a:solidFill>
                  <a:srgbClr val="0A0A0A"/>
                </a:solidFill>
                <a:latin typeface="맑은 고딕" panose="020B0503020000020004" pitchFamily="50" charset="-127"/>
              </a:rPr>
              <a:t>3</a:t>
            </a:r>
            <a:r>
              <a:rPr lang="ko-KR" altLang="en-US" sz="1500" b="1">
                <a:solidFill>
                  <a:srgbClr val="0A0A0A"/>
                </a:solidFill>
                <a:latin typeface="맑은 고딕" panose="020B0503020000020004" pitchFamily="50" charset="-127"/>
              </a:rPr>
              <a:t>기</a:t>
            </a:r>
          </a:p>
        </p:txBody>
      </p:sp>
      <p:sp>
        <p:nvSpPr>
          <p:cNvPr id="3" name="TextBox 2">
            <a:extLst>
              <a:ext uri="{FF2B5EF4-FFF2-40B4-BE49-F238E27FC236}">
                <a16:creationId xmlns:a16="http://schemas.microsoft.com/office/drawing/2014/main" id="{FCD6BFAB-97B5-0A55-A9AF-5E5E4591EBBE}"/>
              </a:ext>
            </a:extLst>
          </p:cNvPr>
          <p:cNvSpPr txBox="1"/>
          <p:nvPr/>
        </p:nvSpPr>
        <p:spPr>
          <a:xfrm>
            <a:off x="609600" y="914400"/>
            <a:ext cx="4762500" cy="253916"/>
          </a:xfrm>
          <a:prstGeom prst="rect">
            <a:avLst/>
          </a:prstGeom>
          <a:noFill/>
        </p:spPr>
        <p:txBody>
          <a:bodyPr vert="horz" rtlCol="0">
            <a:spAutoFit/>
          </a:bodyPr>
          <a:lstStyle/>
          <a:p>
            <a:r>
              <a:rPr lang="en-US" altLang="ko-KR" sz="1050" b="1" dirty="0" err="1">
                <a:solidFill>
                  <a:srgbClr val="5F5F5F"/>
                </a:solidFill>
                <a:latin typeface="Malgun Gothic" pitchFamily="34" charset="0"/>
                <a:ea typeface="Malgun Gothic" pitchFamily="34" charset="-122"/>
                <a:cs typeface="Malgun Gothic" pitchFamily="34" charset="-120"/>
              </a:rPr>
              <a:t>선별</a:t>
            </a:r>
            <a:r>
              <a:rPr lang="en-US" altLang="ko-KR" sz="1050" b="1" dirty="0">
                <a:solidFill>
                  <a:srgbClr val="5F5F5F"/>
                </a:solidFill>
                <a:latin typeface="Malgun Gothic" pitchFamily="34" charset="0"/>
                <a:ea typeface="Malgun Gothic" pitchFamily="34" charset="-122"/>
                <a:cs typeface="Malgun Gothic" pitchFamily="34" charset="-120"/>
              </a:rPr>
              <a:t> · 추주원</a:t>
            </a:r>
            <a:endParaRPr lang="en-US" altLang="ko-KR" sz="1050" dirty="0"/>
          </a:p>
        </p:txBody>
      </p:sp>
      <p:sp>
        <p:nvSpPr>
          <p:cNvPr id="4" name="TextBox 3">
            <a:extLst>
              <a:ext uri="{FF2B5EF4-FFF2-40B4-BE49-F238E27FC236}">
                <a16:creationId xmlns:a16="http://schemas.microsoft.com/office/drawing/2014/main" id="{29D03EFB-EF02-A289-7218-FC8250E2EC47}"/>
              </a:ext>
            </a:extLst>
          </p:cNvPr>
          <p:cNvSpPr txBox="1"/>
          <p:nvPr/>
        </p:nvSpPr>
        <p:spPr>
          <a:xfrm>
            <a:off x="609600" y="1257300"/>
            <a:ext cx="9525000" cy="553998"/>
          </a:xfrm>
          <a:prstGeom prst="rect">
            <a:avLst/>
          </a:prstGeom>
          <a:noFill/>
        </p:spPr>
        <p:txBody>
          <a:bodyPr vert="horz" rtlCol="0">
            <a:spAutoFit/>
          </a:bodyPr>
          <a:lstStyle/>
          <a:p>
            <a:r>
              <a:rPr lang="ko-KR" altLang="en-US" sz="3000" b="1" dirty="0">
                <a:solidFill>
                  <a:srgbClr val="0A0A0A"/>
                </a:solidFill>
                <a:latin typeface="맑은 고딕" panose="020B0503020000020004" pitchFamily="50" charset="-127"/>
              </a:rPr>
              <a:t>인디케이터를 사용한 검증 결과물 </a:t>
            </a:r>
          </a:p>
        </p:txBody>
      </p:sp>
      <p:sp>
        <p:nvSpPr>
          <p:cNvPr id="5" name="TextBox 4">
            <a:extLst>
              <a:ext uri="{FF2B5EF4-FFF2-40B4-BE49-F238E27FC236}">
                <a16:creationId xmlns:a16="http://schemas.microsoft.com/office/drawing/2014/main" id="{B5580ED1-B274-E83F-9057-0ACB6528AC05}"/>
              </a:ext>
            </a:extLst>
          </p:cNvPr>
          <p:cNvSpPr txBox="1"/>
          <p:nvPr/>
        </p:nvSpPr>
        <p:spPr>
          <a:xfrm>
            <a:off x="609600" y="1866900"/>
            <a:ext cx="9525000" cy="300082"/>
          </a:xfrm>
          <a:prstGeom prst="rect">
            <a:avLst/>
          </a:prstGeom>
          <a:noFill/>
        </p:spPr>
        <p:txBody>
          <a:bodyPr vert="horz" rtlCol="0">
            <a:spAutoFit/>
          </a:bodyPr>
          <a:lstStyle/>
          <a:p>
            <a:r>
              <a:rPr lang="ko-KR" altLang="en-US" sz="1350" dirty="0">
                <a:solidFill>
                  <a:srgbClr val="45515E"/>
                </a:solidFill>
                <a:latin typeface="맑은 고딕" panose="020B0503020000020004" pitchFamily="50" charset="-127"/>
              </a:rPr>
              <a:t>팀 </a:t>
            </a:r>
            <a:r>
              <a:rPr lang="en-US" altLang="ko-KR" sz="1350" dirty="0">
                <a:solidFill>
                  <a:srgbClr val="45515E"/>
                </a:solidFill>
                <a:latin typeface="맑은 고딕" panose="020B0503020000020004" pitchFamily="50" charset="-127"/>
              </a:rPr>
              <a:t>seed basket</a:t>
            </a:r>
            <a:r>
              <a:rPr lang="ko-KR" altLang="en-US" sz="1350" dirty="0">
                <a:solidFill>
                  <a:srgbClr val="45515E"/>
                </a:solidFill>
                <a:latin typeface="맑은 고딕" panose="020B0503020000020004" pitchFamily="50" charset="-127"/>
              </a:rPr>
              <a:t>의 </a:t>
            </a:r>
            <a:r>
              <a:rPr lang="en-US" altLang="ko-KR" sz="1350" dirty="0">
                <a:solidFill>
                  <a:srgbClr val="45515E"/>
                </a:solidFill>
                <a:latin typeface="맑은 고딕" panose="020B0503020000020004" pitchFamily="50" charset="-127"/>
              </a:rPr>
              <a:t>18</a:t>
            </a:r>
            <a:r>
              <a:rPr lang="ko-KR" altLang="en-US" sz="1350" dirty="0">
                <a:solidFill>
                  <a:srgbClr val="45515E"/>
                </a:solidFill>
                <a:latin typeface="맑은 고딕" panose="020B0503020000020004" pitchFamily="50" charset="-127"/>
              </a:rPr>
              <a:t>종목 모두 유동성 게이트 통과</a:t>
            </a:r>
          </a:p>
        </p:txBody>
      </p:sp>
      <p:cxnSp>
        <p:nvCxnSpPr>
          <p:cNvPr id="6" name="직선 연결선 5">
            <a:extLst>
              <a:ext uri="{FF2B5EF4-FFF2-40B4-BE49-F238E27FC236}">
                <a16:creationId xmlns:a16="http://schemas.microsoft.com/office/drawing/2014/main" id="{F0B9A16F-BE58-7EFA-8A14-00305CA09741}"/>
              </a:ext>
            </a:extLst>
          </p:cNvPr>
          <p:cNvCxnSpPr/>
          <p:nvPr/>
        </p:nvCxnSpPr>
        <p:spPr>
          <a:xfrm>
            <a:off x="609600" y="2286000"/>
            <a:ext cx="10972800" cy="0"/>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7" name="사각형: 둥근 모서리 6">
            <a:extLst>
              <a:ext uri="{FF2B5EF4-FFF2-40B4-BE49-F238E27FC236}">
                <a16:creationId xmlns:a16="http://schemas.microsoft.com/office/drawing/2014/main" id="{EBF0E644-ED7D-EAC2-CCB1-6595CF449CAD}"/>
              </a:ext>
            </a:extLst>
          </p:cNvPr>
          <p:cNvSpPr/>
          <p:nvPr/>
        </p:nvSpPr>
        <p:spPr>
          <a:xfrm>
            <a:off x="609600" y="2514600"/>
            <a:ext cx="4831080" cy="3657600"/>
          </a:xfrm>
          <a:prstGeom prst="roundRect">
            <a:avLst>
              <a:gd name="adj" fmla="val 4000"/>
            </a:avLst>
          </a:prstGeom>
          <a:solidFill>
            <a:srgbClr val="F7F8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ko-KR" altLang="en-US" sz="1350"/>
          </a:p>
        </p:txBody>
      </p:sp>
      <p:sp>
        <p:nvSpPr>
          <p:cNvPr id="8" name="TextBox 7">
            <a:extLst>
              <a:ext uri="{FF2B5EF4-FFF2-40B4-BE49-F238E27FC236}">
                <a16:creationId xmlns:a16="http://schemas.microsoft.com/office/drawing/2014/main" id="{0D5AAF2C-0F2A-4F20-DFD4-4BBCCB126090}"/>
              </a:ext>
            </a:extLst>
          </p:cNvPr>
          <p:cNvSpPr txBox="1"/>
          <p:nvPr/>
        </p:nvSpPr>
        <p:spPr>
          <a:xfrm>
            <a:off x="914400" y="3293112"/>
            <a:ext cx="4324350" cy="1477328"/>
          </a:xfrm>
          <a:prstGeom prst="rect">
            <a:avLst/>
          </a:prstGeom>
          <a:noFill/>
        </p:spPr>
        <p:txBody>
          <a:bodyPr vert="horz" wrap="square" rtlCol="0">
            <a:spAutoFit/>
          </a:bodyPr>
          <a:lstStyle/>
          <a:p>
            <a:r>
              <a:rPr lang="en-US" altLang="ko-KR" b="1" dirty="0"/>
              <a:t>- </a:t>
            </a:r>
            <a:r>
              <a:rPr lang="ko-KR" altLang="en-US" b="1" dirty="0"/>
              <a:t>출력된 결과물 표 보는 법</a:t>
            </a:r>
            <a:endParaRPr lang="en-US" altLang="ko-KR" b="1" dirty="0"/>
          </a:p>
          <a:p>
            <a:endParaRPr lang="en-US" altLang="ko-KR" sz="1200" dirty="0"/>
          </a:p>
          <a:p>
            <a:r>
              <a:rPr lang="ko-KR" altLang="ko-KR" sz="1200" dirty="0"/>
              <a:t>열이 모두 </a:t>
            </a:r>
            <a:r>
              <a:rPr lang="ko-KR" altLang="ko-KR" sz="1200" dirty="0" err="1"/>
              <a:t>비어있는</a:t>
            </a:r>
            <a:r>
              <a:rPr lang="ko-KR" altLang="ko-KR" sz="1200" dirty="0"/>
              <a:t> 것은, 18개 종목 모두 유동성 게이트 등 예외 사유 없이 정상적으로 통과하여 최종 편입(SELECTED) 되었음을 뜻합니다. 만약 특정 종목이 거래 정지, ADTV90 기준치 미달, 또는 재무 결측(CALCULATION_HOLD) 등의 사유가 발생했다면 해당 열에 사유 코드가 기록되었을 것입니다.</a:t>
            </a:r>
            <a:endParaRPr lang="ko-KR" altLang="en-US" sz="1200" dirty="0">
              <a:solidFill>
                <a:srgbClr val="222222"/>
              </a:solidFill>
              <a:latin typeface="맑은 고딕" panose="020B0503020000020004" pitchFamily="50" charset="-127"/>
            </a:endParaRPr>
          </a:p>
        </p:txBody>
      </p:sp>
      <p:cxnSp>
        <p:nvCxnSpPr>
          <p:cNvPr id="9" name="직선 연결선 8">
            <a:extLst>
              <a:ext uri="{FF2B5EF4-FFF2-40B4-BE49-F238E27FC236}">
                <a16:creationId xmlns:a16="http://schemas.microsoft.com/office/drawing/2014/main" id="{2375A991-5929-7E6D-F57E-9DA7F75DF139}"/>
              </a:ext>
            </a:extLst>
          </p:cNvPr>
          <p:cNvCxnSpPr/>
          <p:nvPr/>
        </p:nvCxnSpPr>
        <p:spPr>
          <a:xfrm>
            <a:off x="609600" y="6324600"/>
            <a:ext cx="10972800" cy="0"/>
          </a:xfrm>
          <a:prstGeom prst="line">
            <a:avLst/>
          </a:prstGeom>
          <a:ln w="12700">
            <a:solidFill>
              <a:srgbClr val="E5E7EB"/>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443D239-98F6-40C8-B11E-1DB1EB097FAC}"/>
              </a:ext>
            </a:extLst>
          </p:cNvPr>
          <p:cNvSpPr txBox="1"/>
          <p:nvPr/>
        </p:nvSpPr>
        <p:spPr>
          <a:xfrm>
            <a:off x="11430000" y="6457950"/>
            <a:ext cx="476250" cy="230832"/>
          </a:xfrm>
          <a:prstGeom prst="rect">
            <a:avLst/>
          </a:prstGeom>
          <a:noFill/>
        </p:spPr>
        <p:txBody>
          <a:bodyPr vert="horz" rtlCol="0">
            <a:spAutoFit/>
          </a:bodyPr>
          <a:lstStyle/>
          <a:p>
            <a:pPr algn="r"/>
            <a:r>
              <a:rPr lang="en-US" altLang="ko-KR" sz="900">
                <a:solidFill>
                  <a:srgbClr val="A8AAB2"/>
                </a:solidFill>
                <a:latin typeface="맑은 고딕" panose="020B0503020000020004" pitchFamily="50" charset="-127"/>
              </a:rPr>
              <a:t>5</a:t>
            </a:r>
            <a:endParaRPr lang="ko-KR" altLang="en-US" sz="900">
              <a:solidFill>
                <a:srgbClr val="A8AAB2"/>
              </a:solidFill>
              <a:latin typeface="맑은 고딕" panose="020B0503020000020004" pitchFamily="50" charset="-127"/>
            </a:endParaRPr>
          </a:p>
        </p:txBody>
      </p:sp>
      <p:graphicFrame>
        <p:nvGraphicFramePr>
          <p:cNvPr id="12" name="표 11">
            <a:extLst>
              <a:ext uri="{FF2B5EF4-FFF2-40B4-BE49-F238E27FC236}">
                <a16:creationId xmlns:a16="http://schemas.microsoft.com/office/drawing/2014/main" id="{2D522E26-B310-0132-5D41-EB60D8DF016F}"/>
              </a:ext>
            </a:extLst>
          </p:cNvPr>
          <p:cNvGraphicFramePr>
            <a:graphicFrameLocks noGrp="1"/>
          </p:cNvGraphicFramePr>
          <p:nvPr>
            <p:extLst>
              <p:ext uri="{D42A27DB-BD31-4B8C-83A1-F6EECF244321}">
                <p14:modId xmlns:p14="http://schemas.microsoft.com/office/powerpoint/2010/main" val="2789178393"/>
              </p:ext>
            </p:extLst>
          </p:nvPr>
        </p:nvGraphicFramePr>
        <p:xfrm>
          <a:off x="5543550" y="2295526"/>
          <a:ext cx="6172201" cy="4016024"/>
        </p:xfrm>
        <a:graphic>
          <a:graphicData uri="http://schemas.openxmlformats.org/drawingml/2006/table">
            <a:tbl>
              <a:tblPr/>
              <a:tblGrid>
                <a:gridCol w="881743">
                  <a:extLst>
                    <a:ext uri="{9D8B030D-6E8A-4147-A177-3AD203B41FA5}">
                      <a16:colId xmlns:a16="http://schemas.microsoft.com/office/drawing/2014/main" val="4288912034"/>
                    </a:ext>
                  </a:extLst>
                </a:gridCol>
                <a:gridCol w="881743">
                  <a:extLst>
                    <a:ext uri="{9D8B030D-6E8A-4147-A177-3AD203B41FA5}">
                      <a16:colId xmlns:a16="http://schemas.microsoft.com/office/drawing/2014/main" val="1880439583"/>
                    </a:ext>
                  </a:extLst>
                </a:gridCol>
                <a:gridCol w="881743">
                  <a:extLst>
                    <a:ext uri="{9D8B030D-6E8A-4147-A177-3AD203B41FA5}">
                      <a16:colId xmlns:a16="http://schemas.microsoft.com/office/drawing/2014/main" val="2218572076"/>
                    </a:ext>
                  </a:extLst>
                </a:gridCol>
                <a:gridCol w="881743">
                  <a:extLst>
                    <a:ext uri="{9D8B030D-6E8A-4147-A177-3AD203B41FA5}">
                      <a16:colId xmlns:a16="http://schemas.microsoft.com/office/drawing/2014/main" val="2965689596"/>
                    </a:ext>
                  </a:extLst>
                </a:gridCol>
                <a:gridCol w="881743">
                  <a:extLst>
                    <a:ext uri="{9D8B030D-6E8A-4147-A177-3AD203B41FA5}">
                      <a16:colId xmlns:a16="http://schemas.microsoft.com/office/drawing/2014/main" val="3688772787"/>
                    </a:ext>
                  </a:extLst>
                </a:gridCol>
                <a:gridCol w="881743">
                  <a:extLst>
                    <a:ext uri="{9D8B030D-6E8A-4147-A177-3AD203B41FA5}">
                      <a16:colId xmlns:a16="http://schemas.microsoft.com/office/drawing/2014/main" val="2207755561"/>
                    </a:ext>
                  </a:extLst>
                </a:gridCol>
                <a:gridCol w="881743">
                  <a:extLst>
                    <a:ext uri="{9D8B030D-6E8A-4147-A177-3AD203B41FA5}">
                      <a16:colId xmlns:a16="http://schemas.microsoft.com/office/drawing/2014/main" val="1617034225"/>
                    </a:ext>
                  </a:extLst>
                </a:gridCol>
              </a:tblGrid>
              <a:tr h="198536">
                <a:tc>
                  <a:txBody>
                    <a:bodyPr/>
                    <a:lstStyle/>
                    <a:p>
                      <a:pPr marL="0" marR="0" rtl="0">
                        <a:spcAft>
                          <a:spcPts val="2400"/>
                        </a:spcAft>
                        <a:buNone/>
                      </a:pPr>
                      <a:r>
                        <a:rPr lang="ko-KR" sz="800" b="1" dirty="0" err="1">
                          <a:solidFill>
                            <a:srgbClr val="1F1F1F"/>
                          </a:solidFill>
                          <a:effectLst/>
                          <a:latin typeface="Google Sans Text"/>
                        </a:rPr>
                        <a:t>Ticker</a:t>
                      </a: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b="1">
                          <a:solidFill>
                            <a:srgbClr val="1F1F1F"/>
                          </a:solidFill>
                          <a:effectLst/>
                          <a:latin typeface="Google Sans Text"/>
                        </a:rPr>
                        <a:t>Market</a:t>
                      </a: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b="1">
                          <a:solidFill>
                            <a:srgbClr val="1F1F1F"/>
                          </a:solidFill>
                          <a:effectLst/>
                          <a:latin typeface="Google Sans Text"/>
                        </a:rPr>
                        <a:t>Theme</a:t>
                      </a: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b="1">
                          <a:solidFill>
                            <a:srgbClr val="1F1F1F"/>
                          </a:solidFill>
                          <a:effectLst/>
                          <a:latin typeface="Google Sans Text"/>
                        </a:rPr>
                        <a:t>종목명</a:t>
                      </a: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b="1">
                          <a:solidFill>
                            <a:srgbClr val="1F1F1F"/>
                          </a:solidFill>
                          <a:effectLst/>
                          <a:latin typeface="Google Sans Text"/>
                        </a:rPr>
                        <a:t>Target Weight</a:t>
                      </a: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b="1">
                          <a:solidFill>
                            <a:srgbClr val="1F1F1F"/>
                          </a:solidFill>
                          <a:effectLst/>
                          <a:latin typeface="Google Sans Text"/>
                        </a:rPr>
                        <a:t>Selection Status</a:t>
                      </a: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b="1" dirty="0" err="1">
                          <a:solidFill>
                            <a:srgbClr val="1F1F1F"/>
                          </a:solidFill>
                          <a:effectLst/>
                          <a:latin typeface="Google Sans Text"/>
                        </a:rPr>
                        <a:t>Exclusion</a:t>
                      </a:r>
                      <a:r>
                        <a:rPr lang="ko-KR" sz="800" b="1" dirty="0">
                          <a:solidFill>
                            <a:srgbClr val="1F1F1F"/>
                          </a:solidFill>
                          <a:effectLst/>
                          <a:latin typeface="Google Sans Text"/>
                        </a:rPr>
                        <a:t> </a:t>
                      </a:r>
                      <a:r>
                        <a:rPr lang="ko-KR" sz="800" b="1" dirty="0" err="1">
                          <a:solidFill>
                            <a:srgbClr val="1F1F1F"/>
                          </a:solidFill>
                          <a:effectLst/>
                          <a:latin typeface="Google Sans Text"/>
                        </a:rPr>
                        <a:t>Reasons</a:t>
                      </a: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455862224"/>
                  </a:ext>
                </a:extLst>
              </a:tr>
              <a:tr h="198536">
                <a:tc>
                  <a:txBody>
                    <a:bodyPr/>
                    <a:lstStyle/>
                    <a:p>
                      <a:pPr marL="0" marR="0" rtl="0">
                        <a:spcAft>
                          <a:spcPts val="2400"/>
                        </a:spcAft>
                        <a:buNone/>
                      </a:pPr>
                      <a:r>
                        <a:rPr lang="ko-KR" sz="800" dirty="0">
                          <a:solidFill>
                            <a:srgbClr val="1F1F1F"/>
                          </a:solidFill>
                          <a:effectLst/>
                          <a:latin typeface="Google Sans Text"/>
                        </a:rPr>
                        <a:t>018260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AI_ROBOTICS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삼성SDS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88619966"/>
                  </a:ext>
                </a:extLst>
              </a:tr>
              <a:tr h="198536">
                <a:tc>
                  <a:txBody>
                    <a:bodyPr/>
                    <a:lstStyle/>
                    <a:p>
                      <a:pPr marL="0" marR="0" rtl="0">
                        <a:spcAft>
                          <a:spcPts val="2400"/>
                        </a:spcAft>
                        <a:buNone/>
                      </a:pPr>
                      <a:r>
                        <a:rPr lang="ko-KR" sz="800">
                          <a:solidFill>
                            <a:srgbClr val="1F1F1F"/>
                          </a:solidFill>
                          <a:effectLst/>
                          <a:latin typeface="Google Sans Text"/>
                        </a:rPr>
                        <a:t>064400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AI_ROBOTICS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LG CNS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002923997"/>
                  </a:ext>
                </a:extLst>
              </a:tr>
              <a:tr h="198536">
                <a:tc>
                  <a:txBody>
                    <a:bodyPr/>
                    <a:lstStyle/>
                    <a:p>
                      <a:pPr marL="0" marR="0" rtl="0">
                        <a:spcAft>
                          <a:spcPts val="2400"/>
                        </a:spcAft>
                        <a:buNone/>
                      </a:pPr>
                      <a:r>
                        <a:rPr lang="ko-KR" sz="800">
                          <a:solidFill>
                            <a:srgbClr val="1F1F1F"/>
                          </a:solidFill>
                          <a:effectLst/>
                          <a:latin typeface="Google Sans Text"/>
                        </a:rPr>
                        <a:t>307950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AI_ROBOTICS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현대오토에버</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332317254"/>
                  </a:ext>
                </a:extLst>
              </a:tr>
              <a:tr h="198536">
                <a:tc>
                  <a:txBody>
                    <a:bodyPr/>
                    <a:lstStyle/>
                    <a:p>
                      <a:pPr marL="0" marR="0" rtl="0">
                        <a:spcAft>
                          <a:spcPts val="2400"/>
                        </a:spcAft>
                        <a:buNone/>
                      </a:pPr>
                      <a:r>
                        <a:rPr lang="ko-KR" sz="800">
                          <a:solidFill>
                            <a:srgbClr val="1F1F1F"/>
                          </a:solidFill>
                          <a:effectLst/>
                          <a:latin typeface="Google Sans Text"/>
                        </a:rPr>
                        <a:t>TER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AI_ROBOTICS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Teradyne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802923018"/>
                  </a:ext>
                </a:extLst>
              </a:tr>
              <a:tr h="198536">
                <a:tc>
                  <a:txBody>
                    <a:bodyPr/>
                    <a:lstStyle/>
                    <a:p>
                      <a:pPr marL="0" marR="0" rtl="0">
                        <a:spcAft>
                          <a:spcPts val="2400"/>
                        </a:spcAft>
                        <a:buNone/>
                      </a:pPr>
                      <a:r>
                        <a:rPr lang="ko-KR" sz="800">
                          <a:solidFill>
                            <a:srgbClr val="1F1F1F"/>
                          </a:solidFill>
                          <a:effectLst/>
                          <a:latin typeface="Google Sans Text"/>
                        </a:rPr>
                        <a:t>ALAB</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AI_ROBOTICS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Astera Labs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58303056"/>
                  </a:ext>
                </a:extLst>
              </a:tr>
              <a:tr h="198536">
                <a:tc>
                  <a:txBody>
                    <a:bodyPr/>
                    <a:lstStyle/>
                    <a:p>
                      <a:pPr marL="0" marR="0" rtl="0">
                        <a:spcAft>
                          <a:spcPts val="2400"/>
                        </a:spcAft>
                        <a:buNone/>
                      </a:pPr>
                      <a:r>
                        <a:rPr lang="ko-KR" sz="800">
                          <a:solidFill>
                            <a:srgbClr val="1F1F1F"/>
                          </a:solidFill>
                          <a:effectLst/>
                          <a:latin typeface="Google Sans Text"/>
                        </a:rPr>
                        <a:t>ANET</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AI_ROBOTICS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err="1">
                          <a:solidFill>
                            <a:srgbClr val="1F1F1F"/>
                          </a:solidFill>
                          <a:effectLst/>
                          <a:latin typeface="Google Sans Text"/>
                        </a:rPr>
                        <a:t>Arista</a:t>
                      </a:r>
                      <a:r>
                        <a:rPr lang="ko-KR" sz="800" dirty="0">
                          <a:solidFill>
                            <a:srgbClr val="1F1F1F"/>
                          </a:solidFill>
                          <a:effectLst/>
                          <a:latin typeface="Google Sans Text"/>
                        </a:rPr>
                        <a:t> Networks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16883867"/>
                  </a:ext>
                </a:extLst>
              </a:tr>
              <a:tr h="198536">
                <a:tc>
                  <a:txBody>
                    <a:bodyPr/>
                    <a:lstStyle/>
                    <a:p>
                      <a:pPr marL="0" marR="0" rtl="0">
                        <a:spcAft>
                          <a:spcPts val="2400"/>
                        </a:spcAft>
                        <a:buNone/>
                      </a:pPr>
                      <a:r>
                        <a:rPr lang="ko-KR" sz="800">
                          <a:solidFill>
                            <a:srgbClr val="1F1F1F"/>
                          </a:solidFill>
                          <a:effectLst/>
                          <a:latin typeface="Google Sans Text"/>
                        </a:rPr>
                        <a:t>010120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ENERGY_POWER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LS ELECTRIC</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67152703"/>
                  </a:ext>
                </a:extLst>
              </a:tr>
              <a:tr h="198536">
                <a:tc>
                  <a:txBody>
                    <a:bodyPr/>
                    <a:lstStyle/>
                    <a:p>
                      <a:pPr marL="0" marR="0" rtl="0">
                        <a:spcAft>
                          <a:spcPts val="2400"/>
                        </a:spcAft>
                        <a:buNone/>
                      </a:pPr>
                      <a:r>
                        <a:rPr lang="ko-KR" sz="800">
                          <a:solidFill>
                            <a:srgbClr val="1F1F1F"/>
                          </a:solidFill>
                          <a:effectLst/>
                          <a:latin typeface="Google Sans Text"/>
                        </a:rPr>
                        <a:t>267260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ENERGY_POWER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HD현대일렉트릭</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701014609"/>
                  </a:ext>
                </a:extLst>
              </a:tr>
              <a:tr h="198536">
                <a:tc>
                  <a:txBody>
                    <a:bodyPr/>
                    <a:lstStyle/>
                    <a:p>
                      <a:pPr marL="0" marR="0" rtl="0">
                        <a:spcAft>
                          <a:spcPts val="2400"/>
                        </a:spcAft>
                        <a:buNone/>
                      </a:pPr>
                      <a:r>
                        <a:rPr lang="ko-KR" sz="800">
                          <a:solidFill>
                            <a:srgbClr val="1F1F1F"/>
                          </a:solidFill>
                          <a:effectLst/>
                          <a:latin typeface="Google Sans Text"/>
                        </a:rPr>
                        <a:t>298040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ENERGY_POWER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효성중공업</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742703062"/>
                  </a:ext>
                </a:extLst>
              </a:tr>
              <a:tr h="198536">
                <a:tc>
                  <a:txBody>
                    <a:bodyPr/>
                    <a:lstStyle/>
                    <a:p>
                      <a:pPr marL="0" marR="0" rtl="0">
                        <a:spcAft>
                          <a:spcPts val="2400"/>
                        </a:spcAft>
                        <a:buNone/>
                      </a:pPr>
                      <a:r>
                        <a:rPr lang="ko-KR" sz="800">
                          <a:solidFill>
                            <a:srgbClr val="1F1F1F"/>
                          </a:solidFill>
                          <a:effectLst/>
                          <a:latin typeface="Google Sans Text"/>
                        </a:rPr>
                        <a:t>GEV</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ENERGY_POWER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GE Vernova</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41973603"/>
                  </a:ext>
                </a:extLst>
              </a:tr>
              <a:tr h="198536">
                <a:tc>
                  <a:txBody>
                    <a:bodyPr/>
                    <a:lstStyle/>
                    <a:p>
                      <a:pPr marL="0" marR="0" rtl="0">
                        <a:spcAft>
                          <a:spcPts val="2400"/>
                        </a:spcAft>
                        <a:buNone/>
                      </a:pPr>
                      <a:r>
                        <a:rPr lang="ko-KR" sz="800">
                          <a:solidFill>
                            <a:srgbClr val="1F1F1F"/>
                          </a:solidFill>
                          <a:effectLst/>
                          <a:latin typeface="Google Sans Text"/>
                        </a:rPr>
                        <a:t>ETN</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ENERGY_POWER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Eaton</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55102698"/>
                  </a:ext>
                </a:extLst>
              </a:tr>
              <a:tr h="198536">
                <a:tc>
                  <a:txBody>
                    <a:bodyPr/>
                    <a:lstStyle/>
                    <a:p>
                      <a:pPr marL="0" marR="0" rtl="0">
                        <a:spcAft>
                          <a:spcPts val="2400"/>
                        </a:spcAft>
                        <a:buNone/>
                      </a:pPr>
                      <a:r>
                        <a:rPr lang="ko-KR" sz="800">
                          <a:solidFill>
                            <a:srgbClr val="1F1F1F"/>
                          </a:solidFill>
                          <a:effectLst/>
                          <a:latin typeface="Google Sans Text"/>
                        </a:rPr>
                        <a:t>APH</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ENERGY_POWER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Amphenol</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dirty="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752398904"/>
                  </a:ext>
                </a:extLst>
              </a:tr>
              <a:tr h="320456">
                <a:tc>
                  <a:txBody>
                    <a:bodyPr/>
                    <a:lstStyle/>
                    <a:p>
                      <a:pPr marL="0" marR="0" rtl="0">
                        <a:spcAft>
                          <a:spcPts val="2400"/>
                        </a:spcAft>
                        <a:buNone/>
                      </a:pPr>
                      <a:r>
                        <a:rPr lang="ko-KR" sz="800">
                          <a:solidFill>
                            <a:srgbClr val="1F1F1F"/>
                          </a:solidFill>
                          <a:effectLst/>
                          <a:latin typeface="Google Sans Text"/>
                        </a:rPr>
                        <a:t>012450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SPACE_DEFENSE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한화에어로스페이스</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444767765"/>
                  </a:ext>
                </a:extLst>
              </a:tr>
              <a:tr h="198536">
                <a:tc>
                  <a:txBody>
                    <a:bodyPr/>
                    <a:lstStyle/>
                    <a:p>
                      <a:pPr marL="0" marR="0" rtl="0">
                        <a:spcAft>
                          <a:spcPts val="2400"/>
                        </a:spcAft>
                        <a:buNone/>
                      </a:pPr>
                      <a:r>
                        <a:rPr lang="ko-KR" sz="800">
                          <a:solidFill>
                            <a:srgbClr val="1F1F1F"/>
                          </a:solidFill>
                          <a:effectLst/>
                          <a:latin typeface="Google Sans Text"/>
                        </a:rPr>
                        <a:t>079550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SPACE_DEFENSE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LIG넥스원</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4762359"/>
                  </a:ext>
                </a:extLst>
              </a:tr>
              <a:tr h="198536">
                <a:tc>
                  <a:txBody>
                    <a:bodyPr/>
                    <a:lstStyle/>
                    <a:p>
                      <a:pPr marL="0" marR="0" rtl="0">
                        <a:spcAft>
                          <a:spcPts val="2400"/>
                        </a:spcAft>
                        <a:buNone/>
                      </a:pPr>
                      <a:r>
                        <a:rPr lang="ko-KR" sz="800">
                          <a:solidFill>
                            <a:srgbClr val="1F1F1F"/>
                          </a:solidFill>
                          <a:effectLst/>
                          <a:latin typeface="Google Sans Text"/>
                        </a:rPr>
                        <a:t>064350</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SPACE_DEFENSE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현대로템</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51899103"/>
                  </a:ext>
                </a:extLst>
              </a:tr>
              <a:tr h="198536">
                <a:tc>
                  <a:txBody>
                    <a:bodyPr/>
                    <a:lstStyle/>
                    <a:p>
                      <a:pPr marL="0" marR="0" rtl="0">
                        <a:spcAft>
                          <a:spcPts val="2400"/>
                        </a:spcAft>
                        <a:buNone/>
                      </a:pPr>
                      <a:r>
                        <a:rPr lang="ko-KR" sz="800">
                          <a:solidFill>
                            <a:srgbClr val="1F1F1F"/>
                          </a:solidFill>
                          <a:effectLst/>
                          <a:latin typeface="Google Sans Text"/>
                        </a:rPr>
                        <a:t>RTX</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SPACE_DEFENSE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RTX Corporation</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997275113"/>
                  </a:ext>
                </a:extLst>
              </a:tr>
              <a:tr h="320456">
                <a:tc>
                  <a:txBody>
                    <a:bodyPr/>
                    <a:lstStyle/>
                    <a:p>
                      <a:pPr marL="0" marR="0" rtl="0">
                        <a:spcAft>
                          <a:spcPts val="2400"/>
                        </a:spcAft>
                        <a:buNone/>
                      </a:pPr>
                      <a:r>
                        <a:rPr lang="ko-KR" sz="800">
                          <a:solidFill>
                            <a:srgbClr val="1F1F1F"/>
                          </a:solidFill>
                          <a:effectLst/>
                          <a:latin typeface="Google Sans Text"/>
                        </a:rPr>
                        <a:t>KTOS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SPACE_DEFENSE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Kratos Defense &amp; Security Solutions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177152553"/>
                  </a:ext>
                </a:extLst>
              </a:tr>
              <a:tr h="198536">
                <a:tc>
                  <a:txBody>
                    <a:bodyPr/>
                    <a:lstStyle/>
                    <a:p>
                      <a:pPr marL="0" marR="0" rtl="0">
                        <a:spcAft>
                          <a:spcPts val="2400"/>
                        </a:spcAft>
                        <a:buNone/>
                      </a:pPr>
                      <a:r>
                        <a:rPr lang="ko-KR" sz="800">
                          <a:solidFill>
                            <a:srgbClr val="1F1F1F"/>
                          </a:solidFill>
                          <a:effectLst/>
                          <a:latin typeface="Google Sans Text"/>
                        </a:rPr>
                        <a:t>ATI</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US</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SPACE_DEFENSE</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ATI Inc.</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5.56%</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ko-KR" sz="800">
                          <a:solidFill>
                            <a:srgbClr val="1F1F1F"/>
                          </a:solidFill>
                          <a:effectLst/>
                          <a:latin typeface="Google Sans Text"/>
                        </a:rPr>
                        <a:t>SELECTED</a:t>
                      </a: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endParaRPr lang="ko-KR" sz="800" dirty="0">
                        <a:solidFill>
                          <a:srgbClr val="1F1F1F"/>
                        </a:solidFill>
                        <a:effectLst/>
                        <a:latin typeface="Google Sans Text"/>
                      </a:endParaRPr>
                    </a:p>
                  </a:txBody>
                  <a:tcPr marL="57461" marR="57461" marT="38308" marB="38308"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1481390"/>
                  </a:ext>
                </a:extLst>
              </a:tr>
            </a:tbl>
          </a:graphicData>
        </a:graphic>
      </p:graphicFrame>
    </p:spTree>
    <p:extLst>
      <p:ext uri="{BB962C8B-B14F-4D97-AF65-F5344CB8AC3E}">
        <p14:creationId xmlns:p14="http://schemas.microsoft.com/office/powerpoint/2010/main" val="2805417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산출 · 권보성</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엔진 파이프라인</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config.py 를 단일 원본으로 — 다른 모듈에 숫자를 하드코딩하지 않습니다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16</a:t>
            </a:r>
            <a:endParaRPr lang="en-US" sz="900" dirty="0"/>
          </a:p>
        </p:txBody>
      </p:sp>
      <p:sp>
        <p:nvSpPr>
          <p:cNvPr id="9" name="Shape 7"/>
          <p:cNvSpPr/>
          <p:nvPr/>
        </p:nvSpPr>
        <p:spPr>
          <a:xfrm>
            <a:off x="609600" y="2590800"/>
            <a:ext cx="2628900" cy="1619250"/>
          </a:xfrm>
          <a:prstGeom prst="roundRect">
            <a:avLst>
              <a:gd name="adj" fmla="val 9412"/>
            </a:avLst>
          </a:prstGeom>
          <a:solidFill>
            <a:srgbClr val="F7F8FA"/>
          </a:solidFill>
          <a:ln/>
        </p:spPr>
        <p:txBody>
          <a:bodyPr/>
          <a:lstStyle/>
          <a:p>
            <a:endParaRPr lang="ko-KR" altLang="en-US"/>
          </a:p>
        </p:txBody>
      </p:sp>
      <p:sp>
        <p:nvSpPr>
          <p:cNvPr id="10" name="Shape 8"/>
          <p:cNvSpPr/>
          <p:nvPr/>
        </p:nvSpPr>
        <p:spPr>
          <a:xfrm>
            <a:off x="800100" y="2762250"/>
            <a:ext cx="247650" cy="247650"/>
          </a:xfrm>
          <a:prstGeom prst="roundRect">
            <a:avLst>
              <a:gd name="adj" fmla="val 50000"/>
            </a:avLst>
          </a:prstGeom>
          <a:solidFill>
            <a:srgbClr val="0A0A0A"/>
          </a:solidFill>
          <a:ln/>
        </p:spPr>
        <p:txBody>
          <a:bodyPr/>
          <a:lstStyle/>
          <a:p>
            <a:endParaRPr lang="ko-KR" altLang="en-US"/>
          </a:p>
        </p:txBody>
      </p:sp>
      <p:sp>
        <p:nvSpPr>
          <p:cNvPr id="11" name="Text 9"/>
          <p:cNvSpPr txBox="1"/>
          <p:nvPr/>
        </p:nvSpPr>
        <p:spPr>
          <a:xfrm>
            <a:off x="8001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1</a:t>
            </a:r>
            <a:endParaRPr lang="en-US" sz="1050" dirty="0"/>
          </a:p>
        </p:txBody>
      </p:sp>
      <p:sp>
        <p:nvSpPr>
          <p:cNvPr id="12" name="Text 10"/>
          <p:cNvSpPr txBox="1"/>
          <p:nvPr/>
        </p:nvSpPr>
        <p:spPr>
          <a:xfrm>
            <a:off x="11239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market_state</a:t>
            </a:r>
            <a:endParaRPr lang="en-US" sz="1275" dirty="0"/>
          </a:p>
        </p:txBody>
      </p:sp>
      <p:sp>
        <p:nvSpPr>
          <p:cNvPr id="13" name="Text 11"/>
          <p:cNvSpPr txBox="1"/>
          <p:nvPr/>
        </p:nvSpPr>
        <p:spPr>
          <a:xfrm>
            <a:off x="8001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일별 상태코드 6종</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거래·정지·상장 전후 판정</a:t>
            </a:r>
            <a:endParaRPr lang="en-US" sz="1050" dirty="0"/>
          </a:p>
        </p:txBody>
      </p:sp>
      <p:sp>
        <p:nvSpPr>
          <p:cNvPr id="14" name="Text 12"/>
          <p:cNvSpPr txBox="1"/>
          <p:nvPr/>
        </p:nvSpPr>
        <p:spPr>
          <a:xfrm>
            <a:off x="3238500" y="326707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15" name="Shape 13"/>
          <p:cNvSpPr/>
          <p:nvPr/>
        </p:nvSpPr>
        <p:spPr>
          <a:xfrm>
            <a:off x="3390900" y="2590800"/>
            <a:ext cx="2628900" cy="1619250"/>
          </a:xfrm>
          <a:prstGeom prst="roundRect">
            <a:avLst>
              <a:gd name="adj" fmla="val 9412"/>
            </a:avLst>
          </a:prstGeom>
          <a:solidFill>
            <a:srgbClr val="F7F8FA"/>
          </a:solidFill>
          <a:ln/>
        </p:spPr>
        <p:txBody>
          <a:bodyPr/>
          <a:lstStyle/>
          <a:p>
            <a:endParaRPr lang="ko-KR" altLang="en-US"/>
          </a:p>
        </p:txBody>
      </p:sp>
      <p:sp>
        <p:nvSpPr>
          <p:cNvPr id="16" name="Shape 14"/>
          <p:cNvSpPr/>
          <p:nvPr/>
        </p:nvSpPr>
        <p:spPr>
          <a:xfrm>
            <a:off x="3581400" y="2762250"/>
            <a:ext cx="247650" cy="247650"/>
          </a:xfrm>
          <a:prstGeom prst="roundRect">
            <a:avLst>
              <a:gd name="adj" fmla="val 50000"/>
            </a:avLst>
          </a:prstGeom>
          <a:solidFill>
            <a:srgbClr val="0A0A0A"/>
          </a:solidFill>
          <a:ln/>
        </p:spPr>
        <p:txBody>
          <a:bodyPr/>
          <a:lstStyle/>
          <a:p>
            <a:endParaRPr lang="ko-KR" altLang="en-US"/>
          </a:p>
        </p:txBody>
      </p:sp>
      <p:sp>
        <p:nvSpPr>
          <p:cNvPr id="17" name="Text 15"/>
          <p:cNvSpPr txBox="1"/>
          <p:nvPr/>
        </p:nvSpPr>
        <p:spPr>
          <a:xfrm>
            <a:off x="35814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2</a:t>
            </a:r>
            <a:endParaRPr lang="en-US" sz="1050" dirty="0"/>
          </a:p>
        </p:txBody>
      </p:sp>
      <p:sp>
        <p:nvSpPr>
          <p:cNvPr id="18" name="Text 16"/>
          <p:cNvSpPr txBox="1"/>
          <p:nvPr/>
        </p:nvSpPr>
        <p:spPr>
          <a:xfrm>
            <a:off x="39052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indicators</a:t>
            </a:r>
            <a:endParaRPr lang="en-US" sz="1275" dirty="0"/>
          </a:p>
        </p:txBody>
      </p:sp>
      <p:sp>
        <p:nvSpPr>
          <p:cNvPr id="19" name="Text 17"/>
          <p:cNvSpPr txBox="1"/>
          <p:nvPr/>
        </p:nvSpPr>
        <p:spPr>
          <a:xfrm>
            <a:off x="35814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ADTV90 · 시즈닝</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시장별 P10 산출</a:t>
            </a:r>
            <a:endParaRPr lang="en-US" sz="1050" dirty="0"/>
          </a:p>
        </p:txBody>
      </p:sp>
      <p:sp>
        <p:nvSpPr>
          <p:cNvPr id="20" name="Text 18"/>
          <p:cNvSpPr txBox="1"/>
          <p:nvPr/>
        </p:nvSpPr>
        <p:spPr>
          <a:xfrm>
            <a:off x="6019800" y="326707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1" name="Shape 19"/>
          <p:cNvSpPr/>
          <p:nvPr/>
        </p:nvSpPr>
        <p:spPr>
          <a:xfrm>
            <a:off x="6172200" y="2590800"/>
            <a:ext cx="2628900" cy="1619250"/>
          </a:xfrm>
          <a:prstGeom prst="roundRect">
            <a:avLst>
              <a:gd name="adj" fmla="val 9412"/>
            </a:avLst>
          </a:prstGeom>
          <a:solidFill>
            <a:srgbClr val="F7F8FA"/>
          </a:solidFill>
          <a:ln/>
        </p:spPr>
        <p:txBody>
          <a:bodyPr/>
          <a:lstStyle/>
          <a:p>
            <a:endParaRPr lang="ko-KR" altLang="en-US"/>
          </a:p>
        </p:txBody>
      </p:sp>
      <p:sp>
        <p:nvSpPr>
          <p:cNvPr id="22" name="Shape 20"/>
          <p:cNvSpPr/>
          <p:nvPr/>
        </p:nvSpPr>
        <p:spPr>
          <a:xfrm>
            <a:off x="6362700" y="2762250"/>
            <a:ext cx="247650" cy="247650"/>
          </a:xfrm>
          <a:prstGeom prst="roundRect">
            <a:avLst>
              <a:gd name="adj" fmla="val 50000"/>
            </a:avLst>
          </a:prstGeom>
          <a:solidFill>
            <a:srgbClr val="0A0A0A"/>
          </a:solidFill>
          <a:ln/>
        </p:spPr>
        <p:txBody>
          <a:bodyPr/>
          <a:lstStyle/>
          <a:p>
            <a:endParaRPr lang="ko-KR" altLang="en-US"/>
          </a:p>
        </p:txBody>
      </p:sp>
      <p:sp>
        <p:nvSpPr>
          <p:cNvPr id="23" name="Text 21"/>
          <p:cNvSpPr txBox="1"/>
          <p:nvPr/>
        </p:nvSpPr>
        <p:spPr>
          <a:xfrm>
            <a:off x="63627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3</a:t>
            </a:r>
            <a:endParaRPr lang="en-US" sz="1050" dirty="0"/>
          </a:p>
        </p:txBody>
      </p:sp>
      <p:sp>
        <p:nvSpPr>
          <p:cNvPr id="24" name="Text 22"/>
          <p:cNvSpPr txBox="1"/>
          <p:nvPr/>
        </p:nvSpPr>
        <p:spPr>
          <a:xfrm>
            <a:off x="66865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composition</a:t>
            </a:r>
            <a:endParaRPr lang="en-US" sz="1275" dirty="0"/>
          </a:p>
        </p:txBody>
      </p:sp>
      <p:sp>
        <p:nvSpPr>
          <p:cNvPr id="25" name="Text 23"/>
          <p:cNvSpPr txBox="1"/>
          <p:nvPr/>
        </p:nvSpPr>
        <p:spPr>
          <a:xfrm>
            <a:off x="63627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게이트 · 6셀</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가중 · 빈 셀 재배분</a:t>
            </a:r>
            <a:endParaRPr lang="en-US" sz="1050" dirty="0"/>
          </a:p>
        </p:txBody>
      </p:sp>
      <p:sp>
        <p:nvSpPr>
          <p:cNvPr id="26" name="Text 24"/>
          <p:cNvSpPr txBox="1"/>
          <p:nvPr/>
        </p:nvSpPr>
        <p:spPr>
          <a:xfrm>
            <a:off x="8801100" y="3267075"/>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7" name="Shape 25"/>
          <p:cNvSpPr/>
          <p:nvPr/>
        </p:nvSpPr>
        <p:spPr>
          <a:xfrm>
            <a:off x="8953500" y="2590800"/>
            <a:ext cx="2628900" cy="1619250"/>
          </a:xfrm>
          <a:prstGeom prst="roundRect">
            <a:avLst>
              <a:gd name="adj" fmla="val 9412"/>
            </a:avLst>
          </a:prstGeom>
          <a:solidFill>
            <a:srgbClr val="F7F8FA"/>
          </a:solidFill>
          <a:ln/>
        </p:spPr>
        <p:txBody>
          <a:bodyPr/>
          <a:lstStyle/>
          <a:p>
            <a:endParaRPr lang="ko-KR" altLang="en-US"/>
          </a:p>
        </p:txBody>
      </p:sp>
      <p:sp>
        <p:nvSpPr>
          <p:cNvPr id="28" name="Shape 26"/>
          <p:cNvSpPr/>
          <p:nvPr/>
        </p:nvSpPr>
        <p:spPr>
          <a:xfrm>
            <a:off x="9144000" y="2762250"/>
            <a:ext cx="247650" cy="247650"/>
          </a:xfrm>
          <a:prstGeom prst="roundRect">
            <a:avLst>
              <a:gd name="adj" fmla="val 50000"/>
            </a:avLst>
          </a:prstGeom>
          <a:solidFill>
            <a:srgbClr val="0A0A0A"/>
          </a:solidFill>
          <a:ln/>
        </p:spPr>
        <p:txBody>
          <a:bodyPr/>
          <a:lstStyle/>
          <a:p>
            <a:endParaRPr lang="ko-KR" altLang="en-US"/>
          </a:p>
        </p:txBody>
      </p:sp>
      <p:sp>
        <p:nvSpPr>
          <p:cNvPr id="29" name="Text 27"/>
          <p:cNvSpPr txBox="1"/>
          <p:nvPr/>
        </p:nvSpPr>
        <p:spPr>
          <a:xfrm>
            <a:off x="91440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4</a:t>
            </a:r>
            <a:endParaRPr lang="en-US" sz="1050" dirty="0"/>
          </a:p>
        </p:txBody>
      </p:sp>
      <p:sp>
        <p:nvSpPr>
          <p:cNvPr id="30" name="Text 28"/>
          <p:cNvSpPr txBox="1"/>
          <p:nvPr/>
        </p:nvSpPr>
        <p:spPr>
          <a:xfrm>
            <a:off x="94678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index_calc</a:t>
            </a:r>
            <a:endParaRPr lang="en-US" sz="1275" dirty="0"/>
          </a:p>
        </p:txBody>
      </p:sp>
      <p:sp>
        <p:nvSpPr>
          <p:cNvPr id="31" name="Text 29"/>
          <p:cNvSpPr txBox="1"/>
          <p:nvPr/>
        </p:nvSpPr>
        <p:spPr>
          <a:xfrm>
            <a:off x="9144000" y="3086100"/>
            <a:ext cx="2247900" cy="9715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PR 지수 · 합성 BM</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체인 연결</a:t>
            </a:r>
            <a:endParaRPr lang="en-US" sz="1050" dirty="0"/>
          </a:p>
        </p:txBody>
      </p:sp>
      <p:sp>
        <p:nvSpPr>
          <p:cNvPr id="32" name="Shape 30"/>
          <p:cNvSpPr/>
          <p:nvPr/>
        </p:nvSpPr>
        <p:spPr>
          <a:xfrm>
            <a:off x="609600" y="4400550"/>
            <a:ext cx="5372100" cy="857250"/>
          </a:xfrm>
          <a:prstGeom prst="roundRect">
            <a:avLst>
              <a:gd name="adj" fmla="val 17778"/>
            </a:avLst>
          </a:prstGeom>
          <a:solidFill>
            <a:srgbClr val="F7F8FA"/>
          </a:solidFill>
          <a:ln/>
        </p:spPr>
        <p:txBody>
          <a:bodyPr/>
          <a:lstStyle/>
          <a:p>
            <a:endParaRPr lang="ko-KR" altLang="en-US"/>
          </a:p>
        </p:txBody>
      </p:sp>
      <p:sp>
        <p:nvSpPr>
          <p:cNvPr id="33" name="Text 31"/>
          <p:cNvSpPr txBox="1"/>
          <p:nvPr/>
        </p:nvSpPr>
        <p:spPr>
          <a:xfrm>
            <a:off x="800100" y="4591050"/>
            <a:ext cx="4991100" cy="514350"/>
          </a:xfrm>
          <a:prstGeom prst="rect">
            <a:avLst/>
          </a:prstGeom>
          <a:noFill/>
          <a:ln/>
        </p:spPr>
        <p:txBody>
          <a:bodyPr wrap="square" lIns="0" tIns="0" rIns="0" bIns="0" rtlCol="0" anchor="t"/>
          <a:lstStyle/>
          <a:p>
            <a:pPr marL="0" indent="0">
              <a:lnSpc>
                <a:spcPct val="142000"/>
              </a:lnSpc>
              <a:buNone/>
            </a:pPr>
            <a:r>
              <a:rPr lang="en-US" sz="1125" b="1" dirty="0">
                <a:solidFill>
                  <a:srgbClr val="0A0A0A"/>
                </a:solidFill>
                <a:latin typeface="Malgun Gothic" pitchFamily="34" charset="0"/>
                <a:ea typeface="Malgun Gothic" pitchFamily="34" charset="-122"/>
                <a:cs typeface="Malgun Gothic" pitchFamily="34" charset="-120"/>
              </a:rPr>
              <a:t>정책 숫자의 단일 원본은 config.py</a:t>
            </a: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다른 모듈에 숫자를 하드코딩하지 않는다</a:t>
            </a:r>
            <a:endParaRPr lang="en-US" sz="1125" dirty="0"/>
          </a:p>
        </p:txBody>
      </p:sp>
      <p:sp>
        <p:nvSpPr>
          <p:cNvPr id="34" name="Shape 32"/>
          <p:cNvSpPr/>
          <p:nvPr/>
        </p:nvSpPr>
        <p:spPr>
          <a:xfrm>
            <a:off x="6210300" y="4400550"/>
            <a:ext cx="5372100" cy="857250"/>
          </a:xfrm>
          <a:prstGeom prst="roundRect">
            <a:avLst>
              <a:gd name="adj" fmla="val 17778"/>
            </a:avLst>
          </a:prstGeom>
          <a:solidFill>
            <a:srgbClr val="F7F8FA"/>
          </a:solidFill>
          <a:ln/>
        </p:spPr>
        <p:txBody>
          <a:bodyPr/>
          <a:lstStyle/>
          <a:p>
            <a:endParaRPr lang="ko-KR" altLang="en-US"/>
          </a:p>
        </p:txBody>
      </p:sp>
      <p:sp>
        <p:nvSpPr>
          <p:cNvPr id="35" name="Text 33"/>
          <p:cNvSpPr txBox="1"/>
          <p:nvPr/>
        </p:nvSpPr>
        <p:spPr>
          <a:xfrm>
            <a:off x="6400800" y="4591050"/>
            <a:ext cx="4991100" cy="514350"/>
          </a:xfrm>
          <a:prstGeom prst="rect">
            <a:avLst/>
          </a:prstGeom>
          <a:noFill/>
          <a:ln/>
        </p:spPr>
        <p:txBody>
          <a:bodyPr wrap="square" lIns="0" tIns="0" rIns="0" bIns="0" rtlCol="0" anchor="t"/>
          <a:lstStyle/>
          <a:p>
            <a:pPr marL="0" indent="0">
              <a:lnSpc>
                <a:spcPct val="142000"/>
              </a:lnSpc>
              <a:buNone/>
            </a:pPr>
            <a:r>
              <a:rPr lang="en-US" sz="1125" b="1" dirty="0">
                <a:solidFill>
                  <a:srgbClr val="0A0A0A"/>
                </a:solidFill>
                <a:latin typeface="Malgun Gothic" pitchFamily="34" charset="0"/>
                <a:ea typeface="Malgun Gothic" pitchFamily="34" charset="-122"/>
                <a:cs typeface="Malgun Gothic" pitchFamily="34" charset="-120"/>
              </a:rPr>
              <a:t>가중합이 1.0이 아니면 계산 중단</a:t>
            </a:r>
            <a:endParaRPr lang="en-US" sz="1125" dirty="0"/>
          </a:p>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조용히 정규화하지 않고 실패시킨다</a:t>
            </a:r>
            <a:endParaRPr lang="en-US" sz="1125" dirty="0"/>
          </a:p>
        </p:txBody>
      </p:sp>
      <p:sp>
        <p:nvSpPr>
          <p:cNvPr id="36" name="Shape 34"/>
          <p:cNvSpPr/>
          <p:nvPr/>
        </p:nvSpPr>
        <p:spPr>
          <a:xfrm>
            <a:off x="609600" y="5448300"/>
            <a:ext cx="10972800" cy="571500"/>
          </a:xfrm>
          <a:prstGeom prst="roundRect">
            <a:avLst>
              <a:gd name="adj" fmla="val 20000"/>
            </a:avLst>
          </a:prstGeom>
          <a:solidFill>
            <a:srgbClr val="0A0A0A"/>
          </a:solidFill>
          <a:ln/>
        </p:spPr>
        <p:txBody>
          <a:bodyPr/>
          <a:lstStyle/>
          <a:p>
            <a:endParaRPr lang="ko-KR" altLang="en-US"/>
          </a:p>
        </p:txBody>
      </p:sp>
      <p:sp>
        <p:nvSpPr>
          <p:cNvPr id="37" name="Text 35"/>
          <p:cNvSpPr txBox="1"/>
          <p:nvPr/>
        </p:nvSpPr>
        <p:spPr>
          <a:xfrm>
            <a:off x="838200" y="5448300"/>
            <a:ext cx="10515600" cy="571500"/>
          </a:xfrm>
          <a:prstGeom prst="rect">
            <a:avLst/>
          </a:prstGeom>
          <a:noFill/>
          <a:ln/>
        </p:spPr>
        <p:txBody>
          <a:bodyPr wrap="square" lIns="0" tIns="0" rIns="0" bIns="0" rtlCol="0" anchor="ctr"/>
          <a:lstStyle/>
          <a:p>
            <a:pPr marL="0" indent="0" algn="l">
              <a:lnSpc>
                <a:spcPct val="130000"/>
              </a:lnSpc>
              <a:buNone/>
            </a:pPr>
            <a:r>
              <a:rPr lang="en-US" sz="1350" b="1" dirty="0">
                <a:solidFill>
                  <a:srgbClr val="FFFFFF"/>
                </a:solidFill>
                <a:latin typeface="Malgun Gothic" pitchFamily="34" charset="0"/>
                <a:ea typeface="Malgun Gothic" pitchFamily="34" charset="-122"/>
                <a:cs typeface="Malgun Gothic" pitchFamily="34" charset="-120"/>
              </a:rPr>
              <a:t>엔진 여섯 파일 400줄 남짓 — 지수 로직 전부가 여기 있습니다</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산출 · 권보성</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BM · 환율 원천 확정</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어디서 가져온 숫자인지까지 상태코드로 남깁니다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17</a:t>
            </a:r>
            <a:endParaRPr lang="en-US" sz="900" dirty="0"/>
          </a:p>
        </p:txBody>
      </p:sp>
      <p:sp>
        <p:nvSpPr>
          <p:cNvPr id="9" name="Shape 7"/>
          <p:cNvSpPr/>
          <p:nvPr/>
        </p:nvSpPr>
        <p:spPr>
          <a:xfrm>
            <a:off x="609600" y="2590800"/>
            <a:ext cx="5372100" cy="1771650"/>
          </a:xfrm>
          <a:prstGeom prst="roundRect">
            <a:avLst>
              <a:gd name="adj" fmla="val 8602"/>
            </a:avLst>
          </a:prstGeom>
          <a:solidFill>
            <a:srgbClr val="FFFFFF"/>
          </a:solidFill>
          <a:ln w="12700">
            <a:solidFill>
              <a:srgbClr val="E5E7EB"/>
            </a:solidFill>
            <a:prstDash val="solid"/>
          </a:ln>
        </p:spPr>
        <p:txBody>
          <a:bodyPr/>
          <a:lstStyle/>
          <a:p>
            <a:endParaRPr lang="ko-KR" altLang="en-US"/>
          </a:p>
        </p:txBody>
      </p:sp>
      <p:sp>
        <p:nvSpPr>
          <p:cNvPr id="10" name="Text 8"/>
          <p:cNvSpPr txBox="1"/>
          <p:nvPr/>
        </p:nvSpPr>
        <p:spPr>
          <a:xfrm>
            <a:off x="914400" y="2800350"/>
            <a:ext cx="2857500" cy="24765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한국 BM</a:t>
            </a:r>
            <a:endParaRPr lang="en-US" sz="1425" dirty="0"/>
          </a:p>
        </p:txBody>
      </p:sp>
      <p:sp>
        <p:nvSpPr>
          <p:cNvPr id="11" name="Shape 9"/>
          <p:cNvSpPr/>
          <p:nvPr/>
        </p:nvSpPr>
        <p:spPr>
          <a:xfrm>
            <a:off x="4476750" y="2819400"/>
            <a:ext cx="925830" cy="209550"/>
          </a:xfrm>
          <a:prstGeom prst="roundRect">
            <a:avLst>
              <a:gd name="adj" fmla="val 50000"/>
            </a:avLst>
          </a:prstGeom>
          <a:solidFill>
            <a:srgbClr val="E8FFEA"/>
          </a:solidFill>
          <a:ln/>
        </p:spPr>
        <p:txBody>
          <a:bodyPr/>
          <a:lstStyle/>
          <a:p>
            <a:endParaRPr lang="ko-KR" altLang="en-US"/>
          </a:p>
        </p:txBody>
      </p:sp>
      <p:sp>
        <p:nvSpPr>
          <p:cNvPr id="12" name="Text 10"/>
          <p:cNvSpPr txBox="1"/>
          <p:nvPr/>
        </p:nvSpPr>
        <p:spPr>
          <a:xfrm>
            <a:off x="4476750" y="2819400"/>
            <a:ext cx="925830" cy="209550"/>
          </a:xfrm>
          <a:prstGeom prst="rect">
            <a:avLst/>
          </a:prstGeom>
          <a:noFill/>
          <a:ln/>
        </p:spPr>
        <p:txBody>
          <a:bodyPr wrap="square" lIns="0" tIns="0" rIns="0" bIns="0" rtlCol="0" anchor="ctr"/>
          <a:lstStyle/>
          <a:p>
            <a:pPr marL="0" indent="0" algn="ctr">
              <a:buNone/>
            </a:pPr>
            <a:r>
              <a:rPr lang="en-US" sz="900" b="1" dirty="0">
                <a:solidFill>
                  <a:srgbClr val="1BA673"/>
                </a:solidFill>
                <a:latin typeface="Malgun Gothic" pitchFamily="34" charset="0"/>
                <a:ea typeface="Malgun Gothic" pitchFamily="34" charset="-122"/>
                <a:cs typeface="Malgun Gothic" pitchFamily="34" charset="-120"/>
              </a:rPr>
              <a:t>OFFICIAL</a:t>
            </a:r>
            <a:endParaRPr lang="en-US" sz="900" dirty="0"/>
          </a:p>
        </p:txBody>
      </p:sp>
      <p:sp>
        <p:nvSpPr>
          <p:cNvPr id="13" name="Text 11"/>
          <p:cNvSpPr txBox="1"/>
          <p:nvPr/>
        </p:nvSpPr>
        <p:spPr>
          <a:xfrm>
            <a:off x="914400" y="3162300"/>
            <a:ext cx="4762500" cy="1047750"/>
          </a:xfrm>
          <a:prstGeom prst="rect">
            <a:avLst/>
          </a:prstGeom>
          <a:noFill/>
          <a:ln/>
        </p:spPr>
        <p:txBody>
          <a:bodyPr wrap="square" lIns="0" tIns="0" rIns="0" bIns="0" rtlCol="0" anchor="t"/>
          <a:lstStyle/>
          <a:p>
            <a:pPr marL="0" indent="0">
              <a:lnSpc>
                <a:spcPct val="145000"/>
              </a:lnSpc>
              <a:buNone/>
            </a:pPr>
            <a:r>
              <a:rPr lang="en-US" sz="1050" dirty="0">
                <a:solidFill>
                  <a:srgbClr val="222222"/>
                </a:solidFill>
                <a:latin typeface="Malgun Gothic" pitchFamily="34" charset="0"/>
                <a:ea typeface="Malgun Gothic" pitchFamily="34" charset="-122"/>
                <a:cs typeface="Malgun Gothic" pitchFamily="34" charset="-120"/>
              </a:rPr>
              <a:t>KRX 지수코드 1028 원계열을 재수집해 기존 입력과 종가 180행이 전부 일치했습니다.</a:t>
            </a:r>
            <a:endParaRPr lang="en-US" sz="1050" dirty="0"/>
          </a:p>
          <a:p>
            <a:pPr marL="0" indent="0">
              <a:lnSpc>
                <a:spcPct val="145000"/>
              </a:lnSpc>
              <a:buNone/>
            </a:pPr>
            <a:r>
              <a:rPr lang="en-US" sz="1050" dirty="0">
                <a:solidFill>
                  <a:srgbClr val="222222"/>
                </a:solidFill>
                <a:latin typeface="Malgun Gothic" pitchFamily="34" charset="0"/>
                <a:ea typeface="Malgun Gothic" pitchFamily="34" charset="-122"/>
                <a:cs typeface="Malgun Gothic" pitchFamily="34" charset="-120"/>
              </a:rPr>
              <a:t>야후에 없는 거래대금·상장시가총액 열로 KRX 경로임을 확인했습니다.</a:t>
            </a:r>
            <a:endParaRPr lang="en-US" sz="1050" dirty="0"/>
          </a:p>
        </p:txBody>
      </p:sp>
      <p:sp>
        <p:nvSpPr>
          <p:cNvPr id="14" name="Shape 12"/>
          <p:cNvSpPr/>
          <p:nvPr/>
        </p:nvSpPr>
        <p:spPr>
          <a:xfrm>
            <a:off x="6210300" y="2590800"/>
            <a:ext cx="5372100" cy="1771650"/>
          </a:xfrm>
          <a:prstGeom prst="roundRect">
            <a:avLst>
              <a:gd name="adj" fmla="val 8602"/>
            </a:avLst>
          </a:prstGeom>
          <a:solidFill>
            <a:srgbClr val="FFFFFF"/>
          </a:solidFill>
          <a:ln w="12700">
            <a:solidFill>
              <a:srgbClr val="E5E7EB"/>
            </a:solidFill>
            <a:prstDash val="solid"/>
          </a:ln>
        </p:spPr>
        <p:txBody>
          <a:bodyPr/>
          <a:lstStyle/>
          <a:p>
            <a:endParaRPr lang="ko-KR" altLang="en-US"/>
          </a:p>
        </p:txBody>
      </p:sp>
      <p:sp>
        <p:nvSpPr>
          <p:cNvPr id="15" name="Text 13"/>
          <p:cNvSpPr txBox="1"/>
          <p:nvPr/>
        </p:nvSpPr>
        <p:spPr>
          <a:xfrm>
            <a:off x="6515100" y="2800350"/>
            <a:ext cx="2857500" cy="24765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환율</a:t>
            </a:r>
            <a:endParaRPr lang="en-US" sz="1425" dirty="0"/>
          </a:p>
        </p:txBody>
      </p:sp>
      <p:sp>
        <p:nvSpPr>
          <p:cNvPr id="16" name="Shape 14"/>
          <p:cNvSpPr/>
          <p:nvPr/>
        </p:nvSpPr>
        <p:spPr>
          <a:xfrm>
            <a:off x="9963150" y="2819400"/>
            <a:ext cx="1015365" cy="209550"/>
          </a:xfrm>
          <a:prstGeom prst="roundRect">
            <a:avLst>
              <a:gd name="adj" fmla="val 50000"/>
            </a:avLst>
          </a:prstGeom>
          <a:solidFill>
            <a:srgbClr val="E8FFEA"/>
          </a:solidFill>
          <a:ln/>
        </p:spPr>
        <p:txBody>
          <a:bodyPr/>
          <a:lstStyle/>
          <a:p>
            <a:endParaRPr lang="ko-KR" altLang="en-US"/>
          </a:p>
        </p:txBody>
      </p:sp>
      <p:sp>
        <p:nvSpPr>
          <p:cNvPr id="17" name="Text 15"/>
          <p:cNvSpPr txBox="1"/>
          <p:nvPr/>
        </p:nvSpPr>
        <p:spPr>
          <a:xfrm>
            <a:off x="9963150" y="2819400"/>
            <a:ext cx="1015365" cy="209550"/>
          </a:xfrm>
          <a:prstGeom prst="rect">
            <a:avLst/>
          </a:prstGeom>
          <a:noFill/>
          <a:ln/>
        </p:spPr>
        <p:txBody>
          <a:bodyPr wrap="square" lIns="0" tIns="0" rIns="0" bIns="0" rtlCol="0" anchor="ctr"/>
          <a:lstStyle/>
          <a:p>
            <a:pPr marL="0" indent="0" algn="ctr">
              <a:buNone/>
            </a:pPr>
            <a:r>
              <a:rPr lang="en-US" sz="900" b="1" dirty="0">
                <a:solidFill>
                  <a:srgbClr val="1BA673"/>
                </a:solidFill>
                <a:latin typeface="Malgun Gothic" pitchFamily="34" charset="0"/>
                <a:ea typeface="Malgun Gothic" pitchFamily="34" charset="-122"/>
                <a:cs typeface="Malgun Gothic" pitchFamily="34" charset="-120"/>
              </a:rPr>
              <a:t>CONFIRMED</a:t>
            </a:r>
            <a:endParaRPr lang="en-US" sz="900" dirty="0"/>
          </a:p>
        </p:txBody>
      </p:sp>
      <p:sp>
        <p:nvSpPr>
          <p:cNvPr id="18" name="Text 16"/>
          <p:cNvSpPr txBox="1"/>
          <p:nvPr/>
        </p:nvSpPr>
        <p:spPr>
          <a:xfrm>
            <a:off x="6515100" y="3162300"/>
            <a:ext cx="4762500" cy="1047750"/>
          </a:xfrm>
          <a:prstGeom prst="rect">
            <a:avLst/>
          </a:prstGeom>
          <a:noFill/>
          <a:ln/>
        </p:spPr>
        <p:txBody>
          <a:bodyPr wrap="square" lIns="0" tIns="0" rIns="0" bIns="0" rtlCol="0" anchor="t"/>
          <a:lstStyle/>
          <a:p>
            <a:pPr marL="0" indent="0">
              <a:lnSpc>
                <a:spcPct val="145000"/>
              </a:lnSpc>
              <a:buNone/>
            </a:pPr>
            <a:r>
              <a:rPr lang="en-US" sz="1050" dirty="0">
                <a:solidFill>
                  <a:srgbClr val="222222"/>
                </a:solidFill>
                <a:latin typeface="Malgun Gothic" pitchFamily="34" charset="0"/>
                <a:ea typeface="Malgun Gothic" pitchFamily="34" charset="-122"/>
                <a:cs typeface="Malgun Gothic" pitchFamily="34" charset="-120"/>
              </a:rPr>
              <a:t>한국은행 ECOS 731Y001 / 0000001</a:t>
            </a:r>
            <a:endParaRPr lang="en-US" sz="1050" dirty="0"/>
          </a:p>
          <a:p>
            <a:pPr marL="0" indent="0">
              <a:lnSpc>
                <a:spcPct val="145000"/>
              </a:lnSpc>
              <a:buNone/>
            </a:pPr>
            <a:r>
              <a:rPr lang="en-US" sz="1050" dirty="0">
                <a:solidFill>
                  <a:srgbClr val="222222"/>
                </a:solidFill>
                <a:latin typeface="Malgun Gothic" pitchFamily="34" charset="0"/>
                <a:ea typeface="Malgun Gothic" pitchFamily="34" charset="-122"/>
                <a:cs typeface="Malgun Gothic" pitchFamily="34" charset="-120"/>
              </a:rPr>
              <a:t>원/미국달러 매매기준율 · 주기 D · KRW_PER_USD</a:t>
            </a:r>
            <a:endParaRPr lang="en-US" sz="1050" dirty="0"/>
          </a:p>
        </p:txBody>
      </p:sp>
      <p:sp>
        <p:nvSpPr>
          <p:cNvPr id="19" name="Shape 17"/>
          <p:cNvSpPr/>
          <p:nvPr/>
        </p:nvSpPr>
        <p:spPr>
          <a:xfrm>
            <a:off x="609600" y="4552950"/>
            <a:ext cx="10972800" cy="971550"/>
          </a:xfrm>
          <a:prstGeom prst="roundRect">
            <a:avLst>
              <a:gd name="adj" fmla="val 7843"/>
            </a:avLst>
          </a:prstGeom>
          <a:solidFill>
            <a:srgbClr val="FFFFFF"/>
          </a:solidFill>
          <a:ln w="12700">
            <a:solidFill>
              <a:srgbClr val="E5E7EB"/>
            </a:solidFill>
            <a:prstDash val="solid"/>
          </a:ln>
        </p:spPr>
        <p:txBody>
          <a:bodyPr/>
          <a:lstStyle/>
          <a:p>
            <a:endParaRPr lang="ko-KR" altLang="en-US"/>
          </a:p>
        </p:txBody>
      </p:sp>
      <p:sp>
        <p:nvSpPr>
          <p:cNvPr id="20" name="Shape 18"/>
          <p:cNvSpPr/>
          <p:nvPr/>
        </p:nvSpPr>
        <p:spPr>
          <a:xfrm>
            <a:off x="609600" y="4552950"/>
            <a:ext cx="10972800" cy="323850"/>
          </a:xfrm>
          <a:prstGeom prst="rect">
            <a:avLst/>
          </a:prstGeom>
          <a:solidFill>
            <a:srgbClr val="F7F8FA"/>
          </a:solidFill>
          <a:ln/>
        </p:spPr>
        <p:txBody>
          <a:bodyPr/>
          <a:lstStyle/>
          <a:p>
            <a:endParaRPr lang="ko-KR" altLang="en-US"/>
          </a:p>
        </p:txBody>
      </p:sp>
      <p:sp>
        <p:nvSpPr>
          <p:cNvPr id="21" name="Shape 19"/>
          <p:cNvSpPr/>
          <p:nvPr/>
        </p:nvSpPr>
        <p:spPr>
          <a:xfrm>
            <a:off x="609600" y="4876800"/>
            <a:ext cx="10972800" cy="9525"/>
          </a:xfrm>
          <a:prstGeom prst="rect">
            <a:avLst/>
          </a:prstGeom>
          <a:solidFill>
            <a:srgbClr val="E5E7EB"/>
          </a:solidFill>
          <a:ln/>
        </p:spPr>
        <p:txBody>
          <a:bodyPr/>
          <a:lstStyle/>
          <a:p>
            <a:endParaRPr lang="ko-KR" altLang="en-US"/>
          </a:p>
        </p:txBody>
      </p:sp>
      <p:sp>
        <p:nvSpPr>
          <p:cNvPr id="22" name="Text 20"/>
          <p:cNvSpPr txBox="1"/>
          <p:nvPr/>
        </p:nvSpPr>
        <p:spPr>
          <a:xfrm>
            <a:off x="742950" y="4552950"/>
            <a:ext cx="1269492"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항목</a:t>
            </a:r>
            <a:endParaRPr lang="en-US" sz="975" dirty="0"/>
          </a:p>
        </p:txBody>
      </p:sp>
      <p:sp>
        <p:nvSpPr>
          <p:cNvPr id="23" name="Text 21"/>
          <p:cNvSpPr txBox="1"/>
          <p:nvPr/>
        </p:nvSpPr>
        <p:spPr>
          <a:xfrm>
            <a:off x="2279142" y="4552950"/>
            <a:ext cx="2147316"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확정 전</a:t>
            </a:r>
            <a:endParaRPr lang="en-US" sz="975" dirty="0"/>
          </a:p>
        </p:txBody>
      </p:sp>
      <p:sp>
        <p:nvSpPr>
          <p:cNvPr id="24" name="Text 22"/>
          <p:cNvSpPr txBox="1"/>
          <p:nvPr/>
        </p:nvSpPr>
        <p:spPr>
          <a:xfrm>
            <a:off x="4693158" y="4552950"/>
            <a:ext cx="2805684"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확정 후</a:t>
            </a:r>
            <a:endParaRPr lang="en-US" sz="975" dirty="0"/>
          </a:p>
        </p:txBody>
      </p:sp>
      <p:sp>
        <p:nvSpPr>
          <p:cNvPr id="25" name="Text 23"/>
          <p:cNvSpPr txBox="1"/>
          <p:nvPr/>
        </p:nvSpPr>
        <p:spPr>
          <a:xfrm>
            <a:off x="7765542" y="4552950"/>
            <a:ext cx="3683508"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상태코드</a:t>
            </a:r>
            <a:endParaRPr lang="en-US" sz="975" dirty="0"/>
          </a:p>
        </p:txBody>
      </p:sp>
      <p:sp>
        <p:nvSpPr>
          <p:cNvPr id="26" name="Text 24"/>
          <p:cNvSpPr txBox="1"/>
          <p:nvPr/>
        </p:nvSpPr>
        <p:spPr>
          <a:xfrm>
            <a:off x="742950" y="4876800"/>
            <a:ext cx="1269492" cy="32385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한국 BM</a:t>
            </a:r>
            <a:endParaRPr lang="en-US" sz="1013" dirty="0"/>
          </a:p>
        </p:txBody>
      </p:sp>
      <p:sp>
        <p:nvSpPr>
          <p:cNvPr id="27" name="Text 25"/>
          <p:cNvSpPr txBox="1"/>
          <p:nvPr/>
        </p:nvSpPr>
        <p:spPr>
          <a:xfrm>
            <a:off x="2279142" y="4876800"/>
            <a:ext cx="2147316" cy="32385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출처 불명 입력 파일</a:t>
            </a:r>
            <a:endParaRPr lang="en-US" sz="1013" dirty="0"/>
          </a:p>
        </p:txBody>
      </p:sp>
      <p:sp>
        <p:nvSpPr>
          <p:cNvPr id="28" name="Text 26"/>
          <p:cNvSpPr txBox="1"/>
          <p:nvPr/>
        </p:nvSpPr>
        <p:spPr>
          <a:xfrm>
            <a:off x="4693158" y="4876800"/>
            <a:ext cx="2805684" cy="32385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KRX 지수코드 1028 원계열</a:t>
            </a:r>
            <a:endParaRPr lang="en-US" sz="1013" dirty="0"/>
          </a:p>
        </p:txBody>
      </p:sp>
      <p:sp>
        <p:nvSpPr>
          <p:cNvPr id="29" name="Text 27"/>
          <p:cNvSpPr txBox="1"/>
          <p:nvPr/>
        </p:nvSpPr>
        <p:spPr>
          <a:xfrm>
            <a:off x="7765542" y="4876800"/>
            <a:ext cx="3683508" cy="323850"/>
          </a:xfrm>
          <a:prstGeom prst="rect">
            <a:avLst/>
          </a:prstGeom>
          <a:noFill/>
          <a:ln/>
        </p:spPr>
        <p:txBody>
          <a:bodyPr wrap="square" lIns="0" tIns="0" rIns="0" bIns="0" rtlCol="0" anchor="ctr"/>
          <a:lstStyle/>
          <a:p>
            <a:pPr marL="0" indent="0" algn="l">
              <a:buNone/>
            </a:pPr>
            <a:r>
              <a:rPr lang="en-US" sz="1013" b="1" dirty="0">
                <a:solidFill>
                  <a:srgbClr val="0A0A0A"/>
                </a:solidFill>
                <a:latin typeface="Malgun Gothic" pitchFamily="34" charset="0"/>
                <a:ea typeface="Malgun Gothic" pitchFamily="34" charset="-122"/>
                <a:cs typeface="Malgun Gothic" pitchFamily="34" charset="-120"/>
              </a:rPr>
              <a:t>benchmark_source_status = OFFICIAL</a:t>
            </a:r>
            <a:endParaRPr lang="en-US" sz="1013" dirty="0"/>
          </a:p>
        </p:txBody>
      </p:sp>
      <p:sp>
        <p:nvSpPr>
          <p:cNvPr id="30" name="Shape 28"/>
          <p:cNvSpPr/>
          <p:nvPr/>
        </p:nvSpPr>
        <p:spPr>
          <a:xfrm>
            <a:off x="742950" y="5200650"/>
            <a:ext cx="10706100" cy="9525"/>
          </a:xfrm>
          <a:prstGeom prst="rect">
            <a:avLst/>
          </a:prstGeom>
          <a:solidFill>
            <a:srgbClr val="EAECF0"/>
          </a:solidFill>
          <a:ln/>
        </p:spPr>
        <p:txBody>
          <a:bodyPr/>
          <a:lstStyle/>
          <a:p>
            <a:endParaRPr lang="ko-KR" altLang="en-US"/>
          </a:p>
        </p:txBody>
      </p:sp>
      <p:sp>
        <p:nvSpPr>
          <p:cNvPr id="31" name="Text 29"/>
          <p:cNvSpPr txBox="1"/>
          <p:nvPr/>
        </p:nvSpPr>
        <p:spPr>
          <a:xfrm>
            <a:off x="742950" y="5200650"/>
            <a:ext cx="1269492" cy="32385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환율</a:t>
            </a:r>
            <a:endParaRPr lang="en-US" sz="1013" dirty="0"/>
          </a:p>
        </p:txBody>
      </p:sp>
      <p:sp>
        <p:nvSpPr>
          <p:cNvPr id="32" name="Text 30"/>
          <p:cNvSpPr txBox="1"/>
          <p:nvPr/>
        </p:nvSpPr>
        <p:spPr>
          <a:xfrm>
            <a:off x="2279142" y="5200650"/>
            <a:ext cx="2147316" cy="32385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경로 미기록</a:t>
            </a:r>
            <a:endParaRPr lang="en-US" sz="1013" dirty="0"/>
          </a:p>
        </p:txBody>
      </p:sp>
      <p:sp>
        <p:nvSpPr>
          <p:cNvPr id="33" name="Text 31"/>
          <p:cNvSpPr txBox="1"/>
          <p:nvPr/>
        </p:nvSpPr>
        <p:spPr>
          <a:xfrm>
            <a:off x="4693158" y="5200650"/>
            <a:ext cx="2805684" cy="32385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ECOS 731Y001 / 0000001</a:t>
            </a:r>
            <a:endParaRPr lang="en-US" sz="1013" dirty="0"/>
          </a:p>
        </p:txBody>
      </p:sp>
      <p:sp>
        <p:nvSpPr>
          <p:cNvPr id="34" name="Text 32"/>
          <p:cNvSpPr txBox="1"/>
          <p:nvPr/>
        </p:nvSpPr>
        <p:spPr>
          <a:xfrm>
            <a:off x="7765542" y="5200650"/>
            <a:ext cx="3683508" cy="323850"/>
          </a:xfrm>
          <a:prstGeom prst="rect">
            <a:avLst/>
          </a:prstGeom>
          <a:noFill/>
          <a:ln/>
        </p:spPr>
        <p:txBody>
          <a:bodyPr wrap="square" lIns="0" tIns="0" rIns="0" bIns="0" rtlCol="0" anchor="ctr"/>
          <a:lstStyle/>
          <a:p>
            <a:pPr marL="0" indent="0" algn="l">
              <a:buNone/>
            </a:pPr>
            <a:r>
              <a:rPr lang="en-US" sz="1013" b="1" dirty="0">
                <a:solidFill>
                  <a:srgbClr val="0A0A0A"/>
                </a:solidFill>
                <a:latin typeface="Malgun Gothic" pitchFamily="34" charset="0"/>
                <a:ea typeface="Malgun Gothic" pitchFamily="34" charset="-122"/>
                <a:cs typeface="Malgun Gothic" pitchFamily="34" charset="-120"/>
              </a:rPr>
              <a:t>fx_series_status = CONFIRMED</a:t>
            </a:r>
            <a:endParaRPr lang="en-US" sz="1013" dirty="0"/>
          </a:p>
        </p:txBody>
      </p:sp>
      <p:sp>
        <p:nvSpPr>
          <p:cNvPr id="35" name="Shape 33"/>
          <p:cNvSpPr/>
          <p:nvPr/>
        </p:nvSpPr>
        <p:spPr>
          <a:xfrm>
            <a:off x="609600" y="5676900"/>
            <a:ext cx="10972800" cy="457200"/>
          </a:xfrm>
          <a:prstGeom prst="roundRect">
            <a:avLst>
              <a:gd name="adj" fmla="val 25000"/>
            </a:avLst>
          </a:prstGeom>
          <a:solidFill>
            <a:srgbClr val="FFF4EC"/>
          </a:solidFill>
          <a:ln/>
        </p:spPr>
        <p:txBody>
          <a:bodyPr/>
          <a:lstStyle/>
          <a:p>
            <a:endParaRPr lang="ko-KR" altLang="en-US"/>
          </a:p>
        </p:txBody>
      </p:sp>
      <p:sp>
        <p:nvSpPr>
          <p:cNvPr id="36" name="Text 34"/>
          <p:cNvSpPr txBox="1"/>
          <p:nvPr/>
        </p:nvSpPr>
        <p:spPr>
          <a:xfrm>
            <a:off x="838200" y="5676900"/>
            <a:ext cx="10515600" cy="457200"/>
          </a:xfrm>
          <a:prstGeom prst="rect">
            <a:avLst/>
          </a:prstGeom>
          <a:noFill/>
          <a:ln/>
        </p:spPr>
        <p:txBody>
          <a:bodyPr wrap="square" lIns="0" tIns="0" rIns="0" bIns="0" rtlCol="0" anchor="ctr"/>
          <a:lstStyle/>
          <a:p>
            <a:pPr marL="0" indent="0" algn="l">
              <a:lnSpc>
                <a:spcPct val="130000"/>
              </a:lnSpc>
              <a:buNone/>
            </a:pPr>
            <a:r>
              <a:rPr lang="en-US" sz="1200" b="1" dirty="0">
                <a:solidFill>
                  <a:srgbClr val="C23B14"/>
                </a:solidFill>
                <a:latin typeface="Malgun Gothic" pitchFamily="34" charset="0"/>
                <a:ea typeface="Malgun Gothic" pitchFamily="34" charset="-122"/>
                <a:cs typeface="Malgun Gothic" pitchFamily="34" charset="-120"/>
              </a:rPr>
              <a:t>미결 — 환율 적용 방식 (당일 vs 선정일)</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산출 · 권보성</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리밸런싱은 어떻게 도는가</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분기마다 목표비중을 다시 1/6로 되돌립니다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18</a:t>
            </a:r>
            <a:endParaRPr lang="en-US" sz="900" dirty="0"/>
          </a:p>
        </p:txBody>
      </p:sp>
      <p:sp>
        <p:nvSpPr>
          <p:cNvPr id="9" name="Shape 7"/>
          <p:cNvSpPr/>
          <p:nvPr/>
        </p:nvSpPr>
        <p:spPr>
          <a:xfrm>
            <a:off x="609600" y="2590800"/>
            <a:ext cx="2628900" cy="1714500"/>
          </a:xfrm>
          <a:prstGeom prst="roundRect">
            <a:avLst>
              <a:gd name="adj" fmla="val 8889"/>
            </a:avLst>
          </a:prstGeom>
          <a:solidFill>
            <a:srgbClr val="F7F8FA"/>
          </a:solidFill>
          <a:ln/>
        </p:spPr>
        <p:txBody>
          <a:bodyPr/>
          <a:lstStyle/>
          <a:p>
            <a:endParaRPr lang="ko-KR" altLang="en-US"/>
          </a:p>
        </p:txBody>
      </p:sp>
      <p:sp>
        <p:nvSpPr>
          <p:cNvPr id="10" name="Shape 8"/>
          <p:cNvSpPr/>
          <p:nvPr/>
        </p:nvSpPr>
        <p:spPr>
          <a:xfrm>
            <a:off x="800100" y="2762250"/>
            <a:ext cx="247650" cy="247650"/>
          </a:xfrm>
          <a:prstGeom prst="roundRect">
            <a:avLst>
              <a:gd name="adj" fmla="val 50000"/>
            </a:avLst>
          </a:prstGeom>
          <a:solidFill>
            <a:srgbClr val="0A0A0A"/>
          </a:solidFill>
          <a:ln/>
        </p:spPr>
        <p:txBody>
          <a:bodyPr/>
          <a:lstStyle/>
          <a:p>
            <a:endParaRPr lang="ko-KR" altLang="en-US"/>
          </a:p>
        </p:txBody>
      </p:sp>
      <p:sp>
        <p:nvSpPr>
          <p:cNvPr id="11" name="Text 9"/>
          <p:cNvSpPr txBox="1"/>
          <p:nvPr/>
        </p:nvSpPr>
        <p:spPr>
          <a:xfrm>
            <a:off x="8001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1</a:t>
            </a:r>
            <a:endParaRPr lang="en-US" sz="1050" dirty="0"/>
          </a:p>
        </p:txBody>
      </p:sp>
      <p:sp>
        <p:nvSpPr>
          <p:cNvPr id="12" name="Text 10"/>
          <p:cNvSpPr txBox="1"/>
          <p:nvPr/>
        </p:nvSpPr>
        <p:spPr>
          <a:xfrm>
            <a:off x="11239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선정일</a:t>
            </a:r>
            <a:endParaRPr lang="en-US" sz="1275" dirty="0"/>
          </a:p>
        </p:txBody>
      </p:sp>
      <p:sp>
        <p:nvSpPr>
          <p:cNvPr id="13" name="Text 11"/>
          <p:cNvSpPr txBox="1"/>
          <p:nvPr/>
        </p:nvSpPr>
        <p:spPr>
          <a:xfrm>
            <a:off x="800100" y="3086100"/>
            <a:ext cx="2247900" cy="106680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분기말</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자료마감일 = 선정일 이전</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제5 공통개장일</a:t>
            </a:r>
            <a:endParaRPr lang="en-US" sz="1050" dirty="0"/>
          </a:p>
        </p:txBody>
      </p:sp>
      <p:sp>
        <p:nvSpPr>
          <p:cNvPr id="14" name="Text 12"/>
          <p:cNvSpPr txBox="1"/>
          <p:nvPr/>
        </p:nvSpPr>
        <p:spPr>
          <a:xfrm>
            <a:off x="3238500" y="3314700"/>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15" name="Shape 13"/>
          <p:cNvSpPr/>
          <p:nvPr/>
        </p:nvSpPr>
        <p:spPr>
          <a:xfrm>
            <a:off x="3390900" y="2590800"/>
            <a:ext cx="2628900" cy="1714500"/>
          </a:xfrm>
          <a:prstGeom prst="roundRect">
            <a:avLst>
              <a:gd name="adj" fmla="val 8889"/>
            </a:avLst>
          </a:prstGeom>
          <a:solidFill>
            <a:srgbClr val="F7F8FA"/>
          </a:solidFill>
          <a:ln/>
        </p:spPr>
        <p:txBody>
          <a:bodyPr/>
          <a:lstStyle/>
          <a:p>
            <a:endParaRPr lang="ko-KR" altLang="en-US"/>
          </a:p>
        </p:txBody>
      </p:sp>
      <p:sp>
        <p:nvSpPr>
          <p:cNvPr id="16" name="Shape 14"/>
          <p:cNvSpPr/>
          <p:nvPr/>
        </p:nvSpPr>
        <p:spPr>
          <a:xfrm>
            <a:off x="3581400" y="2762250"/>
            <a:ext cx="247650" cy="247650"/>
          </a:xfrm>
          <a:prstGeom prst="roundRect">
            <a:avLst>
              <a:gd name="adj" fmla="val 50000"/>
            </a:avLst>
          </a:prstGeom>
          <a:solidFill>
            <a:srgbClr val="0A0A0A"/>
          </a:solidFill>
          <a:ln/>
        </p:spPr>
        <p:txBody>
          <a:bodyPr/>
          <a:lstStyle/>
          <a:p>
            <a:endParaRPr lang="ko-KR" altLang="en-US"/>
          </a:p>
        </p:txBody>
      </p:sp>
      <p:sp>
        <p:nvSpPr>
          <p:cNvPr id="17" name="Text 15"/>
          <p:cNvSpPr txBox="1"/>
          <p:nvPr/>
        </p:nvSpPr>
        <p:spPr>
          <a:xfrm>
            <a:off x="35814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2</a:t>
            </a:r>
            <a:endParaRPr lang="en-US" sz="1050" dirty="0"/>
          </a:p>
        </p:txBody>
      </p:sp>
      <p:sp>
        <p:nvSpPr>
          <p:cNvPr id="18" name="Text 16"/>
          <p:cNvSpPr txBox="1"/>
          <p:nvPr/>
        </p:nvSpPr>
        <p:spPr>
          <a:xfrm>
            <a:off x="39052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효력발생일</a:t>
            </a:r>
            <a:endParaRPr lang="en-US" sz="1275" dirty="0"/>
          </a:p>
        </p:txBody>
      </p:sp>
      <p:sp>
        <p:nvSpPr>
          <p:cNvPr id="19" name="Text 17"/>
          <p:cNvSpPr txBox="1"/>
          <p:nvPr/>
        </p:nvSpPr>
        <p:spPr>
          <a:xfrm>
            <a:off x="3581400" y="3086100"/>
            <a:ext cx="2247900" cy="106680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선정 다음</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첫 공통개장일에</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목표비중 적용</a:t>
            </a:r>
            <a:endParaRPr lang="en-US" sz="1050" dirty="0"/>
          </a:p>
        </p:txBody>
      </p:sp>
      <p:sp>
        <p:nvSpPr>
          <p:cNvPr id="20" name="Text 18"/>
          <p:cNvSpPr txBox="1"/>
          <p:nvPr/>
        </p:nvSpPr>
        <p:spPr>
          <a:xfrm>
            <a:off x="6019800" y="3314700"/>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1" name="Shape 19"/>
          <p:cNvSpPr/>
          <p:nvPr/>
        </p:nvSpPr>
        <p:spPr>
          <a:xfrm>
            <a:off x="6172200" y="2590800"/>
            <a:ext cx="2628900" cy="1714500"/>
          </a:xfrm>
          <a:prstGeom prst="roundRect">
            <a:avLst>
              <a:gd name="adj" fmla="val 8889"/>
            </a:avLst>
          </a:prstGeom>
          <a:solidFill>
            <a:srgbClr val="F7F8FA"/>
          </a:solidFill>
          <a:ln/>
        </p:spPr>
        <p:txBody>
          <a:bodyPr/>
          <a:lstStyle/>
          <a:p>
            <a:endParaRPr lang="ko-KR" altLang="en-US"/>
          </a:p>
        </p:txBody>
      </p:sp>
      <p:sp>
        <p:nvSpPr>
          <p:cNvPr id="22" name="Shape 20"/>
          <p:cNvSpPr/>
          <p:nvPr/>
        </p:nvSpPr>
        <p:spPr>
          <a:xfrm>
            <a:off x="6362700" y="2762250"/>
            <a:ext cx="247650" cy="247650"/>
          </a:xfrm>
          <a:prstGeom prst="roundRect">
            <a:avLst>
              <a:gd name="adj" fmla="val 50000"/>
            </a:avLst>
          </a:prstGeom>
          <a:solidFill>
            <a:srgbClr val="0A0A0A"/>
          </a:solidFill>
          <a:ln/>
        </p:spPr>
        <p:txBody>
          <a:bodyPr/>
          <a:lstStyle/>
          <a:p>
            <a:endParaRPr lang="ko-KR" altLang="en-US"/>
          </a:p>
        </p:txBody>
      </p:sp>
      <p:sp>
        <p:nvSpPr>
          <p:cNvPr id="23" name="Text 21"/>
          <p:cNvSpPr txBox="1"/>
          <p:nvPr/>
        </p:nvSpPr>
        <p:spPr>
          <a:xfrm>
            <a:off x="63627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3</a:t>
            </a:r>
            <a:endParaRPr lang="en-US" sz="1050" dirty="0"/>
          </a:p>
        </p:txBody>
      </p:sp>
      <p:sp>
        <p:nvSpPr>
          <p:cNvPr id="24" name="Text 22"/>
          <p:cNvSpPr txBox="1"/>
          <p:nvPr/>
        </p:nvSpPr>
        <p:spPr>
          <a:xfrm>
            <a:off x="66865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다음 분기까지</a:t>
            </a:r>
            <a:endParaRPr lang="en-US" sz="1275" dirty="0"/>
          </a:p>
        </p:txBody>
      </p:sp>
      <p:sp>
        <p:nvSpPr>
          <p:cNvPr id="25" name="Text 23"/>
          <p:cNvSpPr txBox="1"/>
          <p:nvPr/>
        </p:nvSpPr>
        <p:spPr>
          <a:xfrm>
            <a:off x="6362700" y="3086100"/>
            <a:ext cx="2247900" cy="106680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수량 고정</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비중은 표류한다</a:t>
            </a:r>
            <a:endParaRPr lang="en-US" sz="1050" dirty="0"/>
          </a:p>
        </p:txBody>
      </p:sp>
      <p:sp>
        <p:nvSpPr>
          <p:cNvPr id="26" name="Text 24"/>
          <p:cNvSpPr txBox="1"/>
          <p:nvPr/>
        </p:nvSpPr>
        <p:spPr>
          <a:xfrm>
            <a:off x="8801100" y="3314700"/>
            <a:ext cx="152400" cy="266700"/>
          </a:xfrm>
          <a:prstGeom prst="rect">
            <a:avLst/>
          </a:prstGeom>
          <a:noFill/>
          <a:ln/>
        </p:spPr>
        <p:txBody>
          <a:bodyPr wrap="square" lIns="0" tIns="0" rIns="0" bIns="0" rtlCol="0" anchor="ctr"/>
          <a:lstStyle/>
          <a:p>
            <a:pPr marL="0" indent="0" algn="ctr">
              <a:buNone/>
            </a:pPr>
            <a:r>
              <a:rPr lang="en-US" sz="1500" b="1" dirty="0">
                <a:solidFill>
                  <a:srgbClr val="A8AAB2"/>
                </a:solidFill>
                <a:latin typeface="Malgun Gothic" pitchFamily="34" charset="0"/>
                <a:ea typeface="Malgun Gothic" pitchFamily="34" charset="-122"/>
                <a:cs typeface="Malgun Gothic" pitchFamily="34" charset="-120"/>
              </a:rPr>
              <a:t>›</a:t>
            </a:r>
            <a:endParaRPr lang="en-US" sz="1500" dirty="0"/>
          </a:p>
        </p:txBody>
      </p:sp>
      <p:sp>
        <p:nvSpPr>
          <p:cNvPr id="27" name="Shape 25"/>
          <p:cNvSpPr/>
          <p:nvPr/>
        </p:nvSpPr>
        <p:spPr>
          <a:xfrm>
            <a:off x="8953500" y="2590800"/>
            <a:ext cx="2628900" cy="1714500"/>
          </a:xfrm>
          <a:prstGeom prst="roundRect">
            <a:avLst>
              <a:gd name="adj" fmla="val 8889"/>
            </a:avLst>
          </a:prstGeom>
          <a:solidFill>
            <a:srgbClr val="F7F8FA"/>
          </a:solidFill>
          <a:ln/>
        </p:spPr>
        <p:txBody>
          <a:bodyPr/>
          <a:lstStyle/>
          <a:p>
            <a:endParaRPr lang="ko-KR" altLang="en-US"/>
          </a:p>
        </p:txBody>
      </p:sp>
      <p:sp>
        <p:nvSpPr>
          <p:cNvPr id="28" name="Shape 26"/>
          <p:cNvSpPr/>
          <p:nvPr/>
        </p:nvSpPr>
        <p:spPr>
          <a:xfrm>
            <a:off x="9144000" y="2762250"/>
            <a:ext cx="247650" cy="247650"/>
          </a:xfrm>
          <a:prstGeom prst="roundRect">
            <a:avLst>
              <a:gd name="adj" fmla="val 50000"/>
            </a:avLst>
          </a:prstGeom>
          <a:solidFill>
            <a:srgbClr val="0A0A0A"/>
          </a:solidFill>
          <a:ln/>
        </p:spPr>
        <p:txBody>
          <a:bodyPr/>
          <a:lstStyle/>
          <a:p>
            <a:endParaRPr lang="ko-KR" altLang="en-US"/>
          </a:p>
        </p:txBody>
      </p:sp>
      <p:sp>
        <p:nvSpPr>
          <p:cNvPr id="29" name="Text 27"/>
          <p:cNvSpPr txBox="1"/>
          <p:nvPr/>
        </p:nvSpPr>
        <p:spPr>
          <a:xfrm>
            <a:off x="9144000" y="2762250"/>
            <a:ext cx="247650" cy="247650"/>
          </a:xfrm>
          <a:prstGeom prst="rect">
            <a:avLst/>
          </a:prstGeom>
          <a:noFill/>
          <a:ln/>
        </p:spPr>
        <p:txBody>
          <a:bodyPr wrap="square" lIns="0" tIns="0" rIns="0" bIns="0" rtlCol="0" anchor="ctr"/>
          <a:lstStyle/>
          <a:p>
            <a:pPr marL="0" indent="0" algn="ctr">
              <a:buNone/>
            </a:pPr>
            <a:r>
              <a:rPr lang="en-US" sz="1050" b="1" dirty="0">
                <a:solidFill>
                  <a:srgbClr val="FFFFFF"/>
                </a:solidFill>
                <a:latin typeface="Malgun Gothic" pitchFamily="34" charset="0"/>
                <a:ea typeface="Malgun Gothic" pitchFamily="34" charset="-122"/>
                <a:cs typeface="Malgun Gothic" pitchFamily="34" charset="-120"/>
              </a:rPr>
              <a:t>4</a:t>
            </a:r>
            <a:endParaRPr lang="en-US" sz="1050" dirty="0"/>
          </a:p>
        </p:txBody>
      </p:sp>
      <p:sp>
        <p:nvSpPr>
          <p:cNvPr id="30" name="Text 28"/>
          <p:cNvSpPr txBox="1"/>
          <p:nvPr/>
        </p:nvSpPr>
        <p:spPr>
          <a:xfrm>
            <a:off x="9467850" y="2762250"/>
            <a:ext cx="1924050" cy="247650"/>
          </a:xfrm>
          <a:prstGeom prst="rect">
            <a:avLst/>
          </a:prstGeom>
          <a:noFill/>
          <a:ln/>
        </p:spPr>
        <p:txBody>
          <a:bodyPr wrap="square" lIns="0" tIns="0" rIns="0" bIns="0" rtlCol="0" anchor="ctr"/>
          <a:lstStyle/>
          <a:p>
            <a:pPr marL="0" indent="0">
              <a:buNone/>
            </a:pPr>
            <a:r>
              <a:rPr lang="en-US" sz="1275" b="1" dirty="0">
                <a:solidFill>
                  <a:srgbClr val="0A0A0A"/>
                </a:solidFill>
                <a:latin typeface="Malgun Gothic" pitchFamily="34" charset="0"/>
                <a:ea typeface="Malgun Gothic" pitchFamily="34" charset="-122"/>
                <a:cs typeface="Malgun Gothic" pitchFamily="34" charset="-120"/>
              </a:rPr>
              <a:t>다음 선정일</a:t>
            </a:r>
            <a:endParaRPr lang="en-US" sz="1275" dirty="0"/>
          </a:p>
        </p:txBody>
      </p:sp>
      <p:sp>
        <p:nvSpPr>
          <p:cNvPr id="31" name="Text 29"/>
          <p:cNvSpPr txBox="1"/>
          <p:nvPr/>
        </p:nvSpPr>
        <p:spPr>
          <a:xfrm>
            <a:off x="9144000" y="3086100"/>
            <a:ext cx="2247900" cy="106680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다시 1/6로</a:t>
            </a:r>
            <a:endParaRPr lang="en-US" sz="1050" dirty="0"/>
          </a:p>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리셋</a:t>
            </a:r>
            <a:endParaRPr lang="en-US" sz="1050" dirty="0"/>
          </a:p>
        </p:txBody>
      </p:sp>
      <p:sp>
        <p:nvSpPr>
          <p:cNvPr id="32" name="Shape 30"/>
          <p:cNvSpPr/>
          <p:nvPr/>
        </p:nvSpPr>
        <p:spPr>
          <a:xfrm>
            <a:off x="609600" y="4495800"/>
            <a:ext cx="10972800" cy="800100"/>
          </a:xfrm>
          <a:prstGeom prst="roundRect">
            <a:avLst>
              <a:gd name="adj" fmla="val 38095"/>
            </a:avLst>
          </a:prstGeom>
          <a:solidFill>
            <a:srgbClr val="FF5530"/>
          </a:solidFill>
          <a:ln/>
        </p:spPr>
        <p:txBody>
          <a:bodyPr/>
          <a:lstStyle/>
          <a:p>
            <a:endParaRPr lang="ko-KR" altLang="en-US"/>
          </a:p>
        </p:txBody>
      </p:sp>
      <p:sp>
        <p:nvSpPr>
          <p:cNvPr id="33" name="Text 31"/>
          <p:cNvSpPr txBox="1"/>
          <p:nvPr/>
        </p:nvSpPr>
        <p:spPr>
          <a:xfrm>
            <a:off x="914400" y="4495800"/>
            <a:ext cx="10363200" cy="800100"/>
          </a:xfrm>
          <a:prstGeom prst="rect">
            <a:avLst/>
          </a:prstGeom>
          <a:noFill/>
          <a:ln/>
        </p:spPr>
        <p:txBody>
          <a:bodyPr wrap="square" lIns="0" tIns="0" rIns="0" bIns="0" rtlCol="0" anchor="ctr"/>
          <a:lstStyle/>
          <a:p>
            <a:pPr marL="0" indent="0">
              <a:buNone/>
            </a:pPr>
            <a:r>
              <a:rPr lang="en-US" sz="1725" b="1" kern="0" spc="-50" dirty="0">
                <a:solidFill>
                  <a:srgbClr val="FFFFFF"/>
                </a:solidFill>
                <a:latin typeface="Malgun Gothic" pitchFamily="34" charset="0"/>
                <a:ea typeface="Malgun Gothic" pitchFamily="34" charset="-122"/>
                <a:cs typeface="Malgun Gothic" pitchFamily="34" charset="-120"/>
              </a:rPr>
              <a:t>오른 종목의 비중은 저절로 커지고, 리밸런싱이 그것을 되돌립니다.</a:t>
            </a:r>
            <a:endParaRPr lang="en-US" sz="1725" dirty="0"/>
          </a:p>
        </p:txBody>
      </p:sp>
      <p:sp>
        <p:nvSpPr>
          <p:cNvPr id="34" name="Shape 32"/>
          <p:cNvSpPr/>
          <p:nvPr/>
        </p:nvSpPr>
        <p:spPr>
          <a:xfrm>
            <a:off x="609600" y="5486400"/>
            <a:ext cx="10972800" cy="533400"/>
          </a:xfrm>
          <a:prstGeom prst="roundRect">
            <a:avLst>
              <a:gd name="adj" fmla="val 28571"/>
            </a:avLst>
          </a:prstGeom>
          <a:solidFill>
            <a:srgbClr val="F7F8FA"/>
          </a:solidFill>
          <a:ln/>
        </p:spPr>
        <p:txBody>
          <a:bodyPr/>
          <a:lstStyle/>
          <a:p>
            <a:endParaRPr lang="ko-KR" altLang="en-US"/>
          </a:p>
        </p:txBody>
      </p:sp>
      <p:sp>
        <p:nvSpPr>
          <p:cNvPr id="35" name="Text 33"/>
          <p:cNvSpPr txBox="1"/>
          <p:nvPr/>
        </p:nvSpPr>
        <p:spPr>
          <a:xfrm>
            <a:off x="800100" y="5676900"/>
            <a:ext cx="10591800" cy="190500"/>
          </a:xfrm>
          <a:prstGeom prst="rect">
            <a:avLst/>
          </a:prstGeom>
          <a:noFill/>
          <a:ln/>
        </p:spPr>
        <p:txBody>
          <a:bodyPr wrap="square" lIns="0" tIns="0" rIns="0" bIns="0" rtlCol="0" anchor="t"/>
          <a:lstStyle/>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정기변경은 분기 1회. 13년 구간에서 정기변경 53회 · 실제 구성이 바뀐 것은 28회입니다.</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산출 · 권보성</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규칙이 실제로 굴렀다</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예외처리까지 13년 동안 사람 손 없이 발동했습니다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19</a:t>
            </a:r>
            <a:endParaRPr lang="en-US" sz="900" dirty="0"/>
          </a:p>
        </p:txBody>
      </p:sp>
      <p:pic>
        <p:nvPicPr>
          <p:cNvPr id="9" name="Image 0" descr="/root/deck/fig/03_셀부족재배분.png"/>
          <p:cNvPicPr>
            <a:picLocks noChangeAspect="1"/>
          </p:cNvPicPr>
          <p:nvPr/>
        </p:nvPicPr>
        <p:blipFill>
          <a:blip r:embed="rId3"/>
          <a:stretch>
            <a:fillRect/>
          </a:stretch>
        </p:blipFill>
        <p:spPr>
          <a:xfrm>
            <a:off x="610631" y="2552700"/>
            <a:ext cx="6665438" cy="3028950"/>
          </a:xfrm>
          <a:prstGeom prst="rect">
            <a:avLst/>
          </a:prstGeom>
        </p:spPr>
      </p:pic>
      <p:sp>
        <p:nvSpPr>
          <p:cNvPr id="10" name="Text 7"/>
          <p:cNvSpPr txBox="1"/>
          <p:nvPr/>
        </p:nvSpPr>
        <p:spPr>
          <a:xfrm>
            <a:off x="609600" y="5581650"/>
            <a:ext cx="66675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D-10 ③ 예외처리가 13년간 22회 실제로 발동</a:t>
            </a:r>
            <a:endParaRPr lang="en-US" sz="900" dirty="0"/>
          </a:p>
        </p:txBody>
      </p:sp>
      <p:sp>
        <p:nvSpPr>
          <p:cNvPr id="11" name="Shape 8"/>
          <p:cNvSpPr/>
          <p:nvPr/>
        </p:nvSpPr>
        <p:spPr>
          <a:xfrm>
            <a:off x="7505700" y="2552700"/>
            <a:ext cx="4076700" cy="1238250"/>
          </a:xfrm>
          <a:prstGeom prst="roundRect">
            <a:avLst>
              <a:gd name="adj" fmla="val 12308"/>
            </a:avLst>
          </a:prstGeom>
          <a:solidFill>
            <a:srgbClr val="FFFFFF"/>
          </a:solidFill>
          <a:ln w="12700">
            <a:solidFill>
              <a:srgbClr val="E5E7EB"/>
            </a:solidFill>
            <a:prstDash val="solid"/>
          </a:ln>
        </p:spPr>
        <p:txBody>
          <a:bodyPr/>
          <a:lstStyle/>
          <a:p>
            <a:endParaRPr lang="ko-KR" altLang="en-US"/>
          </a:p>
        </p:txBody>
      </p:sp>
      <p:sp>
        <p:nvSpPr>
          <p:cNvPr id="12" name="Text 9"/>
          <p:cNvSpPr txBox="1"/>
          <p:nvPr/>
        </p:nvSpPr>
        <p:spPr>
          <a:xfrm>
            <a:off x="7696200" y="2743200"/>
            <a:ext cx="36957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13년 산출 규모</a:t>
            </a:r>
            <a:endParaRPr lang="en-US" sz="1425" dirty="0"/>
          </a:p>
        </p:txBody>
      </p:sp>
      <p:sp>
        <p:nvSpPr>
          <p:cNvPr id="13" name="Text 10"/>
          <p:cNvSpPr txBox="1"/>
          <p:nvPr/>
        </p:nvSpPr>
        <p:spPr>
          <a:xfrm>
            <a:off x="7696200" y="3048000"/>
            <a:ext cx="3695700" cy="590550"/>
          </a:xfrm>
          <a:prstGeom prst="rect">
            <a:avLst/>
          </a:prstGeom>
          <a:noFill/>
          <a:ln/>
        </p:spPr>
        <p:txBody>
          <a:bodyPr wrap="square" lIns="0" tIns="0" rIns="0" bIns="0" rtlCol="0" anchor="t"/>
          <a:lstStyle/>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산출 3,076일 · 정기변경 53회</a:t>
            </a: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구성변경 28회 · 셀 부족 재배분 22회</a:t>
            </a:r>
            <a:endParaRPr lang="en-US" sz="1050" dirty="0"/>
          </a:p>
        </p:txBody>
      </p:sp>
      <p:sp>
        <p:nvSpPr>
          <p:cNvPr id="14" name="Shape 11"/>
          <p:cNvSpPr/>
          <p:nvPr/>
        </p:nvSpPr>
        <p:spPr>
          <a:xfrm>
            <a:off x="7505700" y="3943350"/>
            <a:ext cx="4076700" cy="933450"/>
          </a:xfrm>
          <a:prstGeom prst="roundRect">
            <a:avLst>
              <a:gd name="adj" fmla="val 8163"/>
            </a:avLst>
          </a:prstGeom>
          <a:solidFill>
            <a:srgbClr val="FFFFFF"/>
          </a:solidFill>
          <a:ln w="12700">
            <a:solidFill>
              <a:srgbClr val="E5E7EB"/>
            </a:solidFill>
            <a:prstDash val="solid"/>
          </a:ln>
        </p:spPr>
        <p:txBody>
          <a:bodyPr/>
          <a:lstStyle/>
          <a:p>
            <a:endParaRPr lang="ko-KR" altLang="en-US"/>
          </a:p>
        </p:txBody>
      </p:sp>
      <p:sp>
        <p:nvSpPr>
          <p:cNvPr id="15" name="Shape 12"/>
          <p:cNvSpPr/>
          <p:nvPr/>
        </p:nvSpPr>
        <p:spPr>
          <a:xfrm>
            <a:off x="7505700" y="3943350"/>
            <a:ext cx="4076700" cy="323850"/>
          </a:xfrm>
          <a:prstGeom prst="rect">
            <a:avLst/>
          </a:prstGeom>
          <a:solidFill>
            <a:srgbClr val="F7F8FA"/>
          </a:solidFill>
          <a:ln/>
        </p:spPr>
        <p:txBody>
          <a:bodyPr/>
          <a:lstStyle/>
          <a:p>
            <a:endParaRPr lang="ko-KR" altLang="en-US"/>
          </a:p>
        </p:txBody>
      </p:sp>
      <p:sp>
        <p:nvSpPr>
          <p:cNvPr id="16" name="Shape 13"/>
          <p:cNvSpPr/>
          <p:nvPr/>
        </p:nvSpPr>
        <p:spPr>
          <a:xfrm>
            <a:off x="7505700" y="4267200"/>
            <a:ext cx="4076700" cy="9525"/>
          </a:xfrm>
          <a:prstGeom prst="rect">
            <a:avLst/>
          </a:prstGeom>
          <a:solidFill>
            <a:srgbClr val="E5E7EB"/>
          </a:solidFill>
          <a:ln/>
        </p:spPr>
        <p:txBody>
          <a:bodyPr/>
          <a:lstStyle/>
          <a:p>
            <a:endParaRPr lang="ko-KR" altLang="en-US"/>
          </a:p>
        </p:txBody>
      </p:sp>
      <p:sp>
        <p:nvSpPr>
          <p:cNvPr id="17" name="Text 14"/>
          <p:cNvSpPr txBox="1"/>
          <p:nvPr/>
        </p:nvSpPr>
        <p:spPr>
          <a:xfrm>
            <a:off x="7639050" y="3943350"/>
            <a:ext cx="2668524"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셀 부족 재배분</a:t>
            </a:r>
            <a:endParaRPr lang="en-US" sz="975" dirty="0"/>
          </a:p>
        </p:txBody>
      </p:sp>
      <p:sp>
        <p:nvSpPr>
          <p:cNvPr id="18" name="Text 15"/>
          <p:cNvSpPr txBox="1"/>
          <p:nvPr/>
        </p:nvSpPr>
        <p:spPr>
          <a:xfrm>
            <a:off x="10574274" y="3943350"/>
            <a:ext cx="874776" cy="323850"/>
          </a:xfrm>
          <a:prstGeom prst="rect">
            <a:avLst/>
          </a:prstGeom>
          <a:noFill/>
          <a:ln/>
        </p:spPr>
        <p:txBody>
          <a:bodyPr wrap="square" lIns="0" tIns="0" rIns="0" bIns="0" rtlCol="0" anchor="ctr"/>
          <a:lstStyle/>
          <a:p>
            <a:pPr marL="0" indent="0" algn="r">
              <a:buNone/>
            </a:pPr>
            <a:r>
              <a:rPr lang="en-US" sz="975" b="1" dirty="0">
                <a:solidFill>
                  <a:srgbClr val="5F5F5F"/>
                </a:solidFill>
                <a:latin typeface="Malgun Gothic" pitchFamily="34" charset="0"/>
                <a:ea typeface="Malgun Gothic" pitchFamily="34" charset="-122"/>
                <a:cs typeface="Malgun Gothic" pitchFamily="34" charset="-120"/>
              </a:rPr>
              <a:t>횟수</a:t>
            </a:r>
            <a:endParaRPr lang="en-US" sz="975" dirty="0"/>
          </a:p>
        </p:txBody>
      </p:sp>
      <p:sp>
        <p:nvSpPr>
          <p:cNvPr id="19" name="Text 16"/>
          <p:cNvSpPr txBox="1"/>
          <p:nvPr/>
        </p:nvSpPr>
        <p:spPr>
          <a:xfrm>
            <a:off x="7639050" y="4267200"/>
            <a:ext cx="2668524" cy="3048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KR_ENERGY_POWER → US</a:t>
            </a:r>
            <a:endParaRPr lang="en-US" sz="1050" dirty="0"/>
          </a:p>
        </p:txBody>
      </p:sp>
      <p:sp>
        <p:nvSpPr>
          <p:cNvPr id="20" name="Text 17"/>
          <p:cNvSpPr txBox="1"/>
          <p:nvPr/>
        </p:nvSpPr>
        <p:spPr>
          <a:xfrm>
            <a:off x="10574274" y="4267200"/>
            <a:ext cx="874776" cy="30480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14회</a:t>
            </a:r>
            <a:endParaRPr lang="en-US" sz="1050" dirty="0"/>
          </a:p>
        </p:txBody>
      </p:sp>
      <p:sp>
        <p:nvSpPr>
          <p:cNvPr id="21" name="Shape 18"/>
          <p:cNvSpPr/>
          <p:nvPr/>
        </p:nvSpPr>
        <p:spPr>
          <a:xfrm>
            <a:off x="7639050" y="4572000"/>
            <a:ext cx="3810000" cy="9525"/>
          </a:xfrm>
          <a:prstGeom prst="rect">
            <a:avLst/>
          </a:prstGeom>
          <a:solidFill>
            <a:srgbClr val="EAECF0"/>
          </a:solidFill>
          <a:ln/>
        </p:spPr>
        <p:txBody>
          <a:bodyPr/>
          <a:lstStyle/>
          <a:p>
            <a:endParaRPr lang="ko-KR" altLang="en-US"/>
          </a:p>
        </p:txBody>
      </p:sp>
      <p:sp>
        <p:nvSpPr>
          <p:cNvPr id="22" name="Text 19"/>
          <p:cNvSpPr txBox="1"/>
          <p:nvPr/>
        </p:nvSpPr>
        <p:spPr>
          <a:xfrm>
            <a:off x="7639050" y="4572000"/>
            <a:ext cx="2668524" cy="3048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KR_AI_ROBOTICS → US</a:t>
            </a:r>
            <a:endParaRPr lang="en-US" sz="1050" dirty="0"/>
          </a:p>
        </p:txBody>
      </p:sp>
      <p:sp>
        <p:nvSpPr>
          <p:cNvPr id="23" name="Text 20"/>
          <p:cNvSpPr txBox="1"/>
          <p:nvPr/>
        </p:nvSpPr>
        <p:spPr>
          <a:xfrm>
            <a:off x="10574274" y="4572000"/>
            <a:ext cx="874776" cy="30480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8회</a:t>
            </a:r>
            <a:endParaRPr lang="en-US" sz="1050" dirty="0"/>
          </a:p>
        </p:txBody>
      </p:sp>
      <p:sp>
        <p:nvSpPr>
          <p:cNvPr id="24" name="Shape 21"/>
          <p:cNvSpPr/>
          <p:nvPr/>
        </p:nvSpPr>
        <p:spPr>
          <a:xfrm>
            <a:off x="7505700" y="4972050"/>
            <a:ext cx="4076700" cy="876300"/>
          </a:xfrm>
          <a:prstGeom prst="roundRect">
            <a:avLst>
              <a:gd name="adj" fmla="val 17391"/>
            </a:avLst>
          </a:prstGeom>
          <a:solidFill>
            <a:srgbClr val="F7F8FA"/>
          </a:solidFill>
          <a:ln/>
        </p:spPr>
        <p:txBody>
          <a:bodyPr/>
          <a:lstStyle/>
          <a:p>
            <a:endParaRPr lang="ko-KR" altLang="en-US"/>
          </a:p>
        </p:txBody>
      </p:sp>
      <p:sp>
        <p:nvSpPr>
          <p:cNvPr id="25" name="Text 22"/>
          <p:cNvSpPr txBox="1"/>
          <p:nvPr/>
        </p:nvSpPr>
        <p:spPr>
          <a:xfrm>
            <a:off x="7696200" y="5162550"/>
            <a:ext cx="3695700" cy="533400"/>
          </a:xfrm>
          <a:prstGeom prst="rect">
            <a:avLst/>
          </a:prstGeom>
          <a:noFill/>
          <a:ln/>
        </p:spPr>
        <p:txBody>
          <a:bodyPr wrap="square" lIns="0" tIns="0" rIns="0" bIns="0" rtlCol="0" anchor="t"/>
          <a:lstStyle/>
          <a:p>
            <a:pPr marL="0" indent="0">
              <a:lnSpc>
                <a:spcPct val="142000"/>
              </a:lnSpc>
              <a:buNone/>
            </a:pPr>
            <a:r>
              <a:rPr lang="en-US" sz="1050" b="1" dirty="0">
                <a:solidFill>
                  <a:srgbClr val="0A0A0A"/>
                </a:solidFill>
                <a:latin typeface="Malgun Gothic" pitchFamily="34" charset="0"/>
                <a:ea typeface="Malgun Gothic" pitchFamily="34" charset="-122"/>
                <a:cs typeface="Malgun Gothic" pitchFamily="34" charset="-120"/>
              </a:rPr>
              <a:t>왜 비었나 — </a:t>
            </a: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상장 전이거나, 셀에 1종목뿐인데 그 종목이 유동성 하한에 걸렸습니다.</a:t>
            </a:r>
            <a:endParaRPr lang="en-US" sz="1050" dirty="0"/>
          </a:p>
        </p:txBody>
      </p:sp>
      <p:sp>
        <p:nvSpPr>
          <p:cNvPr id="26" name="Text 23"/>
          <p:cNvSpPr txBox="1"/>
          <p:nvPr/>
        </p:nvSpPr>
        <p:spPr>
          <a:xfrm>
            <a:off x="609600" y="5867400"/>
            <a:ext cx="66675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06_코드/backtest_long/figures/03_셀부족재배분.png</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산출 · 권보성</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실제로 따라갈 수 있는가</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회전율 · 거래비용 · 수용력을 모두 계산했습니다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20</a:t>
            </a:r>
            <a:endParaRPr lang="en-US" sz="900" dirty="0"/>
          </a:p>
        </p:txBody>
      </p:sp>
      <p:pic>
        <p:nvPicPr>
          <p:cNvPr id="9" name="Image 0" descr="/root/deck/fig/09_회전율비용.png"/>
          <p:cNvPicPr>
            <a:picLocks noChangeAspect="1"/>
          </p:cNvPicPr>
          <p:nvPr/>
        </p:nvPicPr>
        <p:blipFill>
          <a:blip r:embed="rId3"/>
          <a:stretch>
            <a:fillRect/>
          </a:stretch>
        </p:blipFill>
        <p:spPr>
          <a:xfrm>
            <a:off x="609600" y="2656363"/>
            <a:ext cx="6286500" cy="2821624"/>
          </a:xfrm>
          <a:prstGeom prst="rect">
            <a:avLst/>
          </a:prstGeom>
        </p:spPr>
      </p:pic>
      <p:sp>
        <p:nvSpPr>
          <p:cNvPr id="10" name="Text 7"/>
          <p:cNvSpPr txBox="1"/>
          <p:nvPr/>
        </p:nvSpPr>
        <p:spPr>
          <a:xfrm>
            <a:off x="609600" y="5581650"/>
            <a:ext cx="62865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회전율과 수용력 — 액티브 펀드는 연 100~300%</a:t>
            </a:r>
            <a:endParaRPr lang="en-US" sz="900" dirty="0"/>
          </a:p>
        </p:txBody>
      </p:sp>
      <p:sp>
        <p:nvSpPr>
          <p:cNvPr id="11" name="Shape 8"/>
          <p:cNvSpPr/>
          <p:nvPr/>
        </p:nvSpPr>
        <p:spPr>
          <a:xfrm>
            <a:off x="7124700" y="2552700"/>
            <a:ext cx="211455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12" name="Text 9"/>
          <p:cNvSpPr txBox="1"/>
          <p:nvPr/>
        </p:nvSpPr>
        <p:spPr>
          <a:xfrm>
            <a:off x="7315200" y="2705100"/>
            <a:ext cx="173355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회전율 · 회당</a:t>
            </a:r>
            <a:endParaRPr lang="en-US" sz="975" dirty="0"/>
          </a:p>
        </p:txBody>
      </p:sp>
      <p:sp>
        <p:nvSpPr>
          <p:cNvPr id="13" name="Text 10"/>
          <p:cNvSpPr txBox="1"/>
          <p:nvPr/>
        </p:nvSpPr>
        <p:spPr>
          <a:xfrm>
            <a:off x="7315200" y="2895600"/>
            <a:ext cx="173355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12.7%</a:t>
            </a:r>
            <a:endParaRPr lang="en-US" sz="2250" dirty="0"/>
          </a:p>
        </p:txBody>
      </p:sp>
      <p:sp>
        <p:nvSpPr>
          <p:cNvPr id="14" name="Shape 11"/>
          <p:cNvSpPr/>
          <p:nvPr/>
        </p:nvSpPr>
        <p:spPr>
          <a:xfrm>
            <a:off x="9467850" y="2552700"/>
            <a:ext cx="211455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15" name="Text 12"/>
          <p:cNvSpPr txBox="1"/>
          <p:nvPr/>
        </p:nvSpPr>
        <p:spPr>
          <a:xfrm>
            <a:off x="9658350" y="2705100"/>
            <a:ext cx="173355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회전율 · 연간</a:t>
            </a:r>
            <a:endParaRPr lang="en-US" sz="975" dirty="0"/>
          </a:p>
        </p:txBody>
      </p:sp>
      <p:sp>
        <p:nvSpPr>
          <p:cNvPr id="16" name="Text 13"/>
          <p:cNvSpPr txBox="1"/>
          <p:nvPr/>
        </p:nvSpPr>
        <p:spPr>
          <a:xfrm>
            <a:off x="9658350" y="2895600"/>
            <a:ext cx="173355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50.7%</a:t>
            </a:r>
            <a:endParaRPr lang="en-US" sz="2250" dirty="0"/>
          </a:p>
        </p:txBody>
      </p:sp>
      <p:sp>
        <p:nvSpPr>
          <p:cNvPr id="17" name="Shape 14"/>
          <p:cNvSpPr/>
          <p:nvPr/>
        </p:nvSpPr>
        <p:spPr>
          <a:xfrm>
            <a:off x="7124700" y="3714750"/>
            <a:ext cx="211455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18" name="Text 15"/>
          <p:cNvSpPr txBox="1"/>
          <p:nvPr/>
        </p:nvSpPr>
        <p:spPr>
          <a:xfrm>
            <a:off x="7315200" y="3867150"/>
            <a:ext cx="173355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거래비용 · 연</a:t>
            </a:r>
            <a:endParaRPr lang="en-US" sz="975" dirty="0"/>
          </a:p>
        </p:txBody>
      </p:sp>
      <p:sp>
        <p:nvSpPr>
          <p:cNvPr id="19" name="Text 16"/>
          <p:cNvSpPr txBox="1"/>
          <p:nvPr/>
        </p:nvSpPr>
        <p:spPr>
          <a:xfrm>
            <a:off x="7315200" y="4057650"/>
            <a:ext cx="173355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8bp</a:t>
            </a:r>
            <a:endParaRPr lang="en-US" sz="2250" dirty="0"/>
          </a:p>
        </p:txBody>
      </p:sp>
      <p:sp>
        <p:nvSpPr>
          <p:cNvPr id="20" name="Text 17"/>
          <p:cNvSpPr txBox="1"/>
          <p:nvPr/>
        </p:nvSpPr>
        <p:spPr>
          <a:xfrm>
            <a:off x="7315200" y="4400550"/>
            <a:ext cx="1733550" cy="2667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13년 누적 1.05%</a:t>
            </a:r>
            <a:endParaRPr lang="en-US" sz="975" dirty="0"/>
          </a:p>
        </p:txBody>
      </p:sp>
      <p:sp>
        <p:nvSpPr>
          <p:cNvPr id="21" name="Shape 18"/>
          <p:cNvSpPr/>
          <p:nvPr/>
        </p:nvSpPr>
        <p:spPr>
          <a:xfrm>
            <a:off x="9467850" y="3714750"/>
            <a:ext cx="211455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22" name="Text 19"/>
          <p:cNvSpPr txBox="1"/>
          <p:nvPr/>
        </p:nvSpPr>
        <p:spPr>
          <a:xfrm>
            <a:off x="9658350" y="3867150"/>
            <a:ext cx="173355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CAGR 영향</a:t>
            </a:r>
            <a:endParaRPr lang="en-US" sz="975" dirty="0"/>
          </a:p>
        </p:txBody>
      </p:sp>
      <p:sp>
        <p:nvSpPr>
          <p:cNvPr id="23" name="Text 20"/>
          <p:cNvSpPr txBox="1"/>
          <p:nvPr/>
        </p:nvSpPr>
        <p:spPr>
          <a:xfrm>
            <a:off x="9658350" y="4057650"/>
            <a:ext cx="173355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−10bp</a:t>
            </a:r>
            <a:endParaRPr lang="en-US" sz="2250" dirty="0"/>
          </a:p>
        </p:txBody>
      </p:sp>
      <p:sp>
        <p:nvSpPr>
          <p:cNvPr id="24" name="Shape 21"/>
          <p:cNvSpPr/>
          <p:nvPr/>
        </p:nvSpPr>
        <p:spPr>
          <a:xfrm>
            <a:off x="7124700" y="4838700"/>
            <a:ext cx="4457700" cy="1200150"/>
          </a:xfrm>
          <a:prstGeom prst="roundRect">
            <a:avLst>
              <a:gd name="adj" fmla="val 12698"/>
            </a:avLst>
          </a:prstGeom>
          <a:solidFill>
            <a:srgbClr val="F7F8FA"/>
          </a:solidFill>
          <a:ln/>
        </p:spPr>
        <p:txBody>
          <a:bodyPr/>
          <a:lstStyle/>
          <a:p>
            <a:endParaRPr lang="ko-KR" altLang="en-US"/>
          </a:p>
        </p:txBody>
      </p:sp>
      <p:sp>
        <p:nvSpPr>
          <p:cNvPr id="25" name="Text 22"/>
          <p:cNvSpPr txBox="1"/>
          <p:nvPr/>
        </p:nvSpPr>
        <p:spPr>
          <a:xfrm>
            <a:off x="7315200" y="5029200"/>
            <a:ext cx="4076700" cy="857250"/>
          </a:xfrm>
          <a:prstGeom prst="rect">
            <a:avLst/>
          </a:prstGeom>
          <a:noFill/>
          <a:ln/>
        </p:spPr>
        <p:txBody>
          <a:bodyPr wrap="square" lIns="0" tIns="0" rIns="0" bIns="0" rtlCol="0" anchor="t"/>
          <a:lstStyle/>
          <a:p>
            <a:pPr marL="0" indent="0">
              <a:lnSpc>
                <a:spcPct val="142000"/>
              </a:lnSpc>
              <a:buNone/>
            </a:pPr>
            <a:r>
              <a:rPr lang="en-US" sz="1013" b="1" dirty="0">
                <a:solidFill>
                  <a:srgbClr val="0A0A0A"/>
                </a:solidFill>
                <a:latin typeface="Malgun Gothic" pitchFamily="34" charset="0"/>
                <a:ea typeface="Malgun Gothic" pitchFamily="34" charset="-122"/>
                <a:cs typeface="Malgun Gothic" pitchFamily="34" charset="-120"/>
              </a:rPr>
              <a:t>수용력 </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1조 규모에서 ADTV90 대비 7.7% (우려선 20% 이하)</a:t>
            </a:r>
            <a:endParaRPr lang="en-US" sz="1013" dirty="0"/>
          </a:p>
          <a:p>
            <a:pPr marL="0" indent="0">
              <a:lnSpc>
                <a:spcPct val="142000"/>
              </a:lnSpc>
              <a:buNone/>
            </a:pP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낮은 이유 — 분기 정기변경만 · 동일가중 · 대형주 중심</a:t>
            </a:r>
            <a:endParaRPr lang="en-US" sz="1013" dirty="0"/>
          </a:p>
        </p:txBody>
      </p:sp>
      <p:sp>
        <p:nvSpPr>
          <p:cNvPr id="26" name="Text 23"/>
          <p:cNvSpPr txBox="1"/>
          <p:nvPr/>
        </p:nvSpPr>
        <p:spPr>
          <a:xfrm>
            <a:off x="609600" y="5867400"/>
            <a:ext cx="62865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06_코드/backtest_long/figures/09_회전율비용.png</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결과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성과 — 숫자를 먼저 꺼냅니다</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2013-07-01 ~ 2026-07-23 · 13.06년</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21</a:t>
            </a:r>
            <a:endParaRPr lang="en-US" sz="900" dirty="0"/>
          </a:p>
        </p:txBody>
      </p:sp>
      <p:pic>
        <p:nvPicPr>
          <p:cNvPr id="9" name="Image 0" descr="/root/deck/fig/01_누적곡선.png"/>
          <p:cNvPicPr>
            <a:picLocks noChangeAspect="1"/>
          </p:cNvPicPr>
          <p:nvPr/>
        </p:nvPicPr>
        <p:blipFill>
          <a:blip r:embed="rId3"/>
          <a:stretch>
            <a:fillRect/>
          </a:stretch>
        </p:blipFill>
        <p:spPr>
          <a:xfrm>
            <a:off x="1159278" y="2552700"/>
            <a:ext cx="5568144" cy="3028950"/>
          </a:xfrm>
          <a:prstGeom prst="rect">
            <a:avLst/>
          </a:prstGeom>
        </p:spPr>
      </p:pic>
      <p:sp>
        <p:nvSpPr>
          <p:cNvPr id="10" name="Text 7"/>
          <p:cNvSpPr txBox="1"/>
          <p:nvPr/>
        </p:nvSpPr>
        <p:spPr>
          <a:xfrm>
            <a:off x="609600" y="5581650"/>
            <a:ext cx="66675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로그축 · 붉은 세로선은 구성이 바뀐 28개 시점</a:t>
            </a:r>
            <a:endParaRPr lang="en-US" sz="900" dirty="0"/>
          </a:p>
        </p:txBody>
      </p:sp>
      <p:sp>
        <p:nvSpPr>
          <p:cNvPr id="11" name="Shape 8"/>
          <p:cNvSpPr/>
          <p:nvPr/>
        </p:nvSpPr>
        <p:spPr>
          <a:xfrm>
            <a:off x="7505700" y="2552700"/>
            <a:ext cx="4076700" cy="1009650"/>
          </a:xfrm>
          <a:prstGeom prst="roundRect">
            <a:avLst>
              <a:gd name="adj" fmla="val 7547"/>
            </a:avLst>
          </a:prstGeom>
          <a:solidFill>
            <a:srgbClr val="FFFFFF"/>
          </a:solidFill>
          <a:ln w="12700">
            <a:solidFill>
              <a:srgbClr val="E5E7EB"/>
            </a:solidFill>
            <a:prstDash val="solid"/>
          </a:ln>
        </p:spPr>
        <p:txBody>
          <a:bodyPr/>
          <a:lstStyle/>
          <a:p>
            <a:endParaRPr lang="ko-KR" altLang="en-US"/>
          </a:p>
        </p:txBody>
      </p:sp>
      <p:sp>
        <p:nvSpPr>
          <p:cNvPr id="12" name="Shape 9"/>
          <p:cNvSpPr/>
          <p:nvPr/>
        </p:nvSpPr>
        <p:spPr>
          <a:xfrm>
            <a:off x="7505700" y="2552700"/>
            <a:ext cx="4076700" cy="323850"/>
          </a:xfrm>
          <a:prstGeom prst="rect">
            <a:avLst/>
          </a:prstGeom>
          <a:solidFill>
            <a:srgbClr val="F7F8FA"/>
          </a:solidFill>
          <a:ln/>
        </p:spPr>
        <p:txBody>
          <a:bodyPr/>
          <a:lstStyle/>
          <a:p>
            <a:endParaRPr lang="ko-KR" altLang="en-US"/>
          </a:p>
        </p:txBody>
      </p:sp>
      <p:sp>
        <p:nvSpPr>
          <p:cNvPr id="13" name="Shape 10"/>
          <p:cNvSpPr/>
          <p:nvPr/>
        </p:nvSpPr>
        <p:spPr>
          <a:xfrm>
            <a:off x="7505700" y="2876550"/>
            <a:ext cx="4076700" cy="9525"/>
          </a:xfrm>
          <a:prstGeom prst="rect">
            <a:avLst/>
          </a:prstGeom>
          <a:solidFill>
            <a:srgbClr val="E5E7EB"/>
          </a:solidFill>
          <a:ln/>
        </p:spPr>
        <p:txBody>
          <a:bodyPr/>
          <a:lstStyle/>
          <a:p>
            <a:endParaRPr lang="ko-KR" altLang="en-US"/>
          </a:p>
        </p:txBody>
      </p:sp>
      <p:sp>
        <p:nvSpPr>
          <p:cNvPr id="14" name="Text 11"/>
          <p:cNvSpPr txBox="1"/>
          <p:nvPr/>
        </p:nvSpPr>
        <p:spPr>
          <a:xfrm>
            <a:off x="7639050" y="2552700"/>
            <a:ext cx="874776" cy="323850"/>
          </a:xfrm>
          <a:prstGeom prst="rect">
            <a:avLst/>
          </a:prstGeom>
          <a:noFill/>
          <a:ln/>
        </p:spPr>
        <p:txBody>
          <a:bodyPr wrap="square" lIns="0" tIns="0" rIns="0" bIns="0" rtlCol="0" anchor="ctr"/>
          <a:lstStyle/>
          <a:p>
            <a:pPr marL="0" indent="0" algn="l">
              <a:buNone/>
            </a:pPr>
            <a:endParaRPr lang="en-US" sz="938" dirty="0"/>
          </a:p>
        </p:txBody>
      </p:sp>
      <p:sp>
        <p:nvSpPr>
          <p:cNvPr id="15" name="Text 12"/>
          <p:cNvSpPr txBox="1"/>
          <p:nvPr/>
        </p:nvSpPr>
        <p:spPr>
          <a:xfrm>
            <a:off x="8780526" y="2552700"/>
            <a:ext cx="630174" cy="323850"/>
          </a:xfrm>
          <a:prstGeom prst="rect">
            <a:avLst/>
          </a:prstGeom>
          <a:noFill/>
          <a:ln/>
        </p:spPr>
        <p:txBody>
          <a:bodyPr wrap="square" lIns="0" tIns="0" rIns="0" bIns="0" rtlCol="0" anchor="ctr"/>
          <a:lstStyle/>
          <a:p>
            <a:pPr marL="0" indent="0" algn="r">
              <a:buNone/>
            </a:pPr>
            <a:r>
              <a:rPr lang="en-US" sz="938" b="1" dirty="0">
                <a:solidFill>
                  <a:srgbClr val="5F5F5F"/>
                </a:solidFill>
                <a:latin typeface="Malgun Gothic" pitchFamily="34" charset="0"/>
                <a:ea typeface="Malgun Gothic" pitchFamily="34" charset="-122"/>
                <a:cs typeface="Malgun Gothic" pitchFamily="34" charset="-120"/>
              </a:rPr>
              <a:t>배수</a:t>
            </a:r>
            <a:endParaRPr lang="en-US" sz="938" dirty="0"/>
          </a:p>
        </p:txBody>
      </p:sp>
      <p:sp>
        <p:nvSpPr>
          <p:cNvPr id="16" name="Text 13"/>
          <p:cNvSpPr txBox="1"/>
          <p:nvPr/>
        </p:nvSpPr>
        <p:spPr>
          <a:xfrm>
            <a:off x="9677400" y="2552700"/>
            <a:ext cx="874776" cy="323850"/>
          </a:xfrm>
          <a:prstGeom prst="rect">
            <a:avLst/>
          </a:prstGeom>
          <a:noFill/>
          <a:ln/>
        </p:spPr>
        <p:txBody>
          <a:bodyPr wrap="square" lIns="0" tIns="0" rIns="0" bIns="0" rtlCol="0" anchor="ctr"/>
          <a:lstStyle/>
          <a:p>
            <a:pPr marL="0" indent="0" algn="r">
              <a:buNone/>
            </a:pPr>
            <a:r>
              <a:rPr lang="en-US" sz="938" b="1" dirty="0">
                <a:solidFill>
                  <a:srgbClr val="5F5F5F"/>
                </a:solidFill>
                <a:latin typeface="Malgun Gothic" pitchFamily="34" charset="0"/>
                <a:ea typeface="Malgun Gothic" pitchFamily="34" charset="-122"/>
                <a:cs typeface="Malgun Gothic" pitchFamily="34" charset="-120"/>
              </a:rPr>
              <a:t>누적수익률</a:t>
            </a:r>
            <a:endParaRPr lang="en-US" sz="938" dirty="0"/>
          </a:p>
        </p:txBody>
      </p:sp>
      <p:sp>
        <p:nvSpPr>
          <p:cNvPr id="17" name="Text 14"/>
          <p:cNvSpPr txBox="1"/>
          <p:nvPr/>
        </p:nvSpPr>
        <p:spPr>
          <a:xfrm>
            <a:off x="10818876" y="2552700"/>
            <a:ext cx="630174" cy="323850"/>
          </a:xfrm>
          <a:prstGeom prst="rect">
            <a:avLst/>
          </a:prstGeom>
          <a:noFill/>
          <a:ln/>
        </p:spPr>
        <p:txBody>
          <a:bodyPr wrap="square" lIns="0" tIns="0" rIns="0" bIns="0" rtlCol="0" anchor="ctr"/>
          <a:lstStyle/>
          <a:p>
            <a:pPr marL="0" indent="0" algn="r">
              <a:buNone/>
            </a:pPr>
            <a:r>
              <a:rPr lang="en-US" sz="938" b="1" dirty="0">
                <a:solidFill>
                  <a:srgbClr val="5F5F5F"/>
                </a:solidFill>
                <a:latin typeface="Malgun Gothic" pitchFamily="34" charset="0"/>
                <a:ea typeface="Malgun Gothic" pitchFamily="34" charset="-122"/>
                <a:cs typeface="Malgun Gothic" pitchFamily="34" charset="-120"/>
              </a:rPr>
              <a:t>CAGR</a:t>
            </a:r>
            <a:endParaRPr lang="en-US" sz="938" dirty="0"/>
          </a:p>
        </p:txBody>
      </p:sp>
      <p:sp>
        <p:nvSpPr>
          <p:cNvPr id="18" name="Text 15"/>
          <p:cNvSpPr txBox="1"/>
          <p:nvPr/>
        </p:nvSpPr>
        <p:spPr>
          <a:xfrm>
            <a:off x="7639050" y="2876550"/>
            <a:ext cx="874776" cy="342900"/>
          </a:xfrm>
          <a:prstGeom prst="rect">
            <a:avLst/>
          </a:prstGeom>
          <a:noFill/>
          <a:ln/>
        </p:spPr>
        <p:txBody>
          <a:bodyPr wrap="square" lIns="0" tIns="0" rIns="0" bIns="0" rtlCol="0" anchor="ctr"/>
          <a:lstStyle/>
          <a:p>
            <a:pPr marL="0" indent="0" algn="l">
              <a:buNone/>
            </a:pPr>
            <a:r>
              <a:rPr lang="en-US" sz="1050" b="1" dirty="0">
                <a:solidFill>
                  <a:srgbClr val="0A0A0A"/>
                </a:solidFill>
                <a:latin typeface="Malgun Gothic" pitchFamily="34" charset="0"/>
                <a:ea typeface="Malgun Gothic" pitchFamily="34" charset="-122"/>
                <a:cs typeface="Malgun Gothic" pitchFamily="34" charset="-120"/>
              </a:rPr>
              <a:t>테마지수</a:t>
            </a:r>
            <a:endParaRPr lang="en-US" sz="1050" dirty="0"/>
          </a:p>
        </p:txBody>
      </p:sp>
      <p:sp>
        <p:nvSpPr>
          <p:cNvPr id="19" name="Text 16"/>
          <p:cNvSpPr txBox="1"/>
          <p:nvPr/>
        </p:nvSpPr>
        <p:spPr>
          <a:xfrm>
            <a:off x="8780526" y="2876550"/>
            <a:ext cx="630174" cy="342900"/>
          </a:xfrm>
          <a:prstGeom prst="rect">
            <a:avLst/>
          </a:prstGeom>
          <a:noFill/>
          <a:ln/>
        </p:spPr>
        <p:txBody>
          <a:bodyPr wrap="square" lIns="0" tIns="0" rIns="0" bIns="0" rtlCol="0" anchor="ctr"/>
          <a:lstStyle/>
          <a:p>
            <a:pPr marL="0" indent="0" algn="r">
              <a:buNone/>
            </a:pPr>
            <a:r>
              <a:rPr lang="en-US" sz="1050" b="1" dirty="0">
                <a:solidFill>
                  <a:srgbClr val="0A0A0A"/>
                </a:solidFill>
                <a:latin typeface="Malgun Gothic" pitchFamily="34" charset="0"/>
                <a:ea typeface="Malgun Gothic" pitchFamily="34" charset="-122"/>
                <a:cs typeface="Malgun Gothic" pitchFamily="34" charset="-120"/>
              </a:rPr>
              <a:t>16.56배</a:t>
            </a:r>
            <a:endParaRPr lang="en-US" sz="1050" dirty="0"/>
          </a:p>
        </p:txBody>
      </p:sp>
      <p:sp>
        <p:nvSpPr>
          <p:cNvPr id="20" name="Text 17"/>
          <p:cNvSpPr txBox="1"/>
          <p:nvPr/>
        </p:nvSpPr>
        <p:spPr>
          <a:xfrm>
            <a:off x="9677400" y="2876550"/>
            <a:ext cx="874776" cy="342900"/>
          </a:xfrm>
          <a:prstGeom prst="rect">
            <a:avLst/>
          </a:prstGeom>
          <a:noFill/>
          <a:ln/>
        </p:spPr>
        <p:txBody>
          <a:bodyPr wrap="square" lIns="0" tIns="0" rIns="0" bIns="0" rtlCol="0" anchor="ctr"/>
          <a:lstStyle/>
          <a:p>
            <a:pPr marL="0" indent="0" algn="r">
              <a:buNone/>
            </a:pPr>
            <a:r>
              <a:rPr lang="en-US" sz="1050" b="1" dirty="0">
                <a:solidFill>
                  <a:srgbClr val="0A0A0A"/>
                </a:solidFill>
                <a:latin typeface="Malgun Gothic" pitchFamily="34" charset="0"/>
                <a:ea typeface="Malgun Gothic" pitchFamily="34" charset="-122"/>
                <a:cs typeface="Malgun Gothic" pitchFamily="34" charset="-120"/>
              </a:rPr>
              <a:t>+1,556%</a:t>
            </a:r>
            <a:endParaRPr lang="en-US" sz="1050" dirty="0"/>
          </a:p>
        </p:txBody>
      </p:sp>
      <p:sp>
        <p:nvSpPr>
          <p:cNvPr id="21" name="Text 18"/>
          <p:cNvSpPr txBox="1"/>
          <p:nvPr/>
        </p:nvSpPr>
        <p:spPr>
          <a:xfrm>
            <a:off x="10818876" y="2876550"/>
            <a:ext cx="630174" cy="342900"/>
          </a:xfrm>
          <a:prstGeom prst="rect">
            <a:avLst/>
          </a:prstGeom>
          <a:noFill/>
          <a:ln/>
        </p:spPr>
        <p:txBody>
          <a:bodyPr wrap="square" lIns="0" tIns="0" rIns="0" bIns="0" rtlCol="0" anchor="ctr"/>
          <a:lstStyle/>
          <a:p>
            <a:pPr marL="0" indent="0" algn="r">
              <a:buNone/>
            </a:pPr>
            <a:r>
              <a:rPr lang="en-US" sz="1050" b="1" dirty="0">
                <a:solidFill>
                  <a:srgbClr val="0A0A0A"/>
                </a:solidFill>
                <a:latin typeface="Malgun Gothic" pitchFamily="34" charset="0"/>
                <a:ea typeface="Malgun Gothic" pitchFamily="34" charset="-122"/>
                <a:cs typeface="Malgun Gothic" pitchFamily="34" charset="-120"/>
              </a:rPr>
              <a:t>23.98%</a:t>
            </a:r>
            <a:endParaRPr lang="en-US" sz="1050" dirty="0"/>
          </a:p>
        </p:txBody>
      </p:sp>
      <p:sp>
        <p:nvSpPr>
          <p:cNvPr id="22" name="Shape 19"/>
          <p:cNvSpPr/>
          <p:nvPr/>
        </p:nvSpPr>
        <p:spPr>
          <a:xfrm>
            <a:off x="7639050" y="3219450"/>
            <a:ext cx="3810000" cy="9525"/>
          </a:xfrm>
          <a:prstGeom prst="rect">
            <a:avLst/>
          </a:prstGeom>
          <a:solidFill>
            <a:srgbClr val="EAECF0"/>
          </a:solidFill>
          <a:ln/>
        </p:spPr>
        <p:txBody>
          <a:bodyPr/>
          <a:lstStyle/>
          <a:p>
            <a:endParaRPr lang="ko-KR" altLang="en-US"/>
          </a:p>
        </p:txBody>
      </p:sp>
      <p:sp>
        <p:nvSpPr>
          <p:cNvPr id="23" name="Text 20"/>
          <p:cNvSpPr txBox="1"/>
          <p:nvPr/>
        </p:nvSpPr>
        <p:spPr>
          <a:xfrm>
            <a:off x="7639050" y="3219450"/>
            <a:ext cx="874776" cy="3429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합성 BM</a:t>
            </a:r>
            <a:endParaRPr lang="en-US" sz="1050" dirty="0"/>
          </a:p>
        </p:txBody>
      </p:sp>
      <p:sp>
        <p:nvSpPr>
          <p:cNvPr id="24" name="Text 21"/>
          <p:cNvSpPr txBox="1"/>
          <p:nvPr/>
        </p:nvSpPr>
        <p:spPr>
          <a:xfrm>
            <a:off x="8780526" y="3219450"/>
            <a:ext cx="630174" cy="34290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5.55배</a:t>
            </a:r>
            <a:endParaRPr lang="en-US" sz="1050" dirty="0"/>
          </a:p>
        </p:txBody>
      </p:sp>
      <p:sp>
        <p:nvSpPr>
          <p:cNvPr id="25" name="Text 22"/>
          <p:cNvSpPr txBox="1"/>
          <p:nvPr/>
        </p:nvSpPr>
        <p:spPr>
          <a:xfrm>
            <a:off x="9677400" y="3219450"/>
            <a:ext cx="874776" cy="34290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+455%</a:t>
            </a:r>
            <a:endParaRPr lang="en-US" sz="1050" dirty="0"/>
          </a:p>
        </p:txBody>
      </p:sp>
      <p:sp>
        <p:nvSpPr>
          <p:cNvPr id="26" name="Text 23"/>
          <p:cNvSpPr txBox="1"/>
          <p:nvPr/>
        </p:nvSpPr>
        <p:spPr>
          <a:xfrm>
            <a:off x="10818876" y="3219450"/>
            <a:ext cx="630174" cy="34290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14.03%</a:t>
            </a:r>
            <a:endParaRPr lang="en-US" sz="1050" dirty="0"/>
          </a:p>
        </p:txBody>
      </p:sp>
      <p:sp>
        <p:nvSpPr>
          <p:cNvPr id="27" name="Shape 24"/>
          <p:cNvSpPr/>
          <p:nvPr/>
        </p:nvSpPr>
        <p:spPr>
          <a:xfrm>
            <a:off x="7505700" y="3714750"/>
            <a:ext cx="4076700" cy="762000"/>
          </a:xfrm>
          <a:prstGeom prst="roundRect">
            <a:avLst>
              <a:gd name="adj" fmla="val 20000"/>
            </a:avLst>
          </a:prstGeom>
          <a:solidFill>
            <a:srgbClr val="F7F8FA"/>
          </a:solidFill>
          <a:ln/>
        </p:spPr>
        <p:txBody>
          <a:bodyPr/>
          <a:lstStyle/>
          <a:p>
            <a:endParaRPr lang="ko-KR" altLang="en-US"/>
          </a:p>
        </p:txBody>
      </p:sp>
      <p:sp>
        <p:nvSpPr>
          <p:cNvPr id="28" name="Text 25"/>
          <p:cNvSpPr txBox="1"/>
          <p:nvPr/>
        </p:nvSpPr>
        <p:spPr>
          <a:xfrm>
            <a:off x="7696200" y="3905250"/>
            <a:ext cx="3695700" cy="419100"/>
          </a:xfrm>
          <a:prstGeom prst="rect">
            <a:avLst/>
          </a:prstGeom>
          <a:noFill/>
          <a:ln/>
        </p:spPr>
        <p:txBody>
          <a:bodyPr wrap="square" lIns="0" tIns="0" rIns="0" bIns="0" rtlCol="0" anchor="t"/>
          <a:lstStyle/>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구간 2013-07-01 ~ 2026-07-23 · 13.06년</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합성 BM = KOSPI200 PR + Russell3000 PR, 지역비중 연동</a:t>
            </a:r>
            <a:endParaRPr lang="en-US" sz="1013" dirty="0"/>
          </a:p>
        </p:txBody>
      </p:sp>
      <p:sp>
        <p:nvSpPr>
          <p:cNvPr id="29" name="Shape 26"/>
          <p:cNvSpPr/>
          <p:nvPr/>
        </p:nvSpPr>
        <p:spPr>
          <a:xfrm>
            <a:off x="7505700" y="4629150"/>
            <a:ext cx="4076700" cy="1162050"/>
          </a:xfrm>
          <a:prstGeom prst="roundRect">
            <a:avLst>
              <a:gd name="adj" fmla="val 26230"/>
            </a:avLst>
          </a:prstGeom>
          <a:solidFill>
            <a:srgbClr val="0A0A0A"/>
          </a:solidFill>
          <a:ln/>
        </p:spPr>
        <p:txBody>
          <a:bodyPr/>
          <a:lstStyle/>
          <a:p>
            <a:endParaRPr lang="ko-KR" altLang="en-US"/>
          </a:p>
        </p:txBody>
      </p:sp>
      <p:sp>
        <p:nvSpPr>
          <p:cNvPr id="30" name="Text 27"/>
          <p:cNvSpPr txBox="1"/>
          <p:nvPr/>
        </p:nvSpPr>
        <p:spPr>
          <a:xfrm>
            <a:off x="7810500" y="4819650"/>
            <a:ext cx="3467100" cy="209550"/>
          </a:xfrm>
          <a:prstGeom prst="rect">
            <a:avLst/>
          </a:prstGeom>
          <a:noFill/>
          <a:ln/>
        </p:spPr>
        <p:txBody>
          <a:bodyPr wrap="square" lIns="0" tIns="0" rIns="0" bIns="0" rtlCol="0" anchor="ctr"/>
          <a:lstStyle/>
          <a:p>
            <a:pPr marL="0" indent="0">
              <a:buNone/>
            </a:pPr>
            <a:r>
              <a:rPr lang="en-US" sz="975" b="1" dirty="0">
                <a:solidFill>
                  <a:srgbClr val="FF5530"/>
                </a:solidFill>
                <a:latin typeface="Malgun Gothic" pitchFamily="34" charset="0"/>
                <a:ea typeface="Malgun Gothic" pitchFamily="34" charset="-122"/>
                <a:cs typeface="Malgun Gothic" pitchFamily="34" charset="-120"/>
              </a:rPr>
              <a:t>이 장에서 멈추지 않습니다</a:t>
            </a:r>
            <a:endParaRPr lang="en-US" sz="975" dirty="0"/>
          </a:p>
        </p:txBody>
      </p:sp>
      <p:sp>
        <p:nvSpPr>
          <p:cNvPr id="31" name="Text 28"/>
          <p:cNvSpPr txBox="1"/>
          <p:nvPr/>
        </p:nvSpPr>
        <p:spPr>
          <a:xfrm>
            <a:off x="7810500" y="5086350"/>
            <a:ext cx="3467100" cy="609600"/>
          </a:xfrm>
          <a:prstGeom prst="rect">
            <a:avLst/>
          </a:prstGeom>
          <a:noFill/>
          <a:ln/>
        </p:spPr>
        <p:txBody>
          <a:bodyPr wrap="square" lIns="0" tIns="0" rIns="0" bIns="0" rtlCol="0" anchor="t"/>
          <a:lstStyle/>
          <a:p>
            <a:pPr marL="0" indent="0">
              <a:lnSpc>
                <a:spcPct val="140000"/>
              </a:lnSpc>
              <a:buNone/>
            </a:pPr>
            <a:r>
              <a:rPr lang="en-US" sz="1275" b="1" dirty="0">
                <a:solidFill>
                  <a:srgbClr val="FFFFFF"/>
                </a:solidFill>
                <a:latin typeface="Malgun Gothic" pitchFamily="34" charset="0"/>
                <a:ea typeface="Malgun Gothic" pitchFamily="34" charset="-122"/>
                <a:cs typeface="Malgun Gothic" pitchFamily="34" charset="-120"/>
              </a:rPr>
              <a:t>다음 장에서 이 숫자를 왜</a:t>
            </a:r>
            <a:endParaRPr lang="en-US" sz="1275" dirty="0"/>
          </a:p>
          <a:p>
            <a:pPr marL="0" indent="0">
              <a:lnSpc>
                <a:spcPct val="140000"/>
              </a:lnSpc>
              <a:buNone/>
            </a:pPr>
            <a:r>
              <a:rPr lang="en-US" sz="1275" b="1" dirty="0">
                <a:solidFill>
                  <a:srgbClr val="FFFFFF"/>
                </a:solidFill>
                <a:latin typeface="Malgun Gothic" pitchFamily="34" charset="0"/>
                <a:ea typeface="Malgun Gothic" pitchFamily="34" charset="-122"/>
                <a:cs typeface="Malgun Gothic" pitchFamily="34" charset="-120"/>
              </a:rPr>
              <a:t>믿으면 안 되는지 말씀드립니다.</a:t>
            </a:r>
            <a:endParaRPr lang="en-US" sz="1275" dirty="0"/>
          </a:p>
        </p:txBody>
      </p:sp>
      <p:sp>
        <p:nvSpPr>
          <p:cNvPr id="32" name="Text 29"/>
          <p:cNvSpPr txBox="1"/>
          <p:nvPr/>
        </p:nvSpPr>
        <p:spPr>
          <a:xfrm>
            <a:off x="609600" y="5867400"/>
            <a:ext cx="66675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06_코드/backtest_long/figures/01_누적곡선.png · out/long_run_meta.json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결과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그런데 이 숫자를 믿으면 안 됩니다</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같은 기간·같은 규칙으로 아무 종목이나 15개 뽑아 1,000번 굴렸습니다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22</a:t>
            </a:r>
            <a:endParaRPr lang="en-US" sz="900" dirty="0"/>
          </a:p>
        </p:txBody>
      </p:sp>
      <p:pic>
        <p:nvPicPr>
          <p:cNvPr id="9" name="Image 0" descr="/root/deck/fig/07_랜덤바스켓.png"/>
          <p:cNvPicPr>
            <a:picLocks noChangeAspect="1"/>
          </p:cNvPicPr>
          <p:nvPr/>
        </p:nvPicPr>
        <p:blipFill>
          <a:blip r:embed="rId3"/>
          <a:stretch>
            <a:fillRect/>
          </a:stretch>
        </p:blipFill>
        <p:spPr>
          <a:xfrm>
            <a:off x="1060981" y="2552700"/>
            <a:ext cx="5193239" cy="2647950"/>
          </a:xfrm>
          <a:prstGeom prst="rect">
            <a:avLst/>
          </a:prstGeom>
        </p:spPr>
      </p:pic>
      <p:sp>
        <p:nvSpPr>
          <p:cNvPr id="10" name="Text 7"/>
          <p:cNvSpPr txBox="1"/>
          <p:nvPr/>
        </p:nvSpPr>
        <p:spPr>
          <a:xfrm>
            <a:off x="609600" y="5200650"/>
            <a:ext cx="60960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무작위 1,000회 중 최대값보다도 높다 — 종목 선택이 원인</a:t>
            </a:r>
            <a:endParaRPr lang="en-US" sz="900" dirty="0"/>
          </a:p>
        </p:txBody>
      </p:sp>
      <p:sp>
        <p:nvSpPr>
          <p:cNvPr id="11" name="Shape 8"/>
          <p:cNvSpPr/>
          <p:nvPr/>
        </p:nvSpPr>
        <p:spPr>
          <a:xfrm>
            <a:off x="7010400" y="2552700"/>
            <a:ext cx="4572000" cy="1752600"/>
          </a:xfrm>
          <a:prstGeom prst="roundRect">
            <a:avLst>
              <a:gd name="adj" fmla="val 4348"/>
            </a:avLst>
          </a:prstGeom>
          <a:solidFill>
            <a:srgbClr val="FFFFFF"/>
          </a:solidFill>
          <a:ln w="12700">
            <a:solidFill>
              <a:srgbClr val="E5E7EB"/>
            </a:solidFill>
            <a:prstDash val="solid"/>
          </a:ln>
        </p:spPr>
        <p:txBody>
          <a:bodyPr/>
          <a:lstStyle/>
          <a:p>
            <a:endParaRPr lang="ko-KR" altLang="en-US"/>
          </a:p>
        </p:txBody>
      </p:sp>
      <p:sp>
        <p:nvSpPr>
          <p:cNvPr id="12" name="Shape 9"/>
          <p:cNvSpPr/>
          <p:nvPr/>
        </p:nvSpPr>
        <p:spPr>
          <a:xfrm>
            <a:off x="7010400" y="2552700"/>
            <a:ext cx="4572000" cy="323850"/>
          </a:xfrm>
          <a:prstGeom prst="rect">
            <a:avLst/>
          </a:prstGeom>
          <a:solidFill>
            <a:srgbClr val="F7F8FA"/>
          </a:solidFill>
          <a:ln/>
        </p:spPr>
        <p:txBody>
          <a:bodyPr/>
          <a:lstStyle/>
          <a:p>
            <a:endParaRPr lang="ko-KR" altLang="en-US"/>
          </a:p>
        </p:txBody>
      </p:sp>
      <p:sp>
        <p:nvSpPr>
          <p:cNvPr id="13" name="Shape 10"/>
          <p:cNvSpPr/>
          <p:nvPr/>
        </p:nvSpPr>
        <p:spPr>
          <a:xfrm>
            <a:off x="7010400" y="2876550"/>
            <a:ext cx="4572000" cy="9525"/>
          </a:xfrm>
          <a:prstGeom prst="rect">
            <a:avLst/>
          </a:prstGeom>
          <a:solidFill>
            <a:srgbClr val="E5E7EB"/>
          </a:solidFill>
          <a:ln/>
        </p:spPr>
        <p:txBody>
          <a:bodyPr/>
          <a:lstStyle/>
          <a:p>
            <a:endParaRPr lang="ko-KR" altLang="en-US"/>
          </a:p>
        </p:txBody>
      </p:sp>
      <p:sp>
        <p:nvSpPr>
          <p:cNvPr id="14" name="Text 11"/>
          <p:cNvSpPr txBox="1"/>
          <p:nvPr/>
        </p:nvSpPr>
        <p:spPr>
          <a:xfrm>
            <a:off x="7143750" y="2552700"/>
            <a:ext cx="1836420"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무작위 1,000회 분포</a:t>
            </a:r>
            <a:endParaRPr lang="en-US" sz="975" dirty="0"/>
          </a:p>
        </p:txBody>
      </p:sp>
      <p:sp>
        <p:nvSpPr>
          <p:cNvPr id="15" name="Text 12"/>
          <p:cNvSpPr txBox="1"/>
          <p:nvPr/>
        </p:nvSpPr>
        <p:spPr>
          <a:xfrm>
            <a:off x="9246870" y="2552700"/>
            <a:ext cx="2202180" cy="323850"/>
          </a:xfrm>
          <a:prstGeom prst="rect">
            <a:avLst/>
          </a:prstGeom>
          <a:noFill/>
          <a:ln/>
        </p:spPr>
        <p:txBody>
          <a:bodyPr wrap="square" lIns="0" tIns="0" rIns="0" bIns="0" rtlCol="0" anchor="ctr"/>
          <a:lstStyle/>
          <a:p>
            <a:pPr marL="0" indent="0" algn="r">
              <a:buNone/>
            </a:pPr>
            <a:r>
              <a:rPr lang="en-US" sz="975" b="1" dirty="0">
                <a:solidFill>
                  <a:srgbClr val="5F5F5F"/>
                </a:solidFill>
                <a:latin typeface="Malgun Gothic" pitchFamily="34" charset="0"/>
                <a:ea typeface="Malgun Gothic" pitchFamily="34" charset="-122"/>
                <a:cs typeface="Malgun Gothic" pitchFamily="34" charset="-120"/>
              </a:rPr>
              <a:t>최종 지수값</a:t>
            </a:r>
            <a:endParaRPr lang="en-US" sz="975" dirty="0"/>
          </a:p>
        </p:txBody>
      </p:sp>
      <p:sp>
        <p:nvSpPr>
          <p:cNvPr id="16" name="Text 13"/>
          <p:cNvSpPr txBox="1"/>
          <p:nvPr/>
        </p:nvSpPr>
        <p:spPr>
          <a:xfrm>
            <a:off x="7143750" y="2876550"/>
            <a:ext cx="1836420" cy="285750"/>
          </a:xfrm>
          <a:prstGeom prst="rect">
            <a:avLst/>
          </a:prstGeom>
          <a:noFill/>
          <a:ln/>
        </p:spPr>
        <p:txBody>
          <a:bodyPr wrap="square" lIns="0" tIns="0" rIns="0" bIns="0" rtlCol="0" anchor="ctr"/>
          <a:lstStyle/>
          <a:p>
            <a:pPr marL="0" indent="0" algn="l">
              <a:buNone/>
            </a:pPr>
            <a:r>
              <a:rPr lang="en-US" sz="1050" dirty="0">
                <a:solidFill>
                  <a:srgbClr val="45515E"/>
                </a:solidFill>
                <a:latin typeface="Malgun Gothic" pitchFamily="34" charset="0"/>
                <a:ea typeface="Malgun Gothic" pitchFamily="34" charset="-122"/>
                <a:cs typeface="Malgun Gothic" pitchFamily="34" charset="-120"/>
              </a:rPr>
              <a:t>중앙값</a:t>
            </a:r>
            <a:endParaRPr lang="en-US" sz="1050" dirty="0"/>
          </a:p>
        </p:txBody>
      </p:sp>
      <p:sp>
        <p:nvSpPr>
          <p:cNvPr id="17" name="Text 14"/>
          <p:cNvSpPr txBox="1"/>
          <p:nvPr/>
        </p:nvSpPr>
        <p:spPr>
          <a:xfrm>
            <a:off x="9246870" y="2876550"/>
            <a:ext cx="2202180"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5,730</a:t>
            </a:r>
            <a:endParaRPr lang="en-US" sz="1050" dirty="0"/>
          </a:p>
        </p:txBody>
      </p:sp>
      <p:sp>
        <p:nvSpPr>
          <p:cNvPr id="18" name="Shape 15"/>
          <p:cNvSpPr/>
          <p:nvPr/>
        </p:nvSpPr>
        <p:spPr>
          <a:xfrm>
            <a:off x="7143750" y="3162300"/>
            <a:ext cx="4305300" cy="9525"/>
          </a:xfrm>
          <a:prstGeom prst="rect">
            <a:avLst/>
          </a:prstGeom>
          <a:solidFill>
            <a:srgbClr val="EAECF0"/>
          </a:solidFill>
          <a:ln/>
        </p:spPr>
        <p:txBody>
          <a:bodyPr/>
          <a:lstStyle/>
          <a:p>
            <a:endParaRPr lang="ko-KR" altLang="en-US"/>
          </a:p>
        </p:txBody>
      </p:sp>
      <p:sp>
        <p:nvSpPr>
          <p:cNvPr id="19" name="Text 16"/>
          <p:cNvSpPr txBox="1"/>
          <p:nvPr/>
        </p:nvSpPr>
        <p:spPr>
          <a:xfrm>
            <a:off x="7143750" y="3162300"/>
            <a:ext cx="1836420" cy="285750"/>
          </a:xfrm>
          <a:prstGeom prst="rect">
            <a:avLst/>
          </a:prstGeom>
          <a:noFill/>
          <a:ln/>
        </p:spPr>
        <p:txBody>
          <a:bodyPr wrap="square" lIns="0" tIns="0" rIns="0" bIns="0" rtlCol="0" anchor="ctr"/>
          <a:lstStyle/>
          <a:p>
            <a:pPr marL="0" indent="0" algn="l">
              <a:buNone/>
            </a:pPr>
            <a:r>
              <a:rPr lang="en-US" sz="1050" dirty="0">
                <a:solidFill>
                  <a:srgbClr val="45515E"/>
                </a:solidFill>
                <a:latin typeface="Malgun Gothic" pitchFamily="34" charset="0"/>
                <a:ea typeface="Malgun Gothic" pitchFamily="34" charset="-122"/>
                <a:cs typeface="Malgun Gothic" pitchFamily="34" charset="-120"/>
              </a:rPr>
              <a:t>합성 BM</a:t>
            </a:r>
            <a:endParaRPr lang="en-US" sz="1050" dirty="0"/>
          </a:p>
        </p:txBody>
      </p:sp>
      <p:sp>
        <p:nvSpPr>
          <p:cNvPr id="20" name="Text 17"/>
          <p:cNvSpPr txBox="1"/>
          <p:nvPr/>
        </p:nvSpPr>
        <p:spPr>
          <a:xfrm>
            <a:off x="9246870" y="3162300"/>
            <a:ext cx="2202180"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5,554</a:t>
            </a:r>
            <a:endParaRPr lang="en-US" sz="1050" dirty="0"/>
          </a:p>
        </p:txBody>
      </p:sp>
      <p:sp>
        <p:nvSpPr>
          <p:cNvPr id="21" name="Shape 18"/>
          <p:cNvSpPr/>
          <p:nvPr/>
        </p:nvSpPr>
        <p:spPr>
          <a:xfrm>
            <a:off x="7143750" y="3448050"/>
            <a:ext cx="4305300" cy="9525"/>
          </a:xfrm>
          <a:prstGeom prst="rect">
            <a:avLst/>
          </a:prstGeom>
          <a:solidFill>
            <a:srgbClr val="EAECF0"/>
          </a:solidFill>
          <a:ln/>
        </p:spPr>
        <p:txBody>
          <a:bodyPr/>
          <a:lstStyle/>
          <a:p>
            <a:endParaRPr lang="ko-KR" altLang="en-US"/>
          </a:p>
        </p:txBody>
      </p:sp>
      <p:sp>
        <p:nvSpPr>
          <p:cNvPr id="22" name="Text 19"/>
          <p:cNvSpPr txBox="1"/>
          <p:nvPr/>
        </p:nvSpPr>
        <p:spPr>
          <a:xfrm>
            <a:off x="7143750" y="3448050"/>
            <a:ext cx="1836420" cy="285750"/>
          </a:xfrm>
          <a:prstGeom prst="rect">
            <a:avLst/>
          </a:prstGeom>
          <a:noFill/>
          <a:ln/>
        </p:spPr>
        <p:txBody>
          <a:bodyPr wrap="square" lIns="0" tIns="0" rIns="0" bIns="0" rtlCol="0" anchor="ctr"/>
          <a:lstStyle/>
          <a:p>
            <a:pPr marL="0" indent="0" algn="l">
              <a:buNone/>
            </a:pPr>
            <a:r>
              <a:rPr lang="en-US" sz="1050" dirty="0">
                <a:solidFill>
                  <a:srgbClr val="45515E"/>
                </a:solidFill>
                <a:latin typeface="Malgun Gothic" pitchFamily="34" charset="0"/>
                <a:ea typeface="Malgun Gothic" pitchFamily="34" charset="-122"/>
                <a:cs typeface="Malgun Gothic" pitchFamily="34" charset="-120"/>
              </a:rPr>
              <a:t>상위 5%</a:t>
            </a:r>
            <a:endParaRPr lang="en-US" sz="1050" dirty="0"/>
          </a:p>
        </p:txBody>
      </p:sp>
      <p:sp>
        <p:nvSpPr>
          <p:cNvPr id="23" name="Text 20"/>
          <p:cNvSpPr txBox="1"/>
          <p:nvPr/>
        </p:nvSpPr>
        <p:spPr>
          <a:xfrm>
            <a:off x="9246870" y="3448050"/>
            <a:ext cx="2202180"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9,505</a:t>
            </a:r>
            <a:endParaRPr lang="en-US" sz="1050" dirty="0"/>
          </a:p>
        </p:txBody>
      </p:sp>
      <p:sp>
        <p:nvSpPr>
          <p:cNvPr id="24" name="Shape 21"/>
          <p:cNvSpPr/>
          <p:nvPr/>
        </p:nvSpPr>
        <p:spPr>
          <a:xfrm>
            <a:off x="7143750" y="3733800"/>
            <a:ext cx="4305300" cy="9525"/>
          </a:xfrm>
          <a:prstGeom prst="rect">
            <a:avLst/>
          </a:prstGeom>
          <a:solidFill>
            <a:srgbClr val="EAECF0"/>
          </a:solidFill>
          <a:ln/>
        </p:spPr>
        <p:txBody>
          <a:bodyPr/>
          <a:lstStyle/>
          <a:p>
            <a:endParaRPr lang="ko-KR" altLang="en-US"/>
          </a:p>
        </p:txBody>
      </p:sp>
      <p:sp>
        <p:nvSpPr>
          <p:cNvPr id="25" name="Text 22"/>
          <p:cNvSpPr txBox="1"/>
          <p:nvPr/>
        </p:nvSpPr>
        <p:spPr>
          <a:xfrm>
            <a:off x="7143750" y="3733800"/>
            <a:ext cx="1836420" cy="285750"/>
          </a:xfrm>
          <a:prstGeom prst="rect">
            <a:avLst/>
          </a:prstGeom>
          <a:noFill/>
          <a:ln/>
        </p:spPr>
        <p:txBody>
          <a:bodyPr wrap="square" lIns="0" tIns="0" rIns="0" bIns="0" rtlCol="0" anchor="ctr"/>
          <a:lstStyle/>
          <a:p>
            <a:pPr marL="0" indent="0" algn="l">
              <a:buNone/>
            </a:pPr>
            <a:r>
              <a:rPr lang="en-US" sz="1050" dirty="0">
                <a:solidFill>
                  <a:srgbClr val="45515E"/>
                </a:solidFill>
                <a:latin typeface="Malgun Gothic" pitchFamily="34" charset="0"/>
                <a:ea typeface="Malgun Gothic" pitchFamily="34" charset="-122"/>
                <a:cs typeface="Malgun Gothic" pitchFamily="34" charset="-120"/>
              </a:rPr>
              <a:t>최대값</a:t>
            </a:r>
            <a:endParaRPr lang="en-US" sz="1050" dirty="0"/>
          </a:p>
        </p:txBody>
      </p:sp>
      <p:sp>
        <p:nvSpPr>
          <p:cNvPr id="26" name="Text 23"/>
          <p:cNvSpPr txBox="1"/>
          <p:nvPr/>
        </p:nvSpPr>
        <p:spPr>
          <a:xfrm>
            <a:off x="9246870" y="3733800"/>
            <a:ext cx="2202180"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13,890</a:t>
            </a:r>
            <a:endParaRPr lang="en-US" sz="1050" dirty="0"/>
          </a:p>
        </p:txBody>
      </p:sp>
      <p:sp>
        <p:nvSpPr>
          <p:cNvPr id="27" name="Shape 24"/>
          <p:cNvSpPr/>
          <p:nvPr/>
        </p:nvSpPr>
        <p:spPr>
          <a:xfrm>
            <a:off x="7143750" y="4019550"/>
            <a:ext cx="4305300" cy="9525"/>
          </a:xfrm>
          <a:prstGeom prst="rect">
            <a:avLst/>
          </a:prstGeom>
          <a:solidFill>
            <a:srgbClr val="EAECF0"/>
          </a:solidFill>
          <a:ln/>
        </p:spPr>
        <p:txBody>
          <a:bodyPr/>
          <a:lstStyle/>
          <a:p>
            <a:endParaRPr lang="ko-KR" altLang="en-US"/>
          </a:p>
        </p:txBody>
      </p:sp>
      <p:sp>
        <p:nvSpPr>
          <p:cNvPr id="28" name="Text 25"/>
          <p:cNvSpPr txBox="1"/>
          <p:nvPr/>
        </p:nvSpPr>
        <p:spPr>
          <a:xfrm>
            <a:off x="7143750" y="4019550"/>
            <a:ext cx="1836420" cy="285750"/>
          </a:xfrm>
          <a:prstGeom prst="rect">
            <a:avLst/>
          </a:prstGeom>
          <a:noFill/>
          <a:ln/>
        </p:spPr>
        <p:txBody>
          <a:bodyPr wrap="square" lIns="0" tIns="0" rIns="0" bIns="0" rtlCol="0" anchor="ctr"/>
          <a:lstStyle/>
          <a:p>
            <a:pPr marL="0" indent="0" algn="l">
              <a:buNone/>
            </a:pPr>
            <a:r>
              <a:rPr lang="en-US" sz="1050" b="1" dirty="0">
                <a:solidFill>
                  <a:srgbClr val="C23B14"/>
                </a:solidFill>
                <a:latin typeface="Malgun Gothic" pitchFamily="34" charset="0"/>
                <a:ea typeface="Malgun Gothic" pitchFamily="34" charset="-122"/>
                <a:cs typeface="Malgun Gothic" pitchFamily="34" charset="-120"/>
              </a:rPr>
              <a:t>우리 지수</a:t>
            </a:r>
            <a:endParaRPr lang="en-US" sz="1050" dirty="0"/>
          </a:p>
        </p:txBody>
      </p:sp>
      <p:sp>
        <p:nvSpPr>
          <p:cNvPr id="29" name="Text 26"/>
          <p:cNvSpPr txBox="1"/>
          <p:nvPr/>
        </p:nvSpPr>
        <p:spPr>
          <a:xfrm>
            <a:off x="9246870" y="4019550"/>
            <a:ext cx="2202180" cy="285750"/>
          </a:xfrm>
          <a:prstGeom prst="rect">
            <a:avLst/>
          </a:prstGeom>
          <a:noFill/>
          <a:ln/>
        </p:spPr>
        <p:txBody>
          <a:bodyPr wrap="square" lIns="0" tIns="0" rIns="0" bIns="0" rtlCol="0" anchor="ctr"/>
          <a:lstStyle/>
          <a:p>
            <a:pPr marL="0" indent="0" algn="r">
              <a:buNone/>
            </a:pPr>
            <a:r>
              <a:rPr lang="en-US" sz="1050" b="1" dirty="0">
                <a:solidFill>
                  <a:srgbClr val="C23B14"/>
                </a:solidFill>
                <a:latin typeface="Malgun Gothic" pitchFamily="34" charset="0"/>
                <a:ea typeface="Malgun Gothic" pitchFamily="34" charset="-122"/>
                <a:cs typeface="Malgun Gothic" pitchFamily="34" charset="-120"/>
              </a:rPr>
              <a:t>16,557 · 백분위 100</a:t>
            </a:r>
            <a:endParaRPr lang="en-US" sz="1050" dirty="0"/>
          </a:p>
        </p:txBody>
      </p:sp>
      <p:sp>
        <p:nvSpPr>
          <p:cNvPr id="30" name="Shape 27"/>
          <p:cNvSpPr/>
          <p:nvPr/>
        </p:nvSpPr>
        <p:spPr>
          <a:xfrm>
            <a:off x="7010400" y="4362450"/>
            <a:ext cx="4572000" cy="1047750"/>
          </a:xfrm>
          <a:prstGeom prst="roundRect">
            <a:avLst>
              <a:gd name="adj" fmla="val 14545"/>
            </a:avLst>
          </a:prstGeom>
          <a:solidFill>
            <a:srgbClr val="F7F8FA"/>
          </a:solidFill>
          <a:ln/>
        </p:spPr>
        <p:txBody>
          <a:bodyPr/>
          <a:lstStyle/>
          <a:p>
            <a:endParaRPr lang="ko-KR" altLang="en-US"/>
          </a:p>
        </p:txBody>
      </p:sp>
      <p:sp>
        <p:nvSpPr>
          <p:cNvPr id="31" name="Text 28"/>
          <p:cNvSpPr txBox="1"/>
          <p:nvPr/>
        </p:nvSpPr>
        <p:spPr>
          <a:xfrm>
            <a:off x="7200900" y="4552950"/>
            <a:ext cx="4191000" cy="704850"/>
          </a:xfrm>
          <a:prstGeom prst="rect">
            <a:avLst/>
          </a:prstGeom>
          <a:noFill/>
          <a:ln/>
        </p:spPr>
        <p:txBody>
          <a:bodyPr wrap="square" lIns="0" tIns="0" rIns="0" bIns="0" rtlCol="0" anchor="t"/>
          <a:lstStyle/>
          <a:p>
            <a:pPr marL="0" indent="0">
              <a:lnSpc>
                <a:spcPct val="142000"/>
              </a:lnSpc>
              <a:buNone/>
            </a:pPr>
            <a:r>
              <a:rPr lang="en-US" sz="1013" b="1" dirty="0">
                <a:solidFill>
                  <a:srgbClr val="0A0A0A"/>
                </a:solidFill>
                <a:latin typeface="Malgun Gothic" pitchFamily="34" charset="0"/>
                <a:ea typeface="Malgun Gothic" pitchFamily="34" charset="-122"/>
                <a:cs typeface="Malgun Gothic" pitchFamily="34" charset="-120"/>
              </a:rPr>
              <a:t>검정은 정상 작동했습니다. </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합성 BM(5,554)이 무작위 분포의 중앙값(5,730) 근처에 놓였습니다. 그런데 우리 지수는 분포 밖입니다.</a:t>
            </a:r>
            <a:endParaRPr lang="en-US" sz="1013" dirty="0"/>
          </a:p>
        </p:txBody>
      </p:sp>
      <p:sp>
        <p:nvSpPr>
          <p:cNvPr id="32" name="Shape 29"/>
          <p:cNvSpPr/>
          <p:nvPr/>
        </p:nvSpPr>
        <p:spPr>
          <a:xfrm>
            <a:off x="609600" y="5486400"/>
            <a:ext cx="10972800" cy="685800"/>
          </a:xfrm>
          <a:prstGeom prst="roundRect">
            <a:avLst>
              <a:gd name="adj" fmla="val 33333"/>
            </a:avLst>
          </a:prstGeom>
          <a:solidFill>
            <a:srgbClr val="FF5530"/>
          </a:solidFill>
          <a:ln/>
        </p:spPr>
        <p:txBody>
          <a:bodyPr/>
          <a:lstStyle/>
          <a:p>
            <a:endParaRPr lang="ko-KR" altLang="en-US"/>
          </a:p>
        </p:txBody>
      </p:sp>
      <p:sp>
        <p:nvSpPr>
          <p:cNvPr id="33" name="Text 30"/>
          <p:cNvSpPr txBox="1"/>
          <p:nvPr/>
        </p:nvSpPr>
        <p:spPr>
          <a:xfrm>
            <a:off x="914400" y="5486400"/>
            <a:ext cx="10363200" cy="685800"/>
          </a:xfrm>
          <a:prstGeom prst="rect">
            <a:avLst/>
          </a:prstGeom>
          <a:noFill/>
          <a:ln/>
        </p:spPr>
        <p:txBody>
          <a:bodyPr wrap="square" lIns="0" tIns="0" rIns="0" bIns="0" rtlCol="0" anchor="ctr"/>
          <a:lstStyle/>
          <a:p>
            <a:pPr marL="0" indent="0">
              <a:lnSpc>
                <a:spcPct val="140000"/>
              </a:lnSpc>
              <a:buNone/>
            </a:pPr>
            <a:r>
              <a:rPr lang="en-US" sz="1275" b="1" dirty="0">
                <a:solidFill>
                  <a:srgbClr val="FFFFFF"/>
                </a:solidFill>
                <a:latin typeface="Malgun Gothic" pitchFamily="34" charset="0"/>
                <a:ea typeface="Malgun Gothic" pitchFamily="34" charset="-122"/>
                <a:cs typeface="Malgun Gothic" pitchFamily="34" charset="-120"/>
              </a:rPr>
              <a:t>무작위 바스켓도 저희와 똑같은 규칙으로 굴렸습니다. 종목만 바꿨는데 3배 차이가 났습니다.</a:t>
            </a:r>
            <a:endParaRPr lang="en-US" sz="1275" dirty="0"/>
          </a:p>
          <a:p>
            <a:pPr marL="0" indent="0">
              <a:lnSpc>
                <a:spcPct val="140000"/>
              </a:lnSpc>
              <a:buNone/>
            </a:pPr>
            <a:r>
              <a:rPr lang="en-US" sz="1275" b="1" dirty="0">
                <a:solidFill>
                  <a:srgbClr val="FFFFFF"/>
                </a:solidFill>
                <a:latin typeface="Malgun Gothic" pitchFamily="34" charset="0"/>
                <a:ea typeface="Malgun Gothic" pitchFamily="34" charset="-122"/>
                <a:cs typeface="Malgun Gothic" pitchFamily="34" charset="-120"/>
              </a:rPr>
              <a:t>성과는 규칙이 아니라 2026년에 결과를 보고 고른 종목에서 왔습니다.</a:t>
            </a:r>
            <a:endParaRPr lang="en-US" sz="12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결과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초과수익의 원천</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구간에 따라 α의 부호가 바뀝니다 — 국면 의존</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23</a:t>
            </a:r>
            <a:endParaRPr lang="en-US" sz="900" dirty="0"/>
          </a:p>
        </p:txBody>
      </p:sp>
      <p:pic>
        <p:nvPicPr>
          <p:cNvPr id="9" name="Image 0" descr="/root/deck/fig/08_팩터귀속.png"/>
          <p:cNvPicPr>
            <a:picLocks noChangeAspect="1"/>
          </p:cNvPicPr>
          <p:nvPr/>
        </p:nvPicPr>
        <p:blipFill>
          <a:blip r:embed="rId3"/>
          <a:stretch>
            <a:fillRect/>
          </a:stretch>
        </p:blipFill>
        <p:spPr>
          <a:xfrm>
            <a:off x="609600" y="2575054"/>
            <a:ext cx="6477000" cy="2888993"/>
          </a:xfrm>
          <a:prstGeom prst="rect">
            <a:avLst/>
          </a:prstGeom>
        </p:spPr>
      </p:pic>
      <p:sp>
        <p:nvSpPr>
          <p:cNvPr id="10" name="Text 7"/>
          <p:cNvSpPr txBox="1"/>
          <p:nvPr/>
        </p:nvSpPr>
        <p:spPr>
          <a:xfrm>
            <a:off x="609600" y="5486400"/>
            <a:ext cx="64770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구간에 따라 α 부호가 바뀐다 — 국면 의존</a:t>
            </a:r>
            <a:endParaRPr lang="en-US" sz="900" dirty="0"/>
          </a:p>
        </p:txBody>
      </p:sp>
      <p:sp>
        <p:nvSpPr>
          <p:cNvPr id="11" name="Shape 8"/>
          <p:cNvSpPr/>
          <p:nvPr/>
        </p:nvSpPr>
        <p:spPr>
          <a:xfrm>
            <a:off x="7353300" y="2552700"/>
            <a:ext cx="4229100" cy="1295400"/>
          </a:xfrm>
          <a:prstGeom prst="roundRect">
            <a:avLst>
              <a:gd name="adj" fmla="val 5882"/>
            </a:avLst>
          </a:prstGeom>
          <a:solidFill>
            <a:srgbClr val="FFFFFF"/>
          </a:solidFill>
          <a:ln w="12700">
            <a:solidFill>
              <a:srgbClr val="E5E7EB"/>
            </a:solidFill>
            <a:prstDash val="solid"/>
          </a:ln>
        </p:spPr>
        <p:txBody>
          <a:bodyPr/>
          <a:lstStyle/>
          <a:p>
            <a:endParaRPr lang="ko-KR" altLang="en-US"/>
          </a:p>
        </p:txBody>
      </p:sp>
      <p:sp>
        <p:nvSpPr>
          <p:cNvPr id="12" name="Shape 9"/>
          <p:cNvSpPr/>
          <p:nvPr/>
        </p:nvSpPr>
        <p:spPr>
          <a:xfrm>
            <a:off x="7353300" y="2552700"/>
            <a:ext cx="4229100" cy="323850"/>
          </a:xfrm>
          <a:prstGeom prst="rect">
            <a:avLst/>
          </a:prstGeom>
          <a:solidFill>
            <a:srgbClr val="F7F8FA"/>
          </a:solidFill>
          <a:ln/>
        </p:spPr>
        <p:txBody>
          <a:bodyPr/>
          <a:lstStyle/>
          <a:p>
            <a:endParaRPr lang="ko-KR" altLang="en-US"/>
          </a:p>
        </p:txBody>
      </p:sp>
      <p:sp>
        <p:nvSpPr>
          <p:cNvPr id="13" name="Shape 10"/>
          <p:cNvSpPr/>
          <p:nvPr/>
        </p:nvSpPr>
        <p:spPr>
          <a:xfrm>
            <a:off x="7353300" y="2876550"/>
            <a:ext cx="4229100" cy="9525"/>
          </a:xfrm>
          <a:prstGeom prst="rect">
            <a:avLst/>
          </a:prstGeom>
          <a:solidFill>
            <a:srgbClr val="E5E7EB"/>
          </a:solidFill>
          <a:ln/>
        </p:spPr>
        <p:txBody>
          <a:bodyPr/>
          <a:lstStyle/>
          <a:p>
            <a:endParaRPr lang="ko-KR" altLang="en-US"/>
          </a:p>
        </p:txBody>
      </p:sp>
      <p:sp>
        <p:nvSpPr>
          <p:cNvPr id="14" name="Text 11"/>
          <p:cNvSpPr txBox="1"/>
          <p:nvPr/>
        </p:nvSpPr>
        <p:spPr>
          <a:xfrm>
            <a:off x="7486650" y="2552700"/>
            <a:ext cx="1213485" cy="323850"/>
          </a:xfrm>
          <a:prstGeom prst="rect">
            <a:avLst/>
          </a:prstGeom>
          <a:noFill/>
          <a:ln/>
        </p:spPr>
        <p:txBody>
          <a:bodyPr wrap="square" lIns="0" tIns="0" rIns="0" bIns="0" rtlCol="0" anchor="ctr"/>
          <a:lstStyle/>
          <a:p>
            <a:pPr marL="0" indent="0" algn="l">
              <a:buNone/>
            </a:pPr>
            <a:r>
              <a:rPr lang="en-US" sz="900" b="1" dirty="0">
                <a:solidFill>
                  <a:srgbClr val="5F5F5F"/>
                </a:solidFill>
                <a:latin typeface="Malgun Gothic" pitchFamily="34" charset="0"/>
                <a:ea typeface="Malgun Gothic" pitchFamily="34" charset="-122"/>
                <a:cs typeface="Malgun Gothic" pitchFamily="34" charset="-120"/>
              </a:rPr>
              <a:t>구간</a:t>
            </a:r>
            <a:endParaRPr lang="en-US" sz="900" dirty="0"/>
          </a:p>
        </p:txBody>
      </p:sp>
      <p:sp>
        <p:nvSpPr>
          <p:cNvPr id="15" name="Text 12"/>
          <p:cNvSpPr txBox="1"/>
          <p:nvPr/>
        </p:nvSpPr>
        <p:spPr>
          <a:xfrm>
            <a:off x="8966835" y="2552700"/>
            <a:ext cx="536829" cy="323850"/>
          </a:xfrm>
          <a:prstGeom prst="rect">
            <a:avLst/>
          </a:prstGeom>
          <a:noFill/>
          <a:ln/>
        </p:spPr>
        <p:txBody>
          <a:bodyPr wrap="square" lIns="0" tIns="0" rIns="0" bIns="0" rtlCol="0" anchor="ctr"/>
          <a:lstStyle/>
          <a:p>
            <a:pPr marL="0" indent="0" algn="r">
              <a:buNone/>
            </a:pPr>
            <a:r>
              <a:rPr lang="en-US" sz="900" b="1" dirty="0">
                <a:solidFill>
                  <a:srgbClr val="5F5F5F"/>
                </a:solidFill>
                <a:latin typeface="Malgun Gothic" pitchFamily="34" charset="0"/>
                <a:ea typeface="Malgun Gothic" pitchFamily="34" charset="-122"/>
                <a:cs typeface="Malgun Gothic" pitchFamily="34" charset="-120"/>
              </a:rPr>
              <a:t>α</a:t>
            </a:r>
            <a:endParaRPr lang="en-US" sz="900" dirty="0"/>
          </a:p>
        </p:txBody>
      </p:sp>
      <p:sp>
        <p:nvSpPr>
          <p:cNvPr id="16" name="Text 13"/>
          <p:cNvSpPr txBox="1"/>
          <p:nvPr/>
        </p:nvSpPr>
        <p:spPr>
          <a:xfrm>
            <a:off x="9770364" y="2552700"/>
            <a:ext cx="494538" cy="323850"/>
          </a:xfrm>
          <a:prstGeom prst="rect">
            <a:avLst/>
          </a:prstGeom>
          <a:noFill/>
          <a:ln/>
        </p:spPr>
        <p:txBody>
          <a:bodyPr wrap="square" lIns="0" tIns="0" rIns="0" bIns="0" rtlCol="0" anchor="ctr"/>
          <a:lstStyle/>
          <a:p>
            <a:pPr marL="0" indent="0" algn="r">
              <a:buNone/>
            </a:pPr>
            <a:r>
              <a:rPr lang="en-US" sz="900" b="1" dirty="0">
                <a:solidFill>
                  <a:srgbClr val="5F5F5F"/>
                </a:solidFill>
                <a:latin typeface="Malgun Gothic" pitchFamily="34" charset="0"/>
                <a:ea typeface="Malgun Gothic" pitchFamily="34" charset="-122"/>
                <a:cs typeface="Malgun Gothic" pitchFamily="34" charset="-120"/>
              </a:rPr>
              <a:t>t</a:t>
            </a:r>
            <a:endParaRPr lang="en-US" sz="900" dirty="0"/>
          </a:p>
        </p:txBody>
      </p:sp>
      <p:sp>
        <p:nvSpPr>
          <p:cNvPr id="17" name="Text 14"/>
          <p:cNvSpPr txBox="1"/>
          <p:nvPr/>
        </p:nvSpPr>
        <p:spPr>
          <a:xfrm>
            <a:off x="10531602" y="2552700"/>
            <a:ext cx="917448" cy="323850"/>
          </a:xfrm>
          <a:prstGeom prst="rect">
            <a:avLst/>
          </a:prstGeom>
          <a:noFill/>
          <a:ln/>
        </p:spPr>
        <p:txBody>
          <a:bodyPr wrap="square" lIns="0" tIns="0" rIns="0" bIns="0" rtlCol="0" anchor="ctr"/>
          <a:lstStyle/>
          <a:p>
            <a:pPr marL="0" indent="0" algn="r">
              <a:buNone/>
            </a:pPr>
            <a:r>
              <a:rPr lang="en-US" sz="900" b="1" dirty="0">
                <a:solidFill>
                  <a:srgbClr val="5F5F5F"/>
                </a:solidFill>
                <a:latin typeface="Malgun Gothic" pitchFamily="34" charset="0"/>
                <a:ea typeface="Malgun Gothic" pitchFamily="34" charset="-122"/>
                <a:cs typeface="Malgun Gothic" pitchFamily="34" charset="-120"/>
              </a:rPr>
              <a:t>판정</a:t>
            </a:r>
            <a:endParaRPr lang="en-US" sz="900" dirty="0"/>
          </a:p>
        </p:txBody>
      </p:sp>
      <p:sp>
        <p:nvSpPr>
          <p:cNvPr id="18" name="Text 15"/>
          <p:cNvSpPr txBox="1"/>
          <p:nvPr/>
        </p:nvSpPr>
        <p:spPr>
          <a:xfrm>
            <a:off x="7486650" y="2876550"/>
            <a:ext cx="1213485" cy="323850"/>
          </a:xfrm>
          <a:prstGeom prst="rect">
            <a:avLst/>
          </a:prstGeom>
          <a:noFill/>
          <a:ln/>
        </p:spPr>
        <p:txBody>
          <a:bodyPr wrap="square" lIns="0" tIns="0" rIns="0" bIns="0" rtlCol="0" anchor="ctr"/>
          <a:lstStyle/>
          <a:p>
            <a:pPr marL="0" indent="0" algn="l">
              <a:buNone/>
            </a:pPr>
            <a:r>
              <a:rPr lang="en-US" sz="938" dirty="0">
                <a:solidFill>
                  <a:srgbClr val="0A0A0A"/>
                </a:solidFill>
                <a:latin typeface="Malgun Gothic" pitchFamily="34" charset="0"/>
                <a:ea typeface="Malgun Gothic" pitchFamily="34" charset="-122"/>
                <a:cs typeface="Malgun Gothic" pitchFamily="34" charset="-120"/>
              </a:rPr>
              <a:t>2013-07 ~ 2020-01</a:t>
            </a:r>
            <a:endParaRPr lang="en-US" sz="938" dirty="0"/>
          </a:p>
        </p:txBody>
      </p:sp>
      <p:sp>
        <p:nvSpPr>
          <p:cNvPr id="19" name="Text 16"/>
          <p:cNvSpPr txBox="1"/>
          <p:nvPr/>
        </p:nvSpPr>
        <p:spPr>
          <a:xfrm>
            <a:off x="8966835" y="2876550"/>
            <a:ext cx="536829" cy="323850"/>
          </a:xfrm>
          <a:prstGeom prst="rect">
            <a:avLst/>
          </a:prstGeom>
          <a:noFill/>
          <a:ln/>
        </p:spPr>
        <p:txBody>
          <a:bodyPr wrap="square" lIns="0" tIns="0" rIns="0" bIns="0" rtlCol="0" anchor="ctr"/>
          <a:lstStyle/>
          <a:p>
            <a:pPr marL="0" indent="0" algn="r">
              <a:buNone/>
            </a:pPr>
            <a:r>
              <a:rPr lang="en-US" sz="938" dirty="0">
                <a:solidFill>
                  <a:srgbClr val="C23B14"/>
                </a:solidFill>
                <a:latin typeface="Malgun Gothic" pitchFamily="34" charset="0"/>
                <a:ea typeface="Malgun Gothic" pitchFamily="34" charset="-122"/>
                <a:cs typeface="Malgun Gothic" pitchFamily="34" charset="-120"/>
              </a:rPr>
              <a:t>−7.1%</a:t>
            </a:r>
            <a:endParaRPr lang="en-US" sz="938" dirty="0"/>
          </a:p>
        </p:txBody>
      </p:sp>
      <p:sp>
        <p:nvSpPr>
          <p:cNvPr id="20" name="Text 17"/>
          <p:cNvSpPr txBox="1"/>
          <p:nvPr/>
        </p:nvSpPr>
        <p:spPr>
          <a:xfrm>
            <a:off x="9770364" y="2876550"/>
            <a:ext cx="494538" cy="323850"/>
          </a:xfrm>
          <a:prstGeom prst="rect">
            <a:avLst/>
          </a:prstGeom>
          <a:noFill/>
          <a:ln/>
        </p:spPr>
        <p:txBody>
          <a:bodyPr wrap="square" lIns="0" tIns="0" rIns="0" bIns="0" rtlCol="0" anchor="ctr"/>
          <a:lstStyle/>
          <a:p>
            <a:pPr marL="0" indent="0" algn="r">
              <a:buNone/>
            </a:pPr>
            <a:r>
              <a:rPr lang="en-US" sz="938" dirty="0">
                <a:solidFill>
                  <a:srgbClr val="0A0A0A"/>
                </a:solidFill>
                <a:latin typeface="Malgun Gothic" pitchFamily="34" charset="0"/>
                <a:ea typeface="Malgun Gothic" pitchFamily="34" charset="-122"/>
                <a:cs typeface="Malgun Gothic" pitchFamily="34" charset="-120"/>
              </a:rPr>
              <a:t>−1.30</a:t>
            </a:r>
            <a:endParaRPr lang="en-US" sz="938" dirty="0"/>
          </a:p>
        </p:txBody>
      </p:sp>
      <p:sp>
        <p:nvSpPr>
          <p:cNvPr id="21" name="Text 18"/>
          <p:cNvSpPr txBox="1"/>
          <p:nvPr/>
        </p:nvSpPr>
        <p:spPr>
          <a:xfrm>
            <a:off x="10531602" y="2876550"/>
            <a:ext cx="917448" cy="323850"/>
          </a:xfrm>
          <a:prstGeom prst="rect">
            <a:avLst/>
          </a:prstGeom>
          <a:noFill/>
          <a:ln/>
        </p:spPr>
        <p:txBody>
          <a:bodyPr wrap="square" lIns="0" tIns="0" rIns="0" bIns="0" rtlCol="0" anchor="ctr"/>
          <a:lstStyle/>
          <a:p>
            <a:pPr marL="0" indent="0" algn="r">
              <a:buNone/>
            </a:pPr>
            <a:r>
              <a:rPr lang="en-US" sz="938" dirty="0">
                <a:solidFill>
                  <a:srgbClr val="0A0A0A"/>
                </a:solidFill>
                <a:latin typeface="Malgun Gothic" pitchFamily="34" charset="0"/>
                <a:ea typeface="Malgun Gothic" pitchFamily="34" charset="-122"/>
                <a:cs typeface="Malgun Gothic" pitchFamily="34" charset="-120"/>
              </a:rPr>
              <a:t>BM에 뒤짐</a:t>
            </a:r>
            <a:endParaRPr lang="en-US" sz="938" dirty="0"/>
          </a:p>
        </p:txBody>
      </p:sp>
      <p:sp>
        <p:nvSpPr>
          <p:cNvPr id="22" name="Shape 19"/>
          <p:cNvSpPr/>
          <p:nvPr/>
        </p:nvSpPr>
        <p:spPr>
          <a:xfrm>
            <a:off x="7486650" y="3200400"/>
            <a:ext cx="3962400" cy="9525"/>
          </a:xfrm>
          <a:prstGeom prst="rect">
            <a:avLst/>
          </a:prstGeom>
          <a:solidFill>
            <a:srgbClr val="EAECF0"/>
          </a:solidFill>
          <a:ln/>
        </p:spPr>
        <p:txBody>
          <a:bodyPr/>
          <a:lstStyle/>
          <a:p>
            <a:endParaRPr lang="ko-KR" altLang="en-US"/>
          </a:p>
        </p:txBody>
      </p:sp>
      <p:sp>
        <p:nvSpPr>
          <p:cNvPr id="23" name="Text 20"/>
          <p:cNvSpPr txBox="1"/>
          <p:nvPr/>
        </p:nvSpPr>
        <p:spPr>
          <a:xfrm>
            <a:off x="7486650" y="3200400"/>
            <a:ext cx="1213485" cy="323850"/>
          </a:xfrm>
          <a:prstGeom prst="rect">
            <a:avLst/>
          </a:prstGeom>
          <a:noFill/>
          <a:ln/>
        </p:spPr>
        <p:txBody>
          <a:bodyPr wrap="square" lIns="0" tIns="0" rIns="0" bIns="0" rtlCol="0" anchor="ctr"/>
          <a:lstStyle/>
          <a:p>
            <a:pPr marL="0" indent="0" algn="l">
              <a:buNone/>
            </a:pPr>
            <a:r>
              <a:rPr lang="en-US" sz="938" dirty="0">
                <a:solidFill>
                  <a:srgbClr val="0A0A0A"/>
                </a:solidFill>
                <a:latin typeface="Malgun Gothic" pitchFamily="34" charset="0"/>
                <a:ea typeface="Malgun Gothic" pitchFamily="34" charset="-122"/>
                <a:cs typeface="Malgun Gothic" pitchFamily="34" charset="-120"/>
              </a:rPr>
              <a:t>2020-01 ~ 2026-07</a:t>
            </a:r>
            <a:endParaRPr lang="en-US" sz="938" dirty="0"/>
          </a:p>
        </p:txBody>
      </p:sp>
      <p:sp>
        <p:nvSpPr>
          <p:cNvPr id="24" name="Text 21"/>
          <p:cNvSpPr txBox="1"/>
          <p:nvPr/>
        </p:nvSpPr>
        <p:spPr>
          <a:xfrm>
            <a:off x="8966835" y="3200400"/>
            <a:ext cx="536829" cy="323850"/>
          </a:xfrm>
          <a:prstGeom prst="rect">
            <a:avLst/>
          </a:prstGeom>
          <a:noFill/>
          <a:ln/>
        </p:spPr>
        <p:txBody>
          <a:bodyPr wrap="square" lIns="0" tIns="0" rIns="0" bIns="0" rtlCol="0" anchor="ctr"/>
          <a:lstStyle/>
          <a:p>
            <a:pPr marL="0" indent="0" algn="r">
              <a:buNone/>
            </a:pPr>
            <a:r>
              <a:rPr lang="en-US" sz="938" dirty="0">
                <a:solidFill>
                  <a:srgbClr val="1BA673"/>
                </a:solidFill>
                <a:latin typeface="Malgun Gothic" pitchFamily="34" charset="0"/>
                <a:ea typeface="Malgun Gothic" pitchFamily="34" charset="-122"/>
                <a:cs typeface="Malgun Gothic" pitchFamily="34" charset="-120"/>
              </a:rPr>
              <a:t>+28.3%</a:t>
            </a:r>
            <a:endParaRPr lang="en-US" sz="938" dirty="0"/>
          </a:p>
        </p:txBody>
      </p:sp>
      <p:sp>
        <p:nvSpPr>
          <p:cNvPr id="25" name="Text 22"/>
          <p:cNvSpPr txBox="1"/>
          <p:nvPr/>
        </p:nvSpPr>
        <p:spPr>
          <a:xfrm>
            <a:off x="9770364" y="3200400"/>
            <a:ext cx="494538" cy="323850"/>
          </a:xfrm>
          <a:prstGeom prst="rect">
            <a:avLst/>
          </a:prstGeom>
          <a:noFill/>
          <a:ln/>
        </p:spPr>
        <p:txBody>
          <a:bodyPr wrap="square" lIns="0" tIns="0" rIns="0" bIns="0" rtlCol="0" anchor="ctr"/>
          <a:lstStyle/>
          <a:p>
            <a:pPr marL="0" indent="0" algn="r">
              <a:buNone/>
            </a:pPr>
            <a:r>
              <a:rPr lang="en-US" sz="938" dirty="0">
                <a:solidFill>
                  <a:srgbClr val="0A0A0A"/>
                </a:solidFill>
                <a:latin typeface="Malgun Gothic" pitchFamily="34" charset="0"/>
                <a:ea typeface="Malgun Gothic" pitchFamily="34" charset="-122"/>
                <a:cs typeface="Malgun Gothic" pitchFamily="34" charset="-120"/>
              </a:rPr>
              <a:t>+3.25</a:t>
            </a:r>
            <a:endParaRPr lang="en-US" sz="938" dirty="0"/>
          </a:p>
        </p:txBody>
      </p:sp>
      <p:sp>
        <p:nvSpPr>
          <p:cNvPr id="26" name="Text 23"/>
          <p:cNvSpPr txBox="1"/>
          <p:nvPr/>
        </p:nvSpPr>
        <p:spPr>
          <a:xfrm>
            <a:off x="10531602" y="3200400"/>
            <a:ext cx="917448" cy="323850"/>
          </a:xfrm>
          <a:prstGeom prst="rect">
            <a:avLst/>
          </a:prstGeom>
          <a:noFill/>
          <a:ln/>
        </p:spPr>
        <p:txBody>
          <a:bodyPr wrap="square" lIns="0" tIns="0" rIns="0" bIns="0" rtlCol="0" anchor="ctr"/>
          <a:lstStyle/>
          <a:p>
            <a:pPr marL="0" indent="0" algn="r">
              <a:buNone/>
            </a:pPr>
            <a:r>
              <a:rPr lang="en-US" sz="938" dirty="0">
                <a:solidFill>
                  <a:srgbClr val="0A0A0A"/>
                </a:solidFill>
                <a:latin typeface="Malgun Gothic" pitchFamily="34" charset="0"/>
                <a:ea typeface="Malgun Gothic" pitchFamily="34" charset="-122"/>
                <a:cs typeface="Malgun Gothic" pitchFamily="34" charset="-120"/>
              </a:rPr>
              <a:t>크게 앞섬</a:t>
            </a:r>
            <a:endParaRPr lang="en-US" sz="938" dirty="0"/>
          </a:p>
        </p:txBody>
      </p:sp>
      <p:sp>
        <p:nvSpPr>
          <p:cNvPr id="27" name="Shape 24"/>
          <p:cNvSpPr/>
          <p:nvPr/>
        </p:nvSpPr>
        <p:spPr>
          <a:xfrm>
            <a:off x="7486650" y="3524250"/>
            <a:ext cx="3962400" cy="9525"/>
          </a:xfrm>
          <a:prstGeom prst="rect">
            <a:avLst/>
          </a:prstGeom>
          <a:solidFill>
            <a:srgbClr val="EAECF0"/>
          </a:solidFill>
          <a:ln/>
        </p:spPr>
        <p:txBody>
          <a:bodyPr/>
          <a:lstStyle/>
          <a:p>
            <a:endParaRPr lang="ko-KR" altLang="en-US"/>
          </a:p>
        </p:txBody>
      </p:sp>
      <p:sp>
        <p:nvSpPr>
          <p:cNvPr id="28" name="Text 25"/>
          <p:cNvSpPr txBox="1"/>
          <p:nvPr/>
        </p:nvSpPr>
        <p:spPr>
          <a:xfrm>
            <a:off x="7486650" y="3524250"/>
            <a:ext cx="1213485" cy="323850"/>
          </a:xfrm>
          <a:prstGeom prst="rect">
            <a:avLst/>
          </a:prstGeom>
          <a:noFill/>
          <a:ln/>
        </p:spPr>
        <p:txBody>
          <a:bodyPr wrap="square" lIns="0" tIns="0" rIns="0" bIns="0" rtlCol="0" anchor="ctr"/>
          <a:lstStyle/>
          <a:p>
            <a:pPr marL="0" indent="0" algn="l">
              <a:buNone/>
            </a:pPr>
            <a:r>
              <a:rPr lang="en-US" sz="938" b="1" dirty="0">
                <a:solidFill>
                  <a:srgbClr val="0A0A0A"/>
                </a:solidFill>
                <a:latin typeface="Malgun Gothic" pitchFamily="34" charset="0"/>
                <a:ea typeface="Malgun Gothic" pitchFamily="34" charset="-122"/>
                <a:cs typeface="Malgun Gothic" pitchFamily="34" charset="-120"/>
              </a:rPr>
              <a:t>전체</a:t>
            </a:r>
            <a:endParaRPr lang="en-US" sz="938" dirty="0"/>
          </a:p>
        </p:txBody>
      </p:sp>
      <p:sp>
        <p:nvSpPr>
          <p:cNvPr id="29" name="Text 26"/>
          <p:cNvSpPr txBox="1"/>
          <p:nvPr/>
        </p:nvSpPr>
        <p:spPr>
          <a:xfrm>
            <a:off x="8966835" y="3524250"/>
            <a:ext cx="536829" cy="323850"/>
          </a:xfrm>
          <a:prstGeom prst="rect">
            <a:avLst/>
          </a:prstGeom>
          <a:noFill/>
          <a:ln/>
        </p:spPr>
        <p:txBody>
          <a:bodyPr wrap="square" lIns="0" tIns="0" rIns="0" bIns="0" rtlCol="0" anchor="ctr"/>
          <a:lstStyle/>
          <a:p>
            <a:pPr marL="0" indent="0" algn="r">
              <a:buNone/>
            </a:pPr>
            <a:r>
              <a:rPr lang="en-US" sz="938" b="1" dirty="0">
                <a:solidFill>
                  <a:srgbClr val="0A0A0A"/>
                </a:solidFill>
                <a:latin typeface="Malgun Gothic" pitchFamily="34" charset="0"/>
                <a:ea typeface="Malgun Gothic" pitchFamily="34" charset="-122"/>
                <a:cs typeface="Malgun Gothic" pitchFamily="34" charset="-120"/>
              </a:rPr>
              <a:t>+9.4%</a:t>
            </a:r>
            <a:endParaRPr lang="en-US" sz="938" dirty="0"/>
          </a:p>
        </p:txBody>
      </p:sp>
      <p:sp>
        <p:nvSpPr>
          <p:cNvPr id="30" name="Text 27"/>
          <p:cNvSpPr txBox="1"/>
          <p:nvPr/>
        </p:nvSpPr>
        <p:spPr>
          <a:xfrm>
            <a:off x="9770364" y="3524250"/>
            <a:ext cx="494538" cy="323850"/>
          </a:xfrm>
          <a:prstGeom prst="rect">
            <a:avLst/>
          </a:prstGeom>
          <a:noFill/>
          <a:ln/>
        </p:spPr>
        <p:txBody>
          <a:bodyPr wrap="square" lIns="0" tIns="0" rIns="0" bIns="0" rtlCol="0" anchor="ctr"/>
          <a:lstStyle/>
          <a:p>
            <a:pPr marL="0" indent="0" algn="r">
              <a:buNone/>
            </a:pPr>
            <a:r>
              <a:rPr lang="en-US" sz="938" b="1" dirty="0">
                <a:solidFill>
                  <a:srgbClr val="0A0A0A"/>
                </a:solidFill>
                <a:latin typeface="Malgun Gothic" pitchFamily="34" charset="0"/>
                <a:ea typeface="Malgun Gothic" pitchFamily="34" charset="-122"/>
                <a:cs typeface="Malgun Gothic" pitchFamily="34" charset="-120"/>
              </a:rPr>
              <a:t>+1.87</a:t>
            </a:r>
            <a:endParaRPr lang="en-US" sz="938" dirty="0"/>
          </a:p>
        </p:txBody>
      </p:sp>
      <p:sp>
        <p:nvSpPr>
          <p:cNvPr id="31" name="Text 28"/>
          <p:cNvSpPr txBox="1"/>
          <p:nvPr/>
        </p:nvSpPr>
        <p:spPr>
          <a:xfrm>
            <a:off x="10531602" y="3524250"/>
            <a:ext cx="917448" cy="323850"/>
          </a:xfrm>
          <a:prstGeom prst="rect">
            <a:avLst/>
          </a:prstGeom>
          <a:noFill/>
          <a:ln/>
        </p:spPr>
        <p:txBody>
          <a:bodyPr wrap="square" lIns="0" tIns="0" rIns="0" bIns="0" rtlCol="0" anchor="ctr"/>
          <a:lstStyle/>
          <a:p>
            <a:pPr marL="0" indent="0" algn="r">
              <a:buNone/>
            </a:pPr>
            <a:r>
              <a:rPr lang="en-US" sz="938" b="1" dirty="0">
                <a:solidFill>
                  <a:srgbClr val="0A0A0A"/>
                </a:solidFill>
                <a:latin typeface="Malgun Gothic" pitchFamily="34" charset="0"/>
                <a:ea typeface="Malgun Gothic" pitchFamily="34" charset="-122"/>
                <a:cs typeface="Malgun Gothic" pitchFamily="34" charset="-120"/>
              </a:rPr>
              <a:t>유의수준 미달</a:t>
            </a:r>
            <a:endParaRPr lang="en-US" sz="938" dirty="0"/>
          </a:p>
        </p:txBody>
      </p:sp>
      <p:sp>
        <p:nvSpPr>
          <p:cNvPr id="32" name="Shape 29"/>
          <p:cNvSpPr/>
          <p:nvPr/>
        </p:nvSpPr>
        <p:spPr>
          <a:xfrm>
            <a:off x="7353300" y="3981450"/>
            <a:ext cx="4229100" cy="914400"/>
          </a:xfrm>
          <a:prstGeom prst="roundRect">
            <a:avLst>
              <a:gd name="adj" fmla="val 16667"/>
            </a:avLst>
          </a:prstGeom>
          <a:solidFill>
            <a:srgbClr val="F7F8FA"/>
          </a:solidFill>
          <a:ln w="12700">
            <a:solidFill>
              <a:srgbClr val="E5E7EB"/>
            </a:solidFill>
            <a:prstDash val="solid"/>
          </a:ln>
        </p:spPr>
        <p:txBody>
          <a:bodyPr/>
          <a:lstStyle/>
          <a:p>
            <a:endParaRPr lang="ko-KR" altLang="en-US"/>
          </a:p>
        </p:txBody>
      </p:sp>
      <p:sp>
        <p:nvSpPr>
          <p:cNvPr id="33" name="Text 30"/>
          <p:cNvSpPr txBox="1"/>
          <p:nvPr/>
        </p:nvSpPr>
        <p:spPr>
          <a:xfrm>
            <a:off x="7543800" y="4133850"/>
            <a:ext cx="38481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베타 (β)</a:t>
            </a:r>
            <a:endParaRPr lang="en-US" sz="975" dirty="0"/>
          </a:p>
        </p:txBody>
      </p:sp>
      <p:sp>
        <p:nvSpPr>
          <p:cNvPr id="34" name="Text 31"/>
          <p:cNvSpPr txBox="1"/>
          <p:nvPr/>
        </p:nvSpPr>
        <p:spPr>
          <a:xfrm>
            <a:off x="7543800" y="4324350"/>
            <a:ext cx="38481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1.11</a:t>
            </a:r>
            <a:endParaRPr lang="en-US" sz="2250" dirty="0"/>
          </a:p>
        </p:txBody>
      </p:sp>
      <p:sp>
        <p:nvSpPr>
          <p:cNvPr id="35" name="Text 32"/>
          <p:cNvSpPr txBox="1"/>
          <p:nvPr/>
        </p:nvSpPr>
        <p:spPr>
          <a:xfrm>
            <a:off x="7543800" y="4667250"/>
            <a:ext cx="3848100" cy="1714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BM이 1% 움직이면 지수는 1.11% 움직인다</a:t>
            </a:r>
            <a:endParaRPr lang="en-US" sz="975" dirty="0"/>
          </a:p>
        </p:txBody>
      </p:sp>
      <p:sp>
        <p:nvSpPr>
          <p:cNvPr id="36" name="Shape 33"/>
          <p:cNvSpPr/>
          <p:nvPr/>
        </p:nvSpPr>
        <p:spPr>
          <a:xfrm>
            <a:off x="7353300" y="5048250"/>
            <a:ext cx="4229100" cy="742950"/>
          </a:xfrm>
          <a:prstGeom prst="roundRect">
            <a:avLst>
              <a:gd name="adj" fmla="val 20513"/>
            </a:avLst>
          </a:prstGeom>
          <a:solidFill>
            <a:srgbClr val="F7F8FA"/>
          </a:solidFill>
          <a:ln/>
        </p:spPr>
        <p:txBody>
          <a:bodyPr/>
          <a:lstStyle/>
          <a:p>
            <a:endParaRPr lang="ko-KR" altLang="en-US"/>
          </a:p>
        </p:txBody>
      </p:sp>
      <p:sp>
        <p:nvSpPr>
          <p:cNvPr id="37" name="Text 34"/>
          <p:cNvSpPr txBox="1"/>
          <p:nvPr/>
        </p:nvSpPr>
        <p:spPr>
          <a:xfrm>
            <a:off x="7543800" y="5238750"/>
            <a:ext cx="3848100" cy="400050"/>
          </a:xfrm>
          <a:prstGeom prst="rect">
            <a:avLst/>
          </a:prstGeom>
          <a:noFill/>
          <a:ln/>
        </p:spPr>
        <p:txBody>
          <a:bodyPr wrap="square" lIns="0" tIns="0" rIns="0" bIns="0" rtlCol="0" anchor="t"/>
          <a:lstStyle/>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전체 구간 α는 5% 유의수준을 넘지 못합니다. 앞선 구간과 뒤진 구간이 섞여 있고, 그 자체가 국면 의존의 증거입니다.</a:t>
            </a:r>
            <a:endParaRPr lang="en-US" sz="1013" dirty="0"/>
          </a:p>
        </p:txBody>
      </p:sp>
      <p:sp>
        <p:nvSpPr>
          <p:cNvPr id="38" name="Text 35"/>
          <p:cNvSpPr txBox="1"/>
          <p:nvPr/>
        </p:nvSpPr>
        <p:spPr>
          <a:xfrm>
            <a:off x="609600" y="5867400"/>
            <a:ext cx="64770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06_코드/backtest_long/figures/08_팩터귀속.png · out/factor_attribution.json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결과 · 추주원</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위험 — 집중의 대가</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더 벌었다와 더 잃었다는 같은 원인에서 나옵니다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24</a:t>
            </a:r>
            <a:endParaRPr lang="en-US" sz="900" dirty="0"/>
          </a:p>
        </p:txBody>
      </p:sp>
      <p:pic>
        <p:nvPicPr>
          <p:cNvPr id="9" name="Image 0" descr="/root/deck/fig/05_낙폭.png"/>
          <p:cNvPicPr>
            <a:picLocks noChangeAspect="1"/>
          </p:cNvPicPr>
          <p:nvPr/>
        </p:nvPicPr>
        <p:blipFill>
          <a:blip r:embed="rId3"/>
          <a:stretch>
            <a:fillRect/>
          </a:stretch>
        </p:blipFill>
        <p:spPr>
          <a:xfrm>
            <a:off x="781938" y="2552700"/>
            <a:ext cx="4989324" cy="2247900"/>
          </a:xfrm>
          <a:prstGeom prst="rect">
            <a:avLst/>
          </a:prstGeom>
        </p:spPr>
      </p:pic>
      <p:sp>
        <p:nvSpPr>
          <p:cNvPr id="10" name="Text 7"/>
          <p:cNvSpPr txBox="1"/>
          <p:nvPr/>
        </p:nvSpPr>
        <p:spPr>
          <a:xfrm>
            <a:off x="609600" y="4800600"/>
            <a:ext cx="53340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최대낙폭 — 지수 −55.6% vs BM −32.1%</a:t>
            </a:r>
            <a:endParaRPr lang="en-US" sz="900" dirty="0"/>
          </a:p>
        </p:txBody>
      </p:sp>
      <p:pic>
        <p:nvPicPr>
          <p:cNvPr id="11" name="Image 1" descr="/root/deck/fig/04_추적오차.png"/>
          <p:cNvPicPr>
            <a:picLocks noChangeAspect="1"/>
          </p:cNvPicPr>
          <p:nvPr/>
        </p:nvPicPr>
        <p:blipFill>
          <a:blip r:embed="rId4"/>
          <a:stretch>
            <a:fillRect/>
          </a:stretch>
        </p:blipFill>
        <p:spPr>
          <a:xfrm>
            <a:off x="6439672" y="2552700"/>
            <a:ext cx="4951455" cy="2247900"/>
          </a:xfrm>
          <a:prstGeom prst="rect">
            <a:avLst/>
          </a:prstGeom>
        </p:spPr>
      </p:pic>
      <p:sp>
        <p:nvSpPr>
          <p:cNvPr id="12" name="Text 8"/>
          <p:cNvSpPr txBox="1"/>
          <p:nvPr/>
        </p:nvSpPr>
        <p:spPr>
          <a:xfrm>
            <a:off x="6248400" y="4800600"/>
            <a:ext cx="53340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추적오차 — 롤링 구간 12~26%</a:t>
            </a:r>
            <a:endParaRPr lang="en-US" sz="900" dirty="0"/>
          </a:p>
        </p:txBody>
      </p:sp>
      <p:sp>
        <p:nvSpPr>
          <p:cNvPr id="13" name="Shape 9"/>
          <p:cNvSpPr/>
          <p:nvPr/>
        </p:nvSpPr>
        <p:spPr>
          <a:xfrm>
            <a:off x="609600" y="5162550"/>
            <a:ext cx="350520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14" name="Text 10"/>
          <p:cNvSpPr txBox="1"/>
          <p:nvPr/>
        </p:nvSpPr>
        <p:spPr>
          <a:xfrm>
            <a:off x="800100" y="531495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최대낙폭 · 지수</a:t>
            </a:r>
            <a:endParaRPr lang="en-US" sz="975" dirty="0"/>
          </a:p>
        </p:txBody>
      </p:sp>
      <p:sp>
        <p:nvSpPr>
          <p:cNvPr id="15" name="Text 11"/>
          <p:cNvSpPr txBox="1"/>
          <p:nvPr/>
        </p:nvSpPr>
        <p:spPr>
          <a:xfrm>
            <a:off x="800100" y="5505450"/>
            <a:ext cx="3124200" cy="361950"/>
          </a:xfrm>
          <a:prstGeom prst="rect">
            <a:avLst/>
          </a:prstGeom>
          <a:noFill/>
          <a:ln/>
        </p:spPr>
        <p:txBody>
          <a:bodyPr wrap="square" lIns="0" tIns="0" rIns="0" bIns="0" rtlCol="0" anchor="ctr"/>
          <a:lstStyle/>
          <a:p>
            <a:pPr marL="0" indent="0">
              <a:buNone/>
            </a:pPr>
            <a:r>
              <a:rPr lang="en-US" sz="2250" b="1" kern="0" spc="-80" dirty="0">
                <a:solidFill>
                  <a:srgbClr val="C23B14"/>
                </a:solidFill>
                <a:latin typeface="Malgun Gothic" pitchFamily="34" charset="0"/>
                <a:ea typeface="Malgun Gothic" pitchFamily="34" charset="-122"/>
                <a:cs typeface="Malgun Gothic" pitchFamily="34" charset="-120"/>
              </a:rPr>
              <a:t>−55.6%</a:t>
            </a:r>
            <a:endParaRPr lang="en-US" sz="2250" dirty="0"/>
          </a:p>
        </p:txBody>
      </p:sp>
      <p:sp>
        <p:nvSpPr>
          <p:cNvPr id="16" name="Text 12"/>
          <p:cNvSpPr txBox="1"/>
          <p:nvPr/>
        </p:nvSpPr>
        <p:spPr>
          <a:xfrm>
            <a:off x="800100" y="5848350"/>
            <a:ext cx="3124200" cy="2667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BM보다 23.6%p 더 하락</a:t>
            </a:r>
            <a:endParaRPr lang="en-US" sz="975" dirty="0"/>
          </a:p>
        </p:txBody>
      </p:sp>
      <p:sp>
        <p:nvSpPr>
          <p:cNvPr id="17" name="Shape 13"/>
          <p:cNvSpPr/>
          <p:nvPr/>
        </p:nvSpPr>
        <p:spPr>
          <a:xfrm>
            <a:off x="4343400" y="5162550"/>
            <a:ext cx="350520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18" name="Text 14"/>
          <p:cNvSpPr txBox="1"/>
          <p:nvPr/>
        </p:nvSpPr>
        <p:spPr>
          <a:xfrm>
            <a:off x="4533900" y="531495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최대낙폭 · BM</a:t>
            </a:r>
            <a:endParaRPr lang="en-US" sz="975" dirty="0"/>
          </a:p>
        </p:txBody>
      </p:sp>
      <p:sp>
        <p:nvSpPr>
          <p:cNvPr id="19" name="Text 15"/>
          <p:cNvSpPr txBox="1"/>
          <p:nvPr/>
        </p:nvSpPr>
        <p:spPr>
          <a:xfrm>
            <a:off x="4533900" y="550545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−32.1%</a:t>
            </a:r>
            <a:endParaRPr lang="en-US" sz="2250" dirty="0"/>
          </a:p>
        </p:txBody>
      </p:sp>
      <p:sp>
        <p:nvSpPr>
          <p:cNvPr id="20" name="Text 16"/>
          <p:cNvSpPr txBox="1"/>
          <p:nvPr/>
        </p:nvSpPr>
        <p:spPr>
          <a:xfrm>
            <a:off x="4533900" y="5848350"/>
            <a:ext cx="3124200" cy="2667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KOSPI200 + Russell3000 합성</a:t>
            </a:r>
            <a:endParaRPr lang="en-US" sz="975" dirty="0"/>
          </a:p>
        </p:txBody>
      </p:sp>
      <p:sp>
        <p:nvSpPr>
          <p:cNvPr id="21" name="Shape 17"/>
          <p:cNvSpPr/>
          <p:nvPr/>
        </p:nvSpPr>
        <p:spPr>
          <a:xfrm>
            <a:off x="8077200" y="5162550"/>
            <a:ext cx="3505200" cy="1009650"/>
          </a:xfrm>
          <a:prstGeom prst="roundRect">
            <a:avLst>
              <a:gd name="adj" fmla="val 15094"/>
            </a:avLst>
          </a:prstGeom>
          <a:solidFill>
            <a:srgbClr val="F7F8FA"/>
          </a:solidFill>
          <a:ln w="12700">
            <a:solidFill>
              <a:srgbClr val="E5E7EB"/>
            </a:solidFill>
            <a:prstDash val="solid"/>
          </a:ln>
        </p:spPr>
        <p:txBody>
          <a:bodyPr/>
          <a:lstStyle/>
          <a:p>
            <a:endParaRPr lang="ko-KR" altLang="en-US"/>
          </a:p>
        </p:txBody>
      </p:sp>
      <p:sp>
        <p:nvSpPr>
          <p:cNvPr id="22" name="Text 18"/>
          <p:cNvSpPr txBox="1"/>
          <p:nvPr/>
        </p:nvSpPr>
        <p:spPr>
          <a:xfrm>
            <a:off x="8267700" y="531495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추적오차</a:t>
            </a:r>
            <a:endParaRPr lang="en-US" sz="975" dirty="0"/>
          </a:p>
        </p:txBody>
      </p:sp>
      <p:sp>
        <p:nvSpPr>
          <p:cNvPr id="23" name="Text 19"/>
          <p:cNvSpPr txBox="1"/>
          <p:nvPr/>
        </p:nvSpPr>
        <p:spPr>
          <a:xfrm>
            <a:off x="8267700" y="550545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12 ~ 26%</a:t>
            </a:r>
            <a:endParaRPr lang="en-US" sz="2250" dirty="0"/>
          </a:p>
        </p:txBody>
      </p:sp>
      <p:sp>
        <p:nvSpPr>
          <p:cNvPr id="24" name="Text 20"/>
          <p:cNvSpPr txBox="1"/>
          <p:nvPr/>
        </p:nvSpPr>
        <p:spPr>
          <a:xfrm>
            <a:off x="8267700" y="5848350"/>
            <a:ext cx="3124200" cy="2667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인덱스펀드 0.1~1% · 액티브 3~8%</a:t>
            </a:r>
            <a:endParaRPr lang="en-US" sz="9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결론 · 공통</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증명된 것과 증명되지 않은 것</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알고리즘 품질은 통과했고, 성과 신뢰도는 통과하지 못했습니다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25</a:t>
            </a:r>
            <a:endParaRPr lang="en-US" sz="900" dirty="0"/>
          </a:p>
        </p:txBody>
      </p:sp>
      <p:pic>
        <p:nvPicPr>
          <p:cNvPr id="9" name="Image 0" descr="/root/deck/fig/10_검증지도.png"/>
          <p:cNvPicPr>
            <a:picLocks noChangeAspect="1"/>
          </p:cNvPicPr>
          <p:nvPr/>
        </p:nvPicPr>
        <p:blipFill>
          <a:blip r:embed="rId3"/>
          <a:stretch>
            <a:fillRect/>
          </a:stretch>
        </p:blipFill>
        <p:spPr>
          <a:xfrm>
            <a:off x="639989" y="2552700"/>
            <a:ext cx="4892222" cy="3028950"/>
          </a:xfrm>
          <a:prstGeom prst="rect">
            <a:avLst/>
          </a:prstGeom>
        </p:spPr>
      </p:pic>
      <p:sp>
        <p:nvSpPr>
          <p:cNvPr id="10" name="Text 7"/>
          <p:cNvSpPr txBox="1"/>
          <p:nvPr/>
        </p:nvSpPr>
        <p:spPr>
          <a:xfrm>
            <a:off x="609600" y="5581650"/>
            <a:ext cx="49530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검증 지도 — 항목별 PASS / FAIL</a:t>
            </a:r>
            <a:endParaRPr lang="en-US" sz="900" dirty="0"/>
          </a:p>
        </p:txBody>
      </p:sp>
      <p:sp>
        <p:nvSpPr>
          <p:cNvPr id="11" name="Shape 8"/>
          <p:cNvSpPr/>
          <p:nvPr/>
        </p:nvSpPr>
        <p:spPr>
          <a:xfrm>
            <a:off x="5867400" y="2552700"/>
            <a:ext cx="2743200" cy="1905000"/>
          </a:xfrm>
          <a:prstGeom prst="roundRect">
            <a:avLst>
              <a:gd name="adj" fmla="val 8000"/>
            </a:avLst>
          </a:prstGeom>
          <a:solidFill>
            <a:srgbClr val="E8FFEA"/>
          </a:solidFill>
          <a:ln/>
        </p:spPr>
        <p:txBody>
          <a:bodyPr/>
          <a:lstStyle/>
          <a:p>
            <a:endParaRPr lang="ko-KR" altLang="en-US"/>
          </a:p>
        </p:txBody>
      </p:sp>
      <p:sp>
        <p:nvSpPr>
          <p:cNvPr id="12" name="Text 9"/>
          <p:cNvSpPr txBox="1"/>
          <p:nvPr/>
        </p:nvSpPr>
        <p:spPr>
          <a:xfrm>
            <a:off x="6057900" y="2743200"/>
            <a:ext cx="23622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증명됐다</a:t>
            </a:r>
            <a:endParaRPr lang="en-US" sz="1425" dirty="0"/>
          </a:p>
        </p:txBody>
      </p:sp>
      <p:sp>
        <p:nvSpPr>
          <p:cNvPr id="13" name="Text 10"/>
          <p:cNvSpPr txBox="1"/>
          <p:nvPr/>
        </p:nvSpPr>
        <p:spPr>
          <a:xfrm>
            <a:off x="6057900" y="3048000"/>
            <a:ext cx="2362200" cy="1257300"/>
          </a:xfrm>
          <a:prstGeom prst="rect">
            <a:avLst/>
          </a:prstGeom>
          <a:noFill/>
          <a:ln/>
        </p:spPr>
        <p:txBody>
          <a:bodyPr wrap="square" lIns="0" tIns="0" rIns="0" bIns="0" rtlCol="0" anchor="t"/>
          <a:lstStyle/>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규칙이 13년 53회 자동으로 굴렀다</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미래 정보를 쓰지 않는다 (PIT)</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재실행하면 같은 값이 나온다</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1조 규모까지 추종 가능하다</a:t>
            </a:r>
            <a:endParaRPr lang="en-US" sz="1013" dirty="0"/>
          </a:p>
        </p:txBody>
      </p:sp>
      <p:sp>
        <p:nvSpPr>
          <p:cNvPr id="14" name="Shape 11"/>
          <p:cNvSpPr/>
          <p:nvPr/>
        </p:nvSpPr>
        <p:spPr>
          <a:xfrm>
            <a:off x="8839200" y="2552700"/>
            <a:ext cx="2743200" cy="1905000"/>
          </a:xfrm>
          <a:prstGeom prst="roundRect">
            <a:avLst>
              <a:gd name="adj" fmla="val 8000"/>
            </a:avLst>
          </a:prstGeom>
          <a:solidFill>
            <a:srgbClr val="FDECEC"/>
          </a:solidFill>
          <a:ln/>
        </p:spPr>
        <p:txBody>
          <a:bodyPr/>
          <a:lstStyle/>
          <a:p>
            <a:endParaRPr lang="ko-KR" altLang="en-US"/>
          </a:p>
        </p:txBody>
      </p:sp>
      <p:sp>
        <p:nvSpPr>
          <p:cNvPr id="15" name="Text 12"/>
          <p:cNvSpPr txBox="1"/>
          <p:nvPr/>
        </p:nvSpPr>
        <p:spPr>
          <a:xfrm>
            <a:off x="9029700" y="2743200"/>
            <a:ext cx="23622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증명되지 않았다</a:t>
            </a:r>
            <a:endParaRPr lang="en-US" sz="1425" dirty="0"/>
          </a:p>
        </p:txBody>
      </p:sp>
      <p:sp>
        <p:nvSpPr>
          <p:cNvPr id="16" name="Text 13"/>
          <p:cNvSpPr txBox="1"/>
          <p:nvPr/>
        </p:nvSpPr>
        <p:spPr>
          <a:xfrm>
            <a:off x="9029700" y="3048000"/>
            <a:ext cx="2362200" cy="1257300"/>
          </a:xfrm>
          <a:prstGeom prst="rect">
            <a:avLst/>
          </a:prstGeom>
          <a:noFill/>
          <a:ln/>
        </p:spPr>
        <p:txBody>
          <a:bodyPr wrap="square" lIns="0" tIns="0" rIns="0" bIns="0" rtlCol="0" anchor="t"/>
          <a:lstStyle/>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수익성</a:t>
            </a:r>
            <a:endParaRPr lang="en-US" sz="1013" dirty="0"/>
          </a:p>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종목 선택 방법론</a:t>
            </a:r>
            <a:endParaRPr lang="en-US" sz="1013" dirty="0"/>
          </a:p>
        </p:txBody>
      </p:sp>
      <p:sp>
        <p:nvSpPr>
          <p:cNvPr id="17" name="Shape 14"/>
          <p:cNvSpPr/>
          <p:nvPr/>
        </p:nvSpPr>
        <p:spPr>
          <a:xfrm>
            <a:off x="5867400" y="4629150"/>
            <a:ext cx="5715000" cy="1162050"/>
          </a:xfrm>
          <a:prstGeom prst="roundRect">
            <a:avLst>
              <a:gd name="adj" fmla="val 26230"/>
            </a:avLst>
          </a:prstGeom>
          <a:solidFill>
            <a:srgbClr val="0A0A0A"/>
          </a:solidFill>
          <a:ln/>
        </p:spPr>
        <p:txBody>
          <a:bodyPr/>
          <a:lstStyle/>
          <a:p>
            <a:endParaRPr lang="ko-KR" altLang="en-US"/>
          </a:p>
        </p:txBody>
      </p:sp>
      <p:sp>
        <p:nvSpPr>
          <p:cNvPr id="18" name="Text 15"/>
          <p:cNvSpPr txBox="1"/>
          <p:nvPr/>
        </p:nvSpPr>
        <p:spPr>
          <a:xfrm>
            <a:off x="6172200" y="4838700"/>
            <a:ext cx="5105400" cy="209550"/>
          </a:xfrm>
          <a:prstGeom prst="rect">
            <a:avLst/>
          </a:prstGeom>
          <a:noFill/>
          <a:ln/>
        </p:spPr>
        <p:txBody>
          <a:bodyPr wrap="square" lIns="0" tIns="0" rIns="0" bIns="0" rtlCol="0" anchor="ctr"/>
          <a:lstStyle/>
          <a:p>
            <a:pPr marL="0" indent="0">
              <a:buNone/>
            </a:pPr>
            <a:r>
              <a:rPr lang="en-US" sz="975" b="1" dirty="0">
                <a:solidFill>
                  <a:srgbClr val="FF5530"/>
                </a:solidFill>
                <a:latin typeface="Malgun Gothic" pitchFamily="34" charset="0"/>
                <a:ea typeface="Malgun Gothic" pitchFamily="34" charset="-122"/>
                <a:cs typeface="Malgun Gothic" pitchFamily="34" charset="-120"/>
              </a:rPr>
              <a:t>수익성을 입증하려면</a:t>
            </a:r>
            <a:endParaRPr lang="en-US" sz="975" dirty="0"/>
          </a:p>
        </p:txBody>
      </p:sp>
      <p:sp>
        <p:nvSpPr>
          <p:cNvPr id="19" name="Text 16"/>
          <p:cNvSpPr txBox="1"/>
          <p:nvPr/>
        </p:nvSpPr>
        <p:spPr>
          <a:xfrm>
            <a:off x="6172200" y="5105400"/>
            <a:ext cx="5105400" cy="590550"/>
          </a:xfrm>
          <a:prstGeom prst="rect">
            <a:avLst/>
          </a:prstGeom>
          <a:noFill/>
          <a:ln/>
        </p:spPr>
        <p:txBody>
          <a:bodyPr wrap="square" lIns="0" tIns="0" rIns="0" bIns="0" rtlCol="0" anchor="t"/>
          <a:lstStyle/>
          <a:p>
            <a:pPr marL="0" indent="0">
              <a:lnSpc>
                <a:spcPct val="140000"/>
              </a:lnSpc>
              <a:buNone/>
            </a:pPr>
            <a:r>
              <a:rPr lang="en-US" sz="1275" b="1" dirty="0">
                <a:solidFill>
                  <a:srgbClr val="FFFFFF"/>
                </a:solidFill>
                <a:latin typeface="Malgun Gothic" pitchFamily="34" charset="0"/>
                <a:ea typeface="Malgun Gothic" pitchFamily="34" charset="-122"/>
                <a:cs typeface="Malgun Gothic" pitchFamily="34" charset="-120"/>
              </a:rPr>
              <a:t>① 전체시장 PIT 유니버스 재구성 (안건 B)</a:t>
            </a:r>
            <a:endParaRPr lang="en-US" sz="1275" dirty="0"/>
          </a:p>
          <a:p>
            <a:pPr marL="0" indent="0">
              <a:lnSpc>
                <a:spcPct val="140000"/>
              </a:lnSpc>
              <a:buNone/>
            </a:pPr>
            <a:r>
              <a:rPr lang="en-US" sz="1275" b="1" dirty="0">
                <a:solidFill>
                  <a:srgbClr val="FFFFFF"/>
                </a:solidFill>
                <a:latin typeface="Malgun Gothic" pitchFamily="34" charset="0"/>
                <a:ea typeface="Malgun Gothic" pitchFamily="34" charset="-122"/>
                <a:cs typeface="Malgun Gothic" pitchFamily="34" charset="-120"/>
              </a:rPr>
              <a:t>② 규칙 동결 2026-07-31 이후 실시간 추적</a:t>
            </a:r>
            <a:endParaRPr lang="en-US" sz="1275" dirty="0"/>
          </a:p>
        </p:txBody>
      </p:sp>
      <p:sp>
        <p:nvSpPr>
          <p:cNvPr id="20" name="Text 17"/>
          <p:cNvSpPr txBox="1"/>
          <p:nvPr/>
        </p:nvSpPr>
        <p:spPr>
          <a:xfrm>
            <a:off x="609600" y="5867400"/>
            <a:ext cx="49530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06_코드/backtest_long/figures/10_검증지도.png</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A0A0A"/>
          </a:solidFill>
          <a:ln/>
        </p:spPr>
        <p:txBody>
          <a:bodyPr/>
          <a:lstStyle/>
          <a:p>
            <a:endParaRPr lang="ko-KR" altLang="en-US"/>
          </a:p>
        </p:txBody>
      </p:sp>
      <p:sp>
        <p:nvSpPr>
          <p:cNvPr id="3" name="Text 1"/>
          <p:cNvSpPr txBox="1"/>
          <p:nvPr/>
        </p:nvSpPr>
        <p:spPr>
          <a:xfrm>
            <a:off x="609600" y="323850"/>
            <a:ext cx="3810000" cy="266700"/>
          </a:xfrm>
          <a:prstGeom prst="rect">
            <a:avLst/>
          </a:prstGeom>
          <a:noFill/>
          <a:ln/>
        </p:spPr>
        <p:txBody>
          <a:bodyPr wrap="square" lIns="0" tIns="0" rIns="0" bIns="0" rtlCol="0" anchor="ctr"/>
          <a:lstStyle/>
          <a:p>
            <a:pPr marL="0" indent="0">
              <a:buNone/>
            </a:pPr>
            <a:r>
              <a:rPr lang="en-US" sz="1275" b="1" kern="0" spc="-50" dirty="0">
                <a:solidFill>
                  <a:srgbClr val="FFFFFF"/>
                </a:solidFill>
                <a:latin typeface="Malgun Gothic" pitchFamily="34" charset="0"/>
                <a:ea typeface="Malgun Gothic" pitchFamily="34" charset="-122"/>
                <a:cs typeface="Malgun Gothic" pitchFamily="34" charset="-120"/>
              </a:rPr>
              <a:t>AI 퀀트 3기</a:t>
            </a:r>
            <a:endParaRPr lang="en-US" sz="1275" dirty="0"/>
          </a:p>
        </p:txBody>
      </p:sp>
      <p:sp>
        <p:nvSpPr>
          <p:cNvPr id="4" name="Text 2"/>
          <p:cNvSpPr txBox="1"/>
          <p:nvPr/>
        </p:nvSpPr>
        <p:spPr>
          <a:xfrm>
            <a:off x="609600" y="2381250"/>
            <a:ext cx="6667500" cy="857250"/>
          </a:xfrm>
          <a:prstGeom prst="rect">
            <a:avLst/>
          </a:prstGeom>
          <a:noFill/>
          <a:ln/>
        </p:spPr>
        <p:txBody>
          <a:bodyPr wrap="square" lIns="0" tIns="0" rIns="0" bIns="0" rtlCol="0" anchor="ctr"/>
          <a:lstStyle/>
          <a:p>
            <a:pPr marL="0" indent="0">
              <a:buNone/>
            </a:pPr>
            <a:r>
              <a:rPr lang="en-US" sz="4800" b="1" kern="0" spc="-200" dirty="0">
                <a:solidFill>
                  <a:srgbClr val="FFFFFF"/>
                </a:solidFill>
                <a:latin typeface="Malgun Gothic" pitchFamily="34" charset="0"/>
                <a:ea typeface="Malgun Gothic" pitchFamily="34" charset="-122"/>
                <a:cs typeface="Malgun Gothic" pitchFamily="34" charset="-120"/>
              </a:rPr>
              <a:t>감사합니다</a:t>
            </a:r>
            <a:endParaRPr lang="en-US" sz="4800" dirty="0"/>
          </a:p>
        </p:txBody>
      </p:sp>
      <p:sp>
        <p:nvSpPr>
          <p:cNvPr id="5" name="Text 3"/>
          <p:cNvSpPr txBox="1"/>
          <p:nvPr/>
        </p:nvSpPr>
        <p:spPr>
          <a:xfrm>
            <a:off x="609600" y="3333750"/>
            <a:ext cx="6667500" cy="323850"/>
          </a:xfrm>
          <a:prstGeom prst="rect">
            <a:avLst/>
          </a:prstGeom>
          <a:noFill/>
          <a:ln/>
        </p:spPr>
        <p:txBody>
          <a:bodyPr wrap="square" lIns="0" tIns="0" rIns="0" bIns="0" rtlCol="0" anchor="ctr"/>
          <a:lstStyle/>
          <a:p>
            <a:pPr marL="0" indent="0">
              <a:buNone/>
            </a:pPr>
            <a:r>
              <a:rPr lang="en-US" sz="1575" dirty="0">
                <a:solidFill>
                  <a:srgbClr val="A8AAB2"/>
                </a:solidFill>
                <a:latin typeface="Malgun Gothic" pitchFamily="34" charset="0"/>
                <a:ea typeface="Malgun Gothic" pitchFamily="34" charset="-122"/>
                <a:cs typeface="Malgun Gothic" pitchFamily="34" charset="-120"/>
              </a:rPr>
              <a:t>질문을 받겠습니다</a:t>
            </a:r>
            <a:endParaRPr lang="en-US" sz="1575" dirty="0"/>
          </a:p>
        </p:txBody>
      </p:sp>
      <p:sp>
        <p:nvSpPr>
          <p:cNvPr id="6" name="Shape 4"/>
          <p:cNvSpPr/>
          <p:nvPr/>
        </p:nvSpPr>
        <p:spPr>
          <a:xfrm>
            <a:off x="6667500" y="2514600"/>
            <a:ext cx="4914900" cy="3657600"/>
          </a:xfrm>
          <a:prstGeom prst="roundRect">
            <a:avLst>
              <a:gd name="adj" fmla="val 8333"/>
            </a:avLst>
          </a:prstGeom>
          <a:solidFill>
            <a:srgbClr val="FF5530"/>
          </a:solidFill>
          <a:ln/>
        </p:spPr>
        <p:txBody>
          <a:bodyPr/>
          <a:lstStyle/>
          <a:p>
            <a:endParaRPr lang="ko-KR" altLang="en-US"/>
          </a:p>
        </p:txBody>
      </p:sp>
      <p:sp>
        <p:nvSpPr>
          <p:cNvPr id="7" name="Text 5"/>
          <p:cNvSpPr txBox="1"/>
          <p:nvPr/>
        </p:nvSpPr>
        <p:spPr>
          <a:xfrm>
            <a:off x="7048500" y="3048000"/>
            <a:ext cx="4191000" cy="209550"/>
          </a:xfrm>
          <a:prstGeom prst="rect">
            <a:avLst/>
          </a:prstGeom>
          <a:noFill/>
          <a:ln/>
        </p:spPr>
        <p:txBody>
          <a:bodyPr wrap="square" lIns="0" tIns="0" rIns="0" bIns="0" rtlCol="0" anchor="ctr"/>
          <a:lstStyle/>
          <a:p>
            <a:pPr marL="0" indent="0">
              <a:buNone/>
            </a:pPr>
            <a:r>
              <a:rPr lang="en-US" sz="975" b="1" dirty="0">
                <a:solidFill>
                  <a:srgbClr val="FFD9CF"/>
                </a:solidFill>
                <a:latin typeface="Malgun Gothic" pitchFamily="34" charset="0"/>
                <a:ea typeface="Malgun Gothic" pitchFamily="34" charset="-122"/>
                <a:cs typeface="Malgun Gothic" pitchFamily="34" charset="-120"/>
              </a:rPr>
              <a:t>저장소</a:t>
            </a:r>
            <a:endParaRPr lang="en-US" sz="975" dirty="0"/>
          </a:p>
        </p:txBody>
      </p:sp>
      <p:sp>
        <p:nvSpPr>
          <p:cNvPr id="8" name="Text 6"/>
          <p:cNvSpPr txBox="1"/>
          <p:nvPr/>
        </p:nvSpPr>
        <p:spPr>
          <a:xfrm>
            <a:off x="7048500" y="3314700"/>
            <a:ext cx="4191000" cy="666750"/>
          </a:xfrm>
          <a:prstGeom prst="rect">
            <a:avLst/>
          </a:prstGeom>
          <a:noFill/>
          <a:ln/>
        </p:spPr>
        <p:txBody>
          <a:bodyPr wrap="square" lIns="0" tIns="0" rIns="0" bIns="0" rtlCol="0" anchor="t"/>
          <a:lstStyle/>
          <a:p>
            <a:pPr marL="0" indent="0">
              <a:lnSpc>
                <a:spcPct val="130000"/>
              </a:lnSpc>
              <a:buNone/>
            </a:pPr>
            <a:r>
              <a:rPr lang="en-US" sz="1575" b="1" dirty="0">
                <a:solidFill>
                  <a:srgbClr val="FFFFFF"/>
                </a:solidFill>
                <a:latin typeface="Malgun Gothic" pitchFamily="34" charset="0"/>
                <a:ea typeface="Malgun Gothic" pitchFamily="34" charset="-122"/>
                <a:cs typeface="Malgun Gothic" pitchFamily="34" charset="-120"/>
              </a:rPr>
              <a:t>github.com/larkrark</a:t>
            </a:r>
            <a:endParaRPr lang="en-US" sz="1575" dirty="0"/>
          </a:p>
          <a:p>
            <a:pPr marL="0" indent="0">
              <a:lnSpc>
                <a:spcPct val="130000"/>
              </a:lnSpc>
              <a:buNone/>
            </a:pPr>
            <a:r>
              <a:rPr lang="en-US" sz="1575" b="1" dirty="0">
                <a:solidFill>
                  <a:srgbClr val="FFFFFF"/>
                </a:solidFill>
                <a:latin typeface="Malgun Gothic" pitchFamily="34" charset="0"/>
                <a:ea typeface="Malgun Gothic" pitchFamily="34" charset="-122"/>
                <a:cs typeface="Malgun Gothic" pitchFamily="34" charset="-120"/>
              </a:rPr>
              <a:t>/AIQuant-3rd-project</a:t>
            </a:r>
            <a:endParaRPr lang="en-US" sz="1575" dirty="0"/>
          </a:p>
        </p:txBody>
      </p:sp>
      <p:sp>
        <p:nvSpPr>
          <p:cNvPr id="9" name="Shape 7"/>
          <p:cNvSpPr/>
          <p:nvPr/>
        </p:nvSpPr>
        <p:spPr>
          <a:xfrm>
            <a:off x="7048500" y="4210050"/>
            <a:ext cx="4191000" cy="9525"/>
          </a:xfrm>
          <a:prstGeom prst="rect">
            <a:avLst/>
          </a:prstGeom>
          <a:solidFill>
            <a:srgbClr val="FF7B5C"/>
          </a:solidFill>
          <a:ln/>
        </p:spPr>
        <p:txBody>
          <a:bodyPr/>
          <a:lstStyle/>
          <a:p>
            <a:endParaRPr lang="ko-KR" altLang="en-US"/>
          </a:p>
        </p:txBody>
      </p:sp>
      <p:sp>
        <p:nvSpPr>
          <p:cNvPr id="10" name="Text 8"/>
          <p:cNvSpPr txBox="1"/>
          <p:nvPr/>
        </p:nvSpPr>
        <p:spPr>
          <a:xfrm>
            <a:off x="7048500" y="4438650"/>
            <a:ext cx="4191000" cy="209550"/>
          </a:xfrm>
          <a:prstGeom prst="rect">
            <a:avLst/>
          </a:prstGeom>
          <a:noFill/>
          <a:ln/>
        </p:spPr>
        <p:txBody>
          <a:bodyPr wrap="square" lIns="0" tIns="0" rIns="0" bIns="0" rtlCol="0" anchor="ctr"/>
          <a:lstStyle/>
          <a:p>
            <a:pPr marL="0" indent="0">
              <a:buNone/>
            </a:pPr>
            <a:r>
              <a:rPr lang="en-US" sz="975" b="1" dirty="0">
                <a:solidFill>
                  <a:srgbClr val="FFD9CF"/>
                </a:solidFill>
                <a:latin typeface="Malgun Gothic" pitchFamily="34" charset="0"/>
                <a:ea typeface="Malgun Gothic" pitchFamily="34" charset="-122"/>
                <a:cs typeface="Malgun Gothic" pitchFamily="34" charset="-120"/>
              </a:rPr>
              <a:t>재현 방법</a:t>
            </a:r>
            <a:endParaRPr lang="en-US" sz="975" dirty="0"/>
          </a:p>
        </p:txBody>
      </p:sp>
      <p:sp>
        <p:nvSpPr>
          <p:cNvPr id="11" name="Text 9"/>
          <p:cNvSpPr txBox="1"/>
          <p:nvPr/>
        </p:nvSpPr>
        <p:spPr>
          <a:xfrm>
            <a:off x="7048500" y="4705350"/>
            <a:ext cx="4191000" cy="285750"/>
          </a:xfrm>
          <a:prstGeom prst="rect">
            <a:avLst/>
          </a:prstGeom>
          <a:noFill/>
          <a:ln/>
        </p:spPr>
        <p:txBody>
          <a:bodyPr wrap="square" lIns="0" tIns="0" rIns="0" bIns="0" rtlCol="0" anchor="ctr"/>
          <a:lstStyle/>
          <a:p>
            <a:pPr marL="0" indent="0">
              <a:buNone/>
            </a:pPr>
            <a:r>
              <a:rPr lang="en-US" sz="1275" b="1" dirty="0">
                <a:solidFill>
                  <a:srgbClr val="FFFFFF"/>
                </a:solidFill>
                <a:latin typeface="Malgun Gothic" pitchFamily="34" charset="0"/>
                <a:ea typeface="Malgun Gothic" pitchFamily="34" charset="-122"/>
                <a:cs typeface="Malgun Gothic" pitchFamily="34" charset="-120"/>
              </a:rPr>
              <a:t>06_코드/backtest_long/README.md</a:t>
            </a:r>
            <a:endParaRPr lang="en-US" sz="1275" dirty="0"/>
          </a:p>
        </p:txBody>
      </p:sp>
      <p:sp>
        <p:nvSpPr>
          <p:cNvPr id="12" name="Text 10"/>
          <p:cNvSpPr txBox="1"/>
          <p:nvPr/>
        </p:nvSpPr>
        <p:spPr>
          <a:xfrm>
            <a:off x="609600" y="5715000"/>
            <a:ext cx="5334000" cy="228600"/>
          </a:xfrm>
          <a:prstGeom prst="rect">
            <a:avLst/>
          </a:prstGeom>
          <a:noFill/>
          <a:ln/>
        </p:spPr>
        <p:txBody>
          <a:bodyPr wrap="square" lIns="0" tIns="0" rIns="0" bIns="0" rtlCol="0" anchor="ctr"/>
          <a:lstStyle/>
          <a:p>
            <a:pPr marL="0" indent="0">
              <a:buNone/>
            </a:pPr>
            <a:r>
              <a:rPr lang="en-US" sz="1125" dirty="0">
                <a:solidFill>
                  <a:srgbClr val="A8AAB2"/>
                </a:solidFill>
                <a:latin typeface="Malgun Gothic" pitchFamily="34" charset="0"/>
                <a:ea typeface="Malgun Gothic" pitchFamily="34" charset="-122"/>
                <a:cs typeface="Malgun Gothic" pitchFamily="34" charset="-120"/>
              </a:rPr>
              <a:t>김근형 · 추주원 · 권보성 · 김민호</a:t>
            </a:r>
            <a:endParaRPr lang="en-US" sz="1125" dirty="0"/>
          </a:p>
        </p:txBody>
      </p:sp>
      <p:sp>
        <p:nvSpPr>
          <p:cNvPr id="13" name="Text 11"/>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6B6B6B"/>
                </a:solidFill>
                <a:latin typeface="Malgun Gothic" pitchFamily="34" charset="0"/>
                <a:ea typeface="Malgun Gothic" pitchFamily="34" charset="-122"/>
                <a:cs typeface="Malgun Gothic" pitchFamily="34" charset="-120"/>
              </a:rPr>
              <a:t>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검증 체계 — 같은 값에 네 갈래로</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qa/ 는 engine/ 을 import 하지 않습니다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A1</a:t>
            </a:r>
            <a:endParaRPr lang="en-US" sz="900" dirty="0"/>
          </a:p>
        </p:txBody>
      </p:sp>
      <p:sp>
        <p:nvSpPr>
          <p:cNvPr id="9" name="Shape 7"/>
          <p:cNvSpPr/>
          <p:nvPr/>
        </p:nvSpPr>
        <p:spPr>
          <a:xfrm>
            <a:off x="609600" y="2590800"/>
            <a:ext cx="2600325" cy="1809750"/>
          </a:xfrm>
          <a:prstGeom prst="roundRect">
            <a:avLst>
              <a:gd name="adj" fmla="val 8421"/>
            </a:avLst>
          </a:prstGeom>
          <a:solidFill>
            <a:srgbClr val="F7F8FA"/>
          </a:solidFill>
          <a:ln/>
        </p:spPr>
        <p:txBody>
          <a:bodyPr/>
          <a:lstStyle/>
          <a:p>
            <a:endParaRPr lang="ko-KR" altLang="en-US"/>
          </a:p>
        </p:txBody>
      </p:sp>
      <p:sp>
        <p:nvSpPr>
          <p:cNvPr id="10" name="Text 8"/>
          <p:cNvSpPr txBox="1"/>
          <p:nvPr/>
        </p:nvSpPr>
        <p:spPr>
          <a:xfrm>
            <a:off x="800100" y="281940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엔진</a:t>
            </a:r>
            <a:endParaRPr lang="en-US" sz="1425" dirty="0"/>
          </a:p>
        </p:txBody>
      </p:sp>
      <p:sp>
        <p:nvSpPr>
          <p:cNvPr id="11" name="Text 9"/>
          <p:cNvSpPr txBox="1"/>
          <p:nvPr/>
        </p:nvSpPr>
        <p:spPr>
          <a:xfrm>
            <a:off x="800100" y="3143250"/>
            <a:ext cx="2219325" cy="4762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팀 구현</a:t>
            </a:r>
            <a:endParaRPr lang="en-US" sz="1050" dirty="0"/>
          </a:p>
        </p:txBody>
      </p:sp>
      <p:sp>
        <p:nvSpPr>
          <p:cNvPr id="12" name="Text 10"/>
          <p:cNvSpPr txBox="1"/>
          <p:nvPr/>
        </p:nvSpPr>
        <p:spPr>
          <a:xfrm>
            <a:off x="800100" y="3695700"/>
            <a:ext cx="2219325" cy="171450"/>
          </a:xfrm>
          <a:prstGeom prst="rect">
            <a:avLst/>
          </a:prstGeom>
          <a:noFill/>
          <a:ln/>
        </p:spPr>
        <p:txBody>
          <a:bodyPr wrap="square" lIns="0" tIns="0" rIns="0" bIns="0" rtlCol="0" anchor="ctr"/>
          <a:lstStyle/>
          <a:p>
            <a:pPr marL="0" indent="0">
              <a:buNone/>
            </a:pPr>
            <a:r>
              <a:rPr lang="en-US" sz="900" dirty="0">
                <a:solidFill>
                  <a:srgbClr val="8E8E93"/>
                </a:solidFill>
                <a:latin typeface="Malgun Gothic" pitchFamily="34" charset="0"/>
                <a:ea typeface="Malgun Gothic" pitchFamily="34" charset="-122"/>
                <a:cs typeface="Malgun Gothic" pitchFamily="34" charset="-120"/>
              </a:rPr>
              <a:t>상대오차</a:t>
            </a:r>
            <a:endParaRPr lang="en-US" sz="900" dirty="0"/>
          </a:p>
        </p:txBody>
      </p:sp>
      <p:sp>
        <p:nvSpPr>
          <p:cNvPr id="13" name="Text 11"/>
          <p:cNvSpPr txBox="1"/>
          <p:nvPr/>
        </p:nvSpPr>
        <p:spPr>
          <a:xfrm>
            <a:off x="800100" y="3886200"/>
            <a:ext cx="2219325" cy="323850"/>
          </a:xfrm>
          <a:prstGeom prst="rect">
            <a:avLst/>
          </a:prstGeom>
          <a:noFill/>
          <a:ln/>
        </p:spPr>
        <p:txBody>
          <a:bodyPr wrap="square" lIns="0" tIns="0" rIns="0" bIns="0" rtlCol="0" anchor="ctr"/>
          <a:lstStyle/>
          <a:p>
            <a:pPr marL="0" indent="0">
              <a:buNone/>
            </a:pPr>
            <a:r>
              <a:rPr lang="en-US" sz="1500" b="1" dirty="0">
                <a:solidFill>
                  <a:srgbClr val="5F5F5F"/>
                </a:solidFill>
                <a:latin typeface="Malgun Gothic" pitchFamily="34" charset="0"/>
                <a:ea typeface="Malgun Gothic" pitchFamily="34" charset="-122"/>
                <a:cs typeface="Malgun Gothic" pitchFamily="34" charset="-120"/>
              </a:rPr>
              <a:t>기준값</a:t>
            </a:r>
            <a:endParaRPr lang="en-US" sz="1500" dirty="0"/>
          </a:p>
        </p:txBody>
      </p:sp>
      <p:sp>
        <p:nvSpPr>
          <p:cNvPr id="14" name="Shape 12"/>
          <p:cNvSpPr/>
          <p:nvPr/>
        </p:nvSpPr>
        <p:spPr>
          <a:xfrm>
            <a:off x="3400425" y="2590800"/>
            <a:ext cx="2600325" cy="1809750"/>
          </a:xfrm>
          <a:prstGeom prst="roundRect">
            <a:avLst>
              <a:gd name="adj" fmla="val 8421"/>
            </a:avLst>
          </a:prstGeom>
          <a:solidFill>
            <a:srgbClr val="FFFFFF"/>
          </a:solidFill>
          <a:ln w="12700">
            <a:solidFill>
              <a:srgbClr val="E5E7EB"/>
            </a:solidFill>
            <a:prstDash val="solid"/>
          </a:ln>
        </p:spPr>
        <p:txBody>
          <a:bodyPr/>
          <a:lstStyle/>
          <a:p>
            <a:endParaRPr lang="ko-KR" altLang="en-US"/>
          </a:p>
        </p:txBody>
      </p:sp>
      <p:sp>
        <p:nvSpPr>
          <p:cNvPr id="15" name="Text 13"/>
          <p:cNvSpPr txBox="1"/>
          <p:nvPr/>
        </p:nvSpPr>
        <p:spPr>
          <a:xfrm>
            <a:off x="3590925" y="281940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독립 재산출</a:t>
            </a:r>
            <a:endParaRPr lang="en-US" sz="1425" dirty="0"/>
          </a:p>
        </p:txBody>
      </p:sp>
      <p:sp>
        <p:nvSpPr>
          <p:cNvPr id="16" name="Text 14"/>
          <p:cNvSpPr txBox="1"/>
          <p:nvPr/>
        </p:nvSpPr>
        <p:spPr>
          <a:xfrm>
            <a:off x="3590925" y="3143250"/>
            <a:ext cx="2219325" cy="4762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규칙 문서만 보고 별도 구현</a:t>
            </a:r>
            <a:endParaRPr lang="en-US" sz="1050" dirty="0"/>
          </a:p>
        </p:txBody>
      </p:sp>
      <p:sp>
        <p:nvSpPr>
          <p:cNvPr id="17" name="Text 15"/>
          <p:cNvSpPr txBox="1"/>
          <p:nvPr/>
        </p:nvSpPr>
        <p:spPr>
          <a:xfrm>
            <a:off x="3590925" y="3695700"/>
            <a:ext cx="2219325" cy="171450"/>
          </a:xfrm>
          <a:prstGeom prst="rect">
            <a:avLst/>
          </a:prstGeom>
          <a:noFill/>
          <a:ln/>
        </p:spPr>
        <p:txBody>
          <a:bodyPr wrap="square" lIns="0" tIns="0" rIns="0" bIns="0" rtlCol="0" anchor="ctr"/>
          <a:lstStyle/>
          <a:p>
            <a:pPr marL="0" indent="0">
              <a:buNone/>
            </a:pPr>
            <a:r>
              <a:rPr lang="en-US" sz="900" dirty="0">
                <a:solidFill>
                  <a:srgbClr val="8E8E93"/>
                </a:solidFill>
                <a:latin typeface="Malgun Gothic" pitchFamily="34" charset="0"/>
                <a:ea typeface="Malgun Gothic" pitchFamily="34" charset="-122"/>
                <a:cs typeface="Malgun Gothic" pitchFamily="34" charset="-120"/>
              </a:rPr>
              <a:t>상대오차</a:t>
            </a:r>
            <a:endParaRPr lang="en-US" sz="900" dirty="0"/>
          </a:p>
        </p:txBody>
      </p:sp>
      <p:sp>
        <p:nvSpPr>
          <p:cNvPr id="18" name="Text 16"/>
          <p:cNvSpPr txBox="1"/>
          <p:nvPr/>
        </p:nvSpPr>
        <p:spPr>
          <a:xfrm>
            <a:off x="3590925" y="3886200"/>
            <a:ext cx="2219325" cy="323850"/>
          </a:xfrm>
          <a:prstGeom prst="rect">
            <a:avLst/>
          </a:prstGeom>
          <a:noFill/>
          <a:ln/>
        </p:spPr>
        <p:txBody>
          <a:bodyPr wrap="square" lIns="0" tIns="0" rIns="0" bIns="0" rtlCol="0" anchor="ctr"/>
          <a:lstStyle/>
          <a:p>
            <a:pPr marL="0" indent="0">
              <a:buNone/>
            </a:pPr>
            <a:r>
              <a:rPr lang="en-US" sz="1500" b="1" dirty="0">
                <a:solidFill>
                  <a:srgbClr val="1BA673"/>
                </a:solidFill>
                <a:latin typeface="Malgun Gothic" pitchFamily="34" charset="0"/>
                <a:ea typeface="Malgun Gothic" pitchFamily="34" charset="-122"/>
                <a:cs typeface="Malgun Gothic" pitchFamily="34" charset="-120"/>
              </a:rPr>
              <a:t>1.056e-15</a:t>
            </a:r>
            <a:endParaRPr lang="en-US" sz="1500" dirty="0"/>
          </a:p>
        </p:txBody>
      </p:sp>
      <p:sp>
        <p:nvSpPr>
          <p:cNvPr id="19" name="Shape 17"/>
          <p:cNvSpPr/>
          <p:nvPr/>
        </p:nvSpPr>
        <p:spPr>
          <a:xfrm>
            <a:off x="6191250" y="2590800"/>
            <a:ext cx="2600325" cy="1809750"/>
          </a:xfrm>
          <a:prstGeom prst="roundRect">
            <a:avLst>
              <a:gd name="adj" fmla="val 8421"/>
            </a:avLst>
          </a:prstGeom>
          <a:solidFill>
            <a:srgbClr val="FFFFFF"/>
          </a:solidFill>
          <a:ln w="12700">
            <a:solidFill>
              <a:srgbClr val="E5E7EB"/>
            </a:solidFill>
            <a:prstDash val="solid"/>
          </a:ln>
        </p:spPr>
        <p:txBody>
          <a:bodyPr/>
          <a:lstStyle/>
          <a:p>
            <a:endParaRPr lang="ko-KR" altLang="en-US"/>
          </a:p>
        </p:txBody>
      </p:sp>
      <p:sp>
        <p:nvSpPr>
          <p:cNvPr id="20" name="Text 18"/>
          <p:cNvSpPr txBox="1"/>
          <p:nvPr/>
        </p:nvSpPr>
        <p:spPr>
          <a:xfrm>
            <a:off x="6381750" y="281940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수기 검산</a:t>
            </a:r>
            <a:endParaRPr lang="en-US" sz="1425" dirty="0"/>
          </a:p>
        </p:txBody>
      </p:sp>
      <p:sp>
        <p:nvSpPr>
          <p:cNvPr id="21" name="Text 19"/>
          <p:cNvSpPr txBox="1"/>
          <p:nvPr/>
        </p:nvSpPr>
        <p:spPr>
          <a:xfrm>
            <a:off x="6381750" y="3143250"/>
            <a:ext cx="2219325" cy="4762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엑셀 수식과 사람 손</a:t>
            </a:r>
            <a:endParaRPr lang="en-US" sz="1050" dirty="0"/>
          </a:p>
        </p:txBody>
      </p:sp>
      <p:sp>
        <p:nvSpPr>
          <p:cNvPr id="22" name="Text 20"/>
          <p:cNvSpPr txBox="1"/>
          <p:nvPr/>
        </p:nvSpPr>
        <p:spPr>
          <a:xfrm>
            <a:off x="6381750" y="3695700"/>
            <a:ext cx="2219325" cy="171450"/>
          </a:xfrm>
          <a:prstGeom prst="rect">
            <a:avLst/>
          </a:prstGeom>
          <a:noFill/>
          <a:ln/>
        </p:spPr>
        <p:txBody>
          <a:bodyPr wrap="square" lIns="0" tIns="0" rIns="0" bIns="0" rtlCol="0" anchor="ctr"/>
          <a:lstStyle/>
          <a:p>
            <a:pPr marL="0" indent="0">
              <a:buNone/>
            </a:pPr>
            <a:r>
              <a:rPr lang="en-US" sz="900" dirty="0">
                <a:solidFill>
                  <a:srgbClr val="8E8E93"/>
                </a:solidFill>
                <a:latin typeface="Malgun Gothic" pitchFamily="34" charset="0"/>
                <a:ea typeface="Malgun Gothic" pitchFamily="34" charset="-122"/>
                <a:cs typeface="Malgun Gothic" pitchFamily="34" charset="-120"/>
              </a:rPr>
              <a:t>상대오차</a:t>
            </a:r>
            <a:endParaRPr lang="en-US" sz="900" dirty="0"/>
          </a:p>
        </p:txBody>
      </p:sp>
      <p:sp>
        <p:nvSpPr>
          <p:cNvPr id="23" name="Text 21"/>
          <p:cNvSpPr txBox="1"/>
          <p:nvPr/>
        </p:nvSpPr>
        <p:spPr>
          <a:xfrm>
            <a:off x="6381750" y="3886200"/>
            <a:ext cx="2219325" cy="323850"/>
          </a:xfrm>
          <a:prstGeom prst="rect">
            <a:avLst/>
          </a:prstGeom>
          <a:noFill/>
          <a:ln/>
        </p:spPr>
        <p:txBody>
          <a:bodyPr wrap="square" lIns="0" tIns="0" rIns="0" bIns="0" rtlCol="0" anchor="ctr"/>
          <a:lstStyle/>
          <a:p>
            <a:pPr marL="0" indent="0">
              <a:buNone/>
            </a:pPr>
            <a:r>
              <a:rPr lang="en-US" sz="1500" b="1" dirty="0">
                <a:solidFill>
                  <a:srgbClr val="1BA673"/>
                </a:solidFill>
                <a:latin typeface="Malgun Gothic" pitchFamily="34" charset="0"/>
                <a:ea typeface="Malgun Gothic" pitchFamily="34" charset="-122"/>
                <a:cs typeface="Malgun Gothic" pitchFamily="34" charset="-120"/>
              </a:rPr>
              <a:t>12/12 일치</a:t>
            </a:r>
            <a:endParaRPr lang="en-US" sz="1500" dirty="0"/>
          </a:p>
        </p:txBody>
      </p:sp>
      <p:sp>
        <p:nvSpPr>
          <p:cNvPr id="24" name="Shape 22"/>
          <p:cNvSpPr/>
          <p:nvPr/>
        </p:nvSpPr>
        <p:spPr>
          <a:xfrm>
            <a:off x="8982075" y="2590800"/>
            <a:ext cx="2600325" cy="1809750"/>
          </a:xfrm>
          <a:prstGeom prst="roundRect">
            <a:avLst>
              <a:gd name="adj" fmla="val 8421"/>
            </a:avLst>
          </a:prstGeom>
          <a:solidFill>
            <a:srgbClr val="FFFFFF"/>
          </a:solidFill>
          <a:ln w="12700">
            <a:solidFill>
              <a:srgbClr val="E5E7EB"/>
            </a:solidFill>
            <a:prstDash val="solid"/>
          </a:ln>
        </p:spPr>
        <p:txBody>
          <a:bodyPr/>
          <a:lstStyle/>
          <a:p>
            <a:endParaRPr lang="ko-KR" altLang="en-US"/>
          </a:p>
        </p:txBody>
      </p:sp>
      <p:sp>
        <p:nvSpPr>
          <p:cNvPr id="25" name="Text 23"/>
          <p:cNvSpPr txBox="1"/>
          <p:nvPr/>
        </p:nvSpPr>
        <p:spPr>
          <a:xfrm>
            <a:off x="9172575" y="2819400"/>
            <a:ext cx="2219325" cy="2667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교차구현 v5.2</a:t>
            </a:r>
            <a:endParaRPr lang="en-US" sz="1425" dirty="0"/>
          </a:p>
        </p:txBody>
      </p:sp>
      <p:sp>
        <p:nvSpPr>
          <p:cNvPr id="26" name="Text 24"/>
          <p:cNvSpPr txBox="1"/>
          <p:nvPr/>
        </p:nvSpPr>
        <p:spPr>
          <a:xfrm>
            <a:off x="9172575" y="3143250"/>
            <a:ext cx="2219325" cy="476250"/>
          </a:xfrm>
          <a:prstGeom prst="rect">
            <a:avLst/>
          </a:prstGeom>
          <a:noFill/>
          <a:ln/>
        </p:spPr>
        <p:txBody>
          <a:bodyPr wrap="square" lIns="0" tIns="0" rIns="0" bIns="0" rtlCol="0" anchor="t"/>
          <a:lstStyle/>
          <a:p>
            <a:pPr marL="0" indent="0">
              <a:lnSpc>
                <a:spcPct val="135000"/>
              </a:lnSpc>
              <a:buNone/>
            </a:pPr>
            <a:r>
              <a:rPr lang="en-US" sz="1050" dirty="0">
                <a:solidFill>
                  <a:srgbClr val="45515E"/>
                </a:solidFill>
                <a:latin typeface="Malgun Gothic" pitchFamily="34" charset="0"/>
                <a:ea typeface="Malgun Gothic" pitchFamily="34" charset="-122"/>
                <a:cs typeface="Malgun Gothic" pitchFamily="34" charset="-120"/>
              </a:rPr>
              <a:t>제3자 별도 구현</a:t>
            </a:r>
            <a:endParaRPr lang="en-US" sz="1050" dirty="0"/>
          </a:p>
        </p:txBody>
      </p:sp>
      <p:sp>
        <p:nvSpPr>
          <p:cNvPr id="27" name="Text 25"/>
          <p:cNvSpPr txBox="1"/>
          <p:nvPr/>
        </p:nvSpPr>
        <p:spPr>
          <a:xfrm>
            <a:off x="9172575" y="3695700"/>
            <a:ext cx="2219325" cy="171450"/>
          </a:xfrm>
          <a:prstGeom prst="rect">
            <a:avLst/>
          </a:prstGeom>
          <a:noFill/>
          <a:ln/>
        </p:spPr>
        <p:txBody>
          <a:bodyPr wrap="square" lIns="0" tIns="0" rIns="0" bIns="0" rtlCol="0" anchor="ctr"/>
          <a:lstStyle/>
          <a:p>
            <a:pPr marL="0" indent="0">
              <a:buNone/>
            </a:pPr>
            <a:r>
              <a:rPr lang="en-US" sz="900" dirty="0">
                <a:solidFill>
                  <a:srgbClr val="8E8E93"/>
                </a:solidFill>
                <a:latin typeface="Malgun Gothic" pitchFamily="34" charset="0"/>
                <a:ea typeface="Malgun Gothic" pitchFamily="34" charset="-122"/>
                <a:cs typeface="Malgun Gothic" pitchFamily="34" charset="-120"/>
              </a:rPr>
              <a:t>상대오차</a:t>
            </a:r>
            <a:endParaRPr lang="en-US" sz="900" dirty="0"/>
          </a:p>
        </p:txBody>
      </p:sp>
      <p:sp>
        <p:nvSpPr>
          <p:cNvPr id="28" name="Text 26"/>
          <p:cNvSpPr txBox="1"/>
          <p:nvPr/>
        </p:nvSpPr>
        <p:spPr>
          <a:xfrm>
            <a:off x="9172575" y="3886200"/>
            <a:ext cx="2219325" cy="323850"/>
          </a:xfrm>
          <a:prstGeom prst="rect">
            <a:avLst/>
          </a:prstGeom>
          <a:noFill/>
          <a:ln/>
        </p:spPr>
        <p:txBody>
          <a:bodyPr wrap="square" lIns="0" tIns="0" rIns="0" bIns="0" rtlCol="0" anchor="ctr"/>
          <a:lstStyle/>
          <a:p>
            <a:pPr marL="0" indent="0">
              <a:buNone/>
            </a:pPr>
            <a:r>
              <a:rPr lang="en-US" sz="1500" b="1" dirty="0">
                <a:solidFill>
                  <a:srgbClr val="1BA673"/>
                </a:solidFill>
                <a:latin typeface="Malgun Gothic" pitchFamily="34" charset="0"/>
                <a:ea typeface="Malgun Gothic" pitchFamily="34" charset="-122"/>
                <a:cs typeface="Malgun Gothic" pitchFamily="34" charset="-120"/>
              </a:rPr>
              <a:t>1.877e-16</a:t>
            </a:r>
            <a:endParaRPr lang="en-US" sz="1500" dirty="0"/>
          </a:p>
        </p:txBody>
      </p:sp>
      <p:sp>
        <p:nvSpPr>
          <p:cNvPr id="29" name="Shape 27"/>
          <p:cNvSpPr/>
          <p:nvPr/>
        </p:nvSpPr>
        <p:spPr>
          <a:xfrm>
            <a:off x="609600" y="4629150"/>
            <a:ext cx="10972800" cy="666750"/>
          </a:xfrm>
          <a:prstGeom prst="roundRect">
            <a:avLst>
              <a:gd name="adj" fmla="val 17143"/>
            </a:avLst>
          </a:prstGeom>
          <a:solidFill>
            <a:srgbClr val="0A0A0A"/>
          </a:solidFill>
          <a:ln/>
        </p:spPr>
        <p:txBody>
          <a:bodyPr/>
          <a:lstStyle/>
          <a:p>
            <a:endParaRPr lang="ko-KR" altLang="en-US"/>
          </a:p>
        </p:txBody>
      </p:sp>
      <p:sp>
        <p:nvSpPr>
          <p:cNvPr id="30" name="Text 28"/>
          <p:cNvSpPr txBox="1"/>
          <p:nvPr/>
        </p:nvSpPr>
        <p:spPr>
          <a:xfrm>
            <a:off x="838200" y="4629150"/>
            <a:ext cx="10515600" cy="666750"/>
          </a:xfrm>
          <a:prstGeom prst="rect">
            <a:avLst/>
          </a:prstGeom>
          <a:noFill/>
          <a:ln/>
        </p:spPr>
        <p:txBody>
          <a:bodyPr wrap="square" lIns="0" tIns="0" rIns="0" bIns="0" rtlCol="0" anchor="ctr"/>
          <a:lstStyle/>
          <a:p>
            <a:pPr marL="0" indent="0" algn="l">
              <a:lnSpc>
                <a:spcPct val="130000"/>
              </a:lnSpc>
              <a:buNone/>
            </a:pPr>
            <a:r>
              <a:rPr lang="en-US" sz="1350" b="1" dirty="0">
                <a:solidFill>
                  <a:srgbClr val="FFFFFF"/>
                </a:solidFill>
                <a:latin typeface="Malgun Gothic" pitchFamily="34" charset="0"/>
                <a:ea typeface="Malgun Gothic" pitchFamily="34" charset="-122"/>
                <a:cs typeface="Malgun Gothic" pitchFamily="34" charset="-120"/>
              </a:rPr>
              <a:t>qa/ 는 engine/ 을 import 하지 않습니다 — 같은 버그를 함께 물려받지 않기 위해서입니다</a:t>
            </a:r>
            <a:endParaRPr lang="en-US" sz="1350" dirty="0"/>
          </a:p>
        </p:txBody>
      </p:sp>
      <p:sp>
        <p:nvSpPr>
          <p:cNvPr id="31" name="Shape 29"/>
          <p:cNvSpPr/>
          <p:nvPr/>
        </p:nvSpPr>
        <p:spPr>
          <a:xfrm>
            <a:off x="609600" y="5467350"/>
            <a:ext cx="10972800" cy="552450"/>
          </a:xfrm>
          <a:prstGeom prst="roundRect">
            <a:avLst>
              <a:gd name="adj" fmla="val 27586"/>
            </a:avLst>
          </a:prstGeom>
          <a:solidFill>
            <a:srgbClr val="F7F8FA"/>
          </a:solidFill>
          <a:ln/>
        </p:spPr>
        <p:txBody>
          <a:bodyPr/>
          <a:lstStyle/>
          <a:p>
            <a:endParaRPr lang="ko-KR" altLang="en-US"/>
          </a:p>
        </p:txBody>
      </p:sp>
      <p:sp>
        <p:nvSpPr>
          <p:cNvPr id="32" name="Text 30"/>
          <p:cNvSpPr txBox="1"/>
          <p:nvPr/>
        </p:nvSpPr>
        <p:spPr>
          <a:xfrm>
            <a:off x="800100" y="5657850"/>
            <a:ext cx="10591800" cy="209550"/>
          </a:xfrm>
          <a:prstGeom prst="rect">
            <a:avLst/>
          </a:prstGeom>
          <a:noFill/>
          <a:ln/>
        </p:spPr>
        <p:txBody>
          <a:bodyPr wrap="square" lIns="0" tIns="0" rIns="0" bIns="0" rtlCol="0" anchor="t"/>
          <a:lstStyle/>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네 경로가 1e-15 수준에서 일치합니다. 이 일치는 종목 선택편향과 무관한 성질입니다.</a:t>
            </a:r>
            <a:endParaRPr lang="en-US" sz="11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수기 검산 (J-5)</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엑셀 수식과 사람 손으로 원자료에서 직접 계산했습니다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A2</a:t>
            </a:r>
            <a:endParaRPr lang="en-US" sz="900" dirty="0"/>
          </a:p>
        </p:txBody>
      </p:sp>
      <p:sp>
        <p:nvSpPr>
          <p:cNvPr id="9" name="Shape 7"/>
          <p:cNvSpPr/>
          <p:nvPr/>
        </p:nvSpPr>
        <p:spPr>
          <a:xfrm>
            <a:off x="609600" y="2590800"/>
            <a:ext cx="5372100" cy="1143000"/>
          </a:xfrm>
          <a:prstGeom prst="roundRect">
            <a:avLst>
              <a:gd name="adj" fmla="val 13333"/>
            </a:avLst>
          </a:prstGeom>
          <a:solidFill>
            <a:srgbClr val="F7F8FA"/>
          </a:solidFill>
          <a:ln w="12700">
            <a:solidFill>
              <a:srgbClr val="E5E7EB"/>
            </a:solidFill>
            <a:prstDash val="solid"/>
          </a:ln>
        </p:spPr>
        <p:txBody>
          <a:bodyPr/>
          <a:lstStyle/>
          <a:p>
            <a:endParaRPr lang="ko-KR" altLang="en-US"/>
          </a:p>
        </p:txBody>
      </p:sp>
      <p:sp>
        <p:nvSpPr>
          <p:cNvPr id="10" name="Text 8"/>
          <p:cNvSpPr txBox="1"/>
          <p:nvPr/>
        </p:nvSpPr>
        <p:spPr>
          <a:xfrm>
            <a:off x="800100" y="2743200"/>
            <a:ext cx="49911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대조 항목</a:t>
            </a:r>
            <a:endParaRPr lang="en-US" sz="975" dirty="0"/>
          </a:p>
        </p:txBody>
      </p:sp>
      <p:sp>
        <p:nvSpPr>
          <p:cNvPr id="11" name="Text 9"/>
          <p:cNvSpPr txBox="1"/>
          <p:nvPr/>
        </p:nvSpPr>
        <p:spPr>
          <a:xfrm>
            <a:off x="800100" y="2933700"/>
            <a:ext cx="4991100" cy="361950"/>
          </a:xfrm>
          <a:prstGeom prst="rect">
            <a:avLst/>
          </a:prstGeom>
          <a:noFill/>
          <a:ln/>
        </p:spPr>
        <p:txBody>
          <a:bodyPr wrap="square" lIns="0" tIns="0" rIns="0" bIns="0" rtlCol="0" anchor="ctr"/>
          <a:lstStyle/>
          <a:p>
            <a:pPr marL="0" indent="0">
              <a:buNone/>
            </a:pPr>
            <a:r>
              <a:rPr lang="en-US" sz="2250" b="1" kern="0" spc="-80" dirty="0">
                <a:solidFill>
                  <a:srgbClr val="1BA673"/>
                </a:solidFill>
                <a:latin typeface="Malgun Gothic" pitchFamily="34" charset="0"/>
                <a:ea typeface="Malgun Gothic" pitchFamily="34" charset="-122"/>
                <a:cs typeface="Malgun Gothic" pitchFamily="34" charset="-120"/>
              </a:rPr>
              <a:t>12 / 12 일치</a:t>
            </a:r>
            <a:endParaRPr lang="en-US" sz="2250" dirty="0"/>
          </a:p>
        </p:txBody>
      </p:sp>
      <p:sp>
        <p:nvSpPr>
          <p:cNvPr id="12" name="Text 10"/>
          <p:cNvSpPr txBox="1"/>
          <p:nvPr/>
        </p:nvSpPr>
        <p:spPr>
          <a:xfrm>
            <a:off x="800100" y="3276600"/>
            <a:ext cx="4991100" cy="4000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구성종목 · 비중 · 지수값</a:t>
            </a:r>
            <a:endParaRPr lang="en-US" sz="975" dirty="0"/>
          </a:p>
        </p:txBody>
      </p:sp>
      <p:sp>
        <p:nvSpPr>
          <p:cNvPr id="13" name="Shape 11"/>
          <p:cNvSpPr/>
          <p:nvPr/>
        </p:nvSpPr>
        <p:spPr>
          <a:xfrm>
            <a:off x="6210300" y="2590800"/>
            <a:ext cx="5372100" cy="1143000"/>
          </a:xfrm>
          <a:prstGeom prst="roundRect">
            <a:avLst>
              <a:gd name="adj" fmla="val 13333"/>
            </a:avLst>
          </a:prstGeom>
          <a:solidFill>
            <a:srgbClr val="F7F8FA"/>
          </a:solidFill>
          <a:ln w="12700">
            <a:solidFill>
              <a:srgbClr val="E5E7EB"/>
            </a:solidFill>
            <a:prstDash val="solid"/>
          </a:ln>
        </p:spPr>
        <p:txBody>
          <a:bodyPr/>
          <a:lstStyle/>
          <a:p>
            <a:endParaRPr lang="ko-KR" altLang="en-US"/>
          </a:p>
        </p:txBody>
      </p:sp>
      <p:sp>
        <p:nvSpPr>
          <p:cNvPr id="14" name="Text 12"/>
          <p:cNvSpPr txBox="1"/>
          <p:nvPr/>
        </p:nvSpPr>
        <p:spPr>
          <a:xfrm>
            <a:off x="6400800" y="2743200"/>
            <a:ext cx="49911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최대 오차</a:t>
            </a:r>
            <a:endParaRPr lang="en-US" sz="975" dirty="0"/>
          </a:p>
        </p:txBody>
      </p:sp>
      <p:sp>
        <p:nvSpPr>
          <p:cNvPr id="15" name="Text 13"/>
          <p:cNvSpPr txBox="1"/>
          <p:nvPr/>
        </p:nvSpPr>
        <p:spPr>
          <a:xfrm>
            <a:off x="6400800" y="2933700"/>
            <a:ext cx="49911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2.274e-13</a:t>
            </a:r>
            <a:endParaRPr lang="en-US" sz="2250" dirty="0"/>
          </a:p>
        </p:txBody>
      </p:sp>
      <p:sp>
        <p:nvSpPr>
          <p:cNvPr id="16" name="Text 14"/>
          <p:cNvSpPr txBox="1"/>
          <p:nvPr/>
        </p:nvSpPr>
        <p:spPr>
          <a:xfrm>
            <a:off x="6400800" y="3276600"/>
            <a:ext cx="4991100" cy="40005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허용 1e-6 대비 7자리 여유</a:t>
            </a:r>
            <a:endParaRPr lang="en-US" sz="975" dirty="0"/>
          </a:p>
        </p:txBody>
      </p:sp>
      <p:sp>
        <p:nvSpPr>
          <p:cNvPr id="17" name="Shape 15"/>
          <p:cNvSpPr/>
          <p:nvPr/>
        </p:nvSpPr>
        <p:spPr>
          <a:xfrm>
            <a:off x="609600" y="3962400"/>
            <a:ext cx="5372100" cy="1047750"/>
          </a:xfrm>
          <a:prstGeom prst="roundRect">
            <a:avLst>
              <a:gd name="adj" fmla="val 14545"/>
            </a:avLst>
          </a:prstGeom>
          <a:solidFill>
            <a:srgbClr val="FFFFFF"/>
          </a:solidFill>
          <a:ln w="12700">
            <a:solidFill>
              <a:srgbClr val="E5E7EB"/>
            </a:solidFill>
            <a:prstDash val="solid"/>
          </a:ln>
        </p:spPr>
        <p:txBody>
          <a:bodyPr/>
          <a:lstStyle/>
          <a:p>
            <a:endParaRPr lang="ko-KR" altLang="en-US"/>
          </a:p>
        </p:txBody>
      </p:sp>
      <p:sp>
        <p:nvSpPr>
          <p:cNvPr id="18" name="Text 16"/>
          <p:cNvSpPr txBox="1"/>
          <p:nvPr/>
        </p:nvSpPr>
        <p:spPr>
          <a:xfrm>
            <a:off x="800100" y="41529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발견 ① 최하위 1종목이 항상 탈락</a:t>
            </a:r>
            <a:endParaRPr lang="en-US" sz="1425" dirty="0"/>
          </a:p>
        </p:txBody>
      </p:sp>
      <p:sp>
        <p:nvSpPr>
          <p:cNvPr id="19" name="Text 17"/>
          <p:cNvSpPr txBox="1"/>
          <p:nvPr/>
        </p:nvSpPr>
        <p:spPr>
          <a:xfrm>
            <a:off x="800100" y="4457700"/>
            <a:ext cx="4991100" cy="400050"/>
          </a:xfrm>
          <a:prstGeom prst="rect">
            <a:avLst/>
          </a:prstGeom>
          <a:noFill/>
          <a:ln/>
        </p:spPr>
        <p:txBody>
          <a:bodyPr wrap="square" lIns="0" tIns="0" rIns="0" bIns="0" rtlCol="0" anchor="t"/>
          <a:lstStyle/>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h = (n−1) × 0.1 &lt; 1 인 구조 탓에 셀 규모가 작으면 최하위 종목이 기계적으로 빠집니다.</a:t>
            </a:r>
            <a:endParaRPr lang="en-US" sz="1013" dirty="0"/>
          </a:p>
        </p:txBody>
      </p:sp>
      <p:sp>
        <p:nvSpPr>
          <p:cNvPr id="20" name="Shape 18"/>
          <p:cNvSpPr/>
          <p:nvPr/>
        </p:nvSpPr>
        <p:spPr>
          <a:xfrm>
            <a:off x="6210300" y="3962400"/>
            <a:ext cx="5372100" cy="1047750"/>
          </a:xfrm>
          <a:prstGeom prst="roundRect">
            <a:avLst>
              <a:gd name="adj" fmla="val 14545"/>
            </a:avLst>
          </a:prstGeom>
          <a:solidFill>
            <a:srgbClr val="FFFFFF"/>
          </a:solidFill>
          <a:ln w="12700">
            <a:solidFill>
              <a:srgbClr val="E5E7EB"/>
            </a:solidFill>
            <a:prstDash val="solid"/>
          </a:ln>
        </p:spPr>
        <p:txBody>
          <a:bodyPr/>
          <a:lstStyle/>
          <a:p>
            <a:endParaRPr lang="ko-KR" altLang="en-US"/>
          </a:p>
        </p:txBody>
      </p:sp>
      <p:sp>
        <p:nvSpPr>
          <p:cNvPr id="21" name="Text 19"/>
          <p:cNvSpPr txBox="1"/>
          <p:nvPr/>
        </p:nvSpPr>
        <p:spPr>
          <a:xfrm>
            <a:off x="6400800" y="41529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발견 ② 개별종목 상한이 없다</a:t>
            </a:r>
            <a:endParaRPr lang="en-US" sz="1425" dirty="0"/>
          </a:p>
        </p:txBody>
      </p:sp>
      <p:sp>
        <p:nvSpPr>
          <p:cNvPr id="22" name="Text 20"/>
          <p:cNvSpPr txBox="1"/>
          <p:nvPr/>
        </p:nvSpPr>
        <p:spPr>
          <a:xfrm>
            <a:off x="6400800" y="4457700"/>
            <a:ext cx="4991100" cy="400050"/>
          </a:xfrm>
          <a:prstGeom prst="rect">
            <a:avLst/>
          </a:prstGeom>
          <a:noFill/>
          <a:ln/>
        </p:spPr>
        <p:txBody>
          <a:bodyPr wrap="square" lIns="0" tIns="0" rIns="0" bIns="0" rtlCol="0" anchor="t"/>
          <a:lstStyle/>
          <a:p>
            <a:pPr marL="0" indent="0">
              <a:lnSpc>
                <a:spcPct val="142000"/>
              </a:lnSpc>
              <a:buNone/>
            </a:pPr>
            <a:r>
              <a:rPr lang="en-US" sz="1013" dirty="0">
                <a:solidFill>
                  <a:srgbClr val="222222"/>
                </a:solidFill>
                <a:latin typeface="Malgun Gothic" pitchFamily="34" charset="0"/>
                <a:ea typeface="Malgun Gothic" pitchFamily="34" charset="-122"/>
                <a:cs typeface="Malgun Gothic" pitchFamily="34" charset="-120"/>
              </a:rPr>
              <a:t>상한 조항이 없어 KTOS가 16.6667%까지 실제로 올라갔습니다.</a:t>
            </a:r>
            <a:endParaRPr lang="en-US" sz="1013" dirty="0"/>
          </a:p>
        </p:txBody>
      </p:sp>
      <p:sp>
        <p:nvSpPr>
          <p:cNvPr id="23" name="Shape 21"/>
          <p:cNvSpPr/>
          <p:nvPr/>
        </p:nvSpPr>
        <p:spPr>
          <a:xfrm>
            <a:off x="609600" y="5238750"/>
            <a:ext cx="10972800" cy="781050"/>
          </a:xfrm>
          <a:prstGeom prst="roundRect">
            <a:avLst>
              <a:gd name="adj" fmla="val 14634"/>
            </a:avLst>
          </a:prstGeom>
          <a:solidFill>
            <a:srgbClr val="FFF4EC"/>
          </a:solidFill>
          <a:ln/>
        </p:spPr>
        <p:txBody>
          <a:bodyPr/>
          <a:lstStyle/>
          <a:p>
            <a:endParaRPr lang="ko-KR" altLang="en-US"/>
          </a:p>
        </p:txBody>
      </p:sp>
      <p:sp>
        <p:nvSpPr>
          <p:cNvPr id="24" name="Text 22"/>
          <p:cNvSpPr txBox="1"/>
          <p:nvPr/>
        </p:nvSpPr>
        <p:spPr>
          <a:xfrm>
            <a:off x="838200" y="5238750"/>
            <a:ext cx="10515600" cy="781050"/>
          </a:xfrm>
          <a:prstGeom prst="rect">
            <a:avLst/>
          </a:prstGeom>
          <a:noFill/>
          <a:ln/>
        </p:spPr>
        <p:txBody>
          <a:bodyPr wrap="square" lIns="0" tIns="0" rIns="0" bIns="0" rtlCol="0" anchor="ctr"/>
          <a:lstStyle/>
          <a:p>
            <a:pPr marL="0" indent="0" algn="l">
              <a:lnSpc>
                <a:spcPct val="130000"/>
              </a:lnSpc>
              <a:buNone/>
            </a:pPr>
            <a:r>
              <a:rPr lang="en-US" sz="1200" b="1" dirty="0">
                <a:solidFill>
                  <a:srgbClr val="C23B14"/>
                </a:solidFill>
                <a:latin typeface="Malgun Gothic" pitchFamily="34" charset="0"/>
                <a:ea typeface="Malgun Gothic" pitchFamily="34" charset="-122"/>
                <a:cs typeface="Malgun Gothic" pitchFamily="34" charset="-120"/>
              </a:rPr>
              <a:t>수기 검산은 답을 먼저 보지 않고 원자료에서 따로 계산한 뒤 맞춰봤습니다. 두 발견 모두 성과를 본 뒤라 이번 산출에는 반영하지 않았습니다 (R3).</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PIT 무결성 — look-ahead 검사</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미래 데이터를 물리적으로 잘라내고 같은 회차를 다시 산출했습니다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A3</a:t>
            </a:r>
            <a:endParaRPr lang="en-US" sz="900" dirty="0"/>
          </a:p>
        </p:txBody>
      </p:sp>
      <p:pic>
        <p:nvPicPr>
          <p:cNvPr id="9" name="Image 0" descr="/root/deck/fig/11_PIT무결성.png"/>
          <p:cNvPicPr>
            <a:picLocks noChangeAspect="1"/>
          </p:cNvPicPr>
          <p:nvPr/>
        </p:nvPicPr>
        <p:blipFill>
          <a:blip r:embed="rId3"/>
          <a:stretch>
            <a:fillRect/>
          </a:stretch>
        </p:blipFill>
        <p:spPr>
          <a:xfrm>
            <a:off x="733465" y="2552700"/>
            <a:ext cx="6419771" cy="2743200"/>
          </a:xfrm>
          <a:prstGeom prst="rect">
            <a:avLst/>
          </a:prstGeom>
        </p:spPr>
      </p:pic>
      <p:sp>
        <p:nvSpPr>
          <p:cNvPr id="10" name="Text 7"/>
          <p:cNvSpPr txBox="1"/>
          <p:nvPr/>
        </p:nvSpPr>
        <p:spPr>
          <a:xfrm>
            <a:off x="609600" y="5295900"/>
            <a:ext cx="6667500" cy="209550"/>
          </a:xfrm>
          <a:prstGeom prst="rect">
            <a:avLst/>
          </a:prstGeom>
          <a:noFill/>
          <a:ln/>
        </p:spPr>
        <p:txBody>
          <a:bodyPr wrap="square" lIns="0" tIns="0" rIns="0" bIns="0" rtlCol="0" anchor="ctr"/>
          <a:lstStyle/>
          <a:p>
            <a:pPr marL="0" indent="0" algn="ctr">
              <a:buNone/>
            </a:pPr>
            <a:r>
              <a:rPr lang="en-US" sz="900" dirty="0">
                <a:solidFill>
                  <a:srgbClr val="8E8E93"/>
                </a:solidFill>
                <a:latin typeface="Malgun Gothic" pitchFamily="34" charset="0"/>
                <a:ea typeface="Malgun Gothic" pitchFamily="34" charset="-122"/>
                <a:cs typeface="Malgun Gothic" pitchFamily="34" charset="-120"/>
              </a:rPr>
              <a:t>4개 절단 시점 × 대조 회차 · 판정 행 수 — 전부 일치</a:t>
            </a:r>
            <a:endParaRPr lang="en-US" sz="900" dirty="0"/>
          </a:p>
        </p:txBody>
      </p:sp>
      <p:sp>
        <p:nvSpPr>
          <p:cNvPr id="11" name="Shape 8"/>
          <p:cNvSpPr/>
          <p:nvPr/>
        </p:nvSpPr>
        <p:spPr>
          <a:xfrm>
            <a:off x="7505700" y="2552700"/>
            <a:ext cx="4076700" cy="1752600"/>
          </a:xfrm>
          <a:prstGeom prst="roundRect">
            <a:avLst>
              <a:gd name="adj" fmla="val 4348"/>
            </a:avLst>
          </a:prstGeom>
          <a:solidFill>
            <a:srgbClr val="FFFFFF"/>
          </a:solidFill>
          <a:ln w="12700">
            <a:solidFill>
              <a:srgbClr val="E5E7EB"/>
            </a:solidFill>
            <a:prstDash val="solid"/>
          </a:ln>
        </p:spPr>
        <p:txBody>
          <a:bodyPr/>
          <a:lstStyle/>
          <a:p>
            <a:endParaRPr lang="ko-KR" altLang="en-US"/>
          </a:p>
        </p:txBody>
      </p:sp>
      <p:sp>
        <p:nvSpPr>
          <p:cNvPr id="12" name="Shape 9"/>
          <p:cNvSpPr/>
          <p:nvPr/>
        </p:nvSpPr>
        <p:spPr>
          <a:xfrm>
            <a:off x="7505700" y="2552700"/>
            <a:ext cx="4076700" cy="323850"/>
          </a:xfrm>
          <a:prstGeom prst="rect">
            <a:avLst/>
          </a:prstGeom>
          <a:solidFill>
            <a:srgbClr val="F7F8FA"/>
          </a:solidFill>
          <a:ln/>
        </p:spPr>
        <p:txBody>
          <a:bodyPr/>
          <a:lstStyle/>
          <a:p>
            <a:endParaRPr lang="ko-KR" altLang="en-US"/>
          </a:p>
        </p:txBody>
      </p:sp>
      <p:sp>
        <p:nvSpPr>
          <p:cNvPr id="13" name="Shape 10"/>
          <p:cNvSpPr/>
          <p:nvPr/>
        </p:nvSpPr>
        <p:spPr>
          <a:xfrm>
            <a:off x="7505700" y="2876550"/>
            <a:ext cx="4076700" cy="9525"/>
          </a:xfrm>
          <a:prstGeom prst="rect">
            <a:avLst/>
          </a:prstGeom>
          <a:solidFill>
            <a:srgbClr val="E5E7EB"/>
          </a:solidFill>
          <a:ln/>
        </p:spPr>
        <p:txBody>
          <a:bodyPr/>
          <a:lstStyle/>
          <a:p>
            <a:endParaRPr lang="ko-KR" altLang="en-US"/>
          </a:p>
        </p:txBody>
      </p:sp>
      <p:sp>
        <p:nvSpPr>
          <p:cNvPr id="14" name="Text 11"/>
          <p:cNvSpPr txBox="1"/>
          <p:nvPr/>
        </p:nvSpPr>
        <p:spPr>
          <a:xfrm>
            <a:off x="7639050" y="2552700"/>
            <a:ext cx="1527048" cy="323850"/>
          </a:xfrm>
          <a:prstGeom prst="rect">
            <a:avLst/>
          </a:prstGeom>
          <a:noFill/>
          <a:ln/>
        </p:spPr>
        <p:txBody>
          <a:bodyPr wrap="square" lIns="0" tIns="0" rIns="0" bIns="0" rtlCol="0" anchor="ctr"/>
          <a:lstStyle/>
          <a:p>
            <a:pPr marL="0" indent="0" algn="l">
              <a:buNone/>
            </a:pPr>
            <a:r>
              <a:rPr lang="en-US" sz="975" b="1" dirty="0">
                <a:solidFill>
                  <a:srgbClr val="5F5F5F"/>
                </a:solidFill>
                <a:latin typeface="Malgun Gothic" pitchFamily="34" charset="0"/>
                <a:ea typeface="Malgun Gothic" pitchFamily="34" charset="-122"/>
                <a:cs typeface="Malgun Gothic" pitchFamily="34" charset="-120"/>
              </a:rPr>
              <a:t>절단 시점</a:t>
            </a:r>
            <a:endParaRPr lang="en-US" sz="975" dirty="0"/>
          </a:p>
        </p:txBody>
      </p:sp>
      <p:sp>
        <p:nvSpPr>
          <p:cNvPr id="15" name="Text 12"/>
          <p:cNvSpPr txBox="1"/>
          <p:nvPr/>
        </p:nvSpPr>
        <p:spPr>
          <a:xfrm>
            <a:off x="9432798" y="2552700"/>
            <a:ext cx="711708" cy="323850"/>
          </a:xfrm>
          <a:prstGeom prst="rect">
            <a:avLst/>
          </a:prstGeom>
          <a:noFill/>
          <a:ln/>
        </p:spPr>
        <p:txBody>
          <a:bodyPr wrap="square" lIns="0" tIns="0" rIns="0" bIns="0" rtlCol="0" anchor="ctr"/>
          <a:lstStyle/>
          <a:p>
            <a:pPr marL="0" indent="0" algn="r">
              <a:buNone/>
            </a:pPr>
            <a:r>
              <a:rPr lang="en-US" sz="975" b="1" dirty="0">
                <a:solidFill>
                  <a:srgbClr val="5F5F5F"/>
                </a:solidFill>
                <a:latin typeface="Malgun Gothic" pitchFamily="34" charset="0"/>
                <a:ea typeface="Malgun Gothic" pitchFamily="34" charset="-122"/>
                <a:cs typeface="Malgun Gothic" pitchFamily="34" charset="-120"/>
              </a:rPr>
              <a:t>회차</a:t>
            </a:r>
            <a:endParaRPr lang="en-US" sz="975" dirty="0"/>
          </a:p>
        </p:txBody>
      </p:sp>
      <p:sp>
        <p:nvSpPr>
          <p:cNvPr id="16" name="Text 13"/>
          <p:cNvSpPr txBox="1"/>
          <p:nvPr/>
        </p:nvSpPr>
        <p:spPr>
          <a:xfrm>
            <a:off x="10411206" y="2552700"/>
            <a:ext cx="1037844" cy="323850"/>
          </a:xfrm>
          <a:prstGeom prst="rect">
            <a:avLst/>
          </a:prstGeom>
          <a:noFill/>
          <a:ln/>
        </p:spPr>
        <p:txBody>
          <a:bodyPr wrap="square" lIns="0" tIns="0" rIns="0" bIns="0" rtlCol="0" anchor="ctr"/>
          <a:lstStyle/>
          <a:p>
            <a:pPr marL="0" indent="0" algn="r">
              <a:buNone/>
            </a:pPr>
            <a:r>
              <a:rPr lang="en-US" sz="975" b="1" dirty="0">
                <a:solidFill>
                  <a:srgbClr val="5F5F5F"/>
                </a:solidFill>
                <a:latin typeface="Malgun Gothic" pitchFamily="34" charset="0"/>
                <a:ea typeface="Malgun Gothic" pitchFamily="34" charset="-122"/>
                <a:cs typeface="Malgun Gothic" pitchFamily="34" charset="-120"/>
              </a:rPr>
              <a:t>판정 행</a:t>
            </a:r>
            <a:endParaRPr lang="en-US" sz="975" dirty="0"/>
          </a:p>
        </p:txBody>
      </p:sp>
      <p:sp>
        <p:nvSpPr>
          <p:cNvPr id="17" name="Text 14"/>
          <p:cNvSpPr txBox="1"/>
          <p:nvPr/>
        </p:nvSpPr>
        <p:spPr>
          <a:xfrm>
            <a:off x="7639050" y="2876550"/>
            <a:ext cx="1527048"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2016-06-30</a:t>
            </a:r>
            <a:endParaRPr lang="en-US" sz="1050" dirty="0"/>
          </a:p>
        </p:txBody>
      </p:sp>
      <p:sp>
        <p:nvSpPr>
          <p:cNvPr id="18" name="Text 15"/>
          <p:cNvSpPr txBox="1"/>
          <p:nvPr/>
        </p:nvSpPr>
        <p:spPr>
          <a:xfrm>
            <a:off x="9432798" y="2876550"/>
            <a:ext cx="711708"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13</a:t>
            </a:r>
            <a:endParaRPr lang="en-US" sz="1050" dirty="0"/>
          </a:p>
        </p:txBody>
      </p:sp>
      <p:sp>
        <p:nvSpPr>
          <p:cNvPr id="19" name="Text 16"/>
          <p:cNvSpPr txBox="1"/>
          <p:nvPr/>
        </p:nvSpPr>
        <p:spPr>
          <a:xfrm>
            <a:off x="10411206" y="2876550"/>
            <a:ext cx="1037844"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234</a:t>
            </a:r>
            <a:endParaRPr lang="en-US" sz="1050" dirty="0"/>
          </a:p>
        </p:txBody>
      </p:sp>
      <p:sp>
        <p:nvSpPr>
          <p:cNvPr id="20" name="Shape 17"/>
          <p:cNvSpPr/>
          <p:nvPr/>
        </p:nvSpPr>
        <p:spPr>
          <a:xfrm>
            <a:off x="7639050" y="3162300"/>
            <a:ext cx="3810000" cy="9525"/>
          </a:xfrm>
          <a:prstGeom prst="rect">
            <a:avLst/>
          </a:prstGeom>
          <a:solidFill>
            <a:srgbClr val="EAECF0"/>
          </a:solidFill>
          <a:ln/>
        </p:spPr>
        <p:txBody>
          <a:bodyPr/>
          <a:lstStyle/>
          <a:p>
            <a:endParaRPr lang="ko-KR" altLang="en-US"/>
          </a:p>
        </p:txBody>
      </p:sp>
      <p:sp>
        <p:nvSpPr>
          <p:cNvPr id="21" name="Text 18"/>
          <p:cNvSpPr txBox="1"/>
          <p:nvPr/>
        </p:nvSpPr>
        <p:spPr>
          <a:xfrm>
            <a:off x="7639050" y="3162300"/>
            <a:ext cx="1527048"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2019-06-30</a:t>
            </a:r>
            <a:endParaRPr lang="en-US" sz="1050" dirty="0"/>
          </a:p>
        </p:txBody>
      </p:sp>
      <p:sp>
        <p:nvSpPr>
          <p:cNvPr id="22" name="Text 19"/>
          <p:cNvSpPr txBox="1"/>
          <p:nvPr/>
        </p:nvSpPr>
        <p:spPr>
          <a:xfrm>
            <a:off x="9432798" y="3162300"/>
            <a:ext cx="711708"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25</a:t>
            </a:r>
            <a:endParaRPr lang="en-US" sz="1050" dirty="0"/>
          </a:p>
        </p:txBody>
      </p:sp>
      <p:sp>
        <p:nvSpPr>
          <p:cNvPr id="23" name="Text 20"/>
          <p:cNvSpPr txBox="1"/>
          <p:nvPr/>
        </p:nvSpPr>
        <p:spPr>
          <a:xfrm>
            <a:off x="10411206" y="3162300"/>
            <a:ext cx="1037844"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450</a:t>
            </a:r>
            <a:endParaRPr lang="en-US" sz="1050" dirty="0"/>
          </a:p>
        </p:txBody>
      </p:sp>
      <p:sp>
        <p:nvSpPr>
          <p:cNvPr id="24" name="Shape 21"/>
          <p:cNvSpPr/>
          <p:nvPr/>
        </p:nvSpPr>
        <p:spPr>
          <a:xfrm>
            <a:off x="7639050" y="3448050"/>
            <a:ext cx="3810000" cy="9525"/>
          </a:xfrm>
          <a:prstGeom prst="rect">
            <a:avLst/>
          </a:prstGeom>
          <a:solidFill>
            <a:srgbClr val="EAECF0"/>
          </a:solidFill>
          <a:ln/>
        </p:spPr>
        <p:txBody>
          <a:bodyPr/>
          <a:lstStyle/>
          <a:p>
            <a:endParaRPr lang="ko-KR" altLang="en-US"/>
          </a:p>
        </p:txBody>
      </p:sp>
      <p:sp>
        <p:nvSpPr>
          <p:cNvPr id="25" name="Text 22"/>
          <p:cNvSpPr txBox="1"/>
          <p:nvPr/>
        </p:nvSpPr>
        <p:spPr>
          <a:xfrm>
            <a:off x="7639050" y="3448050"/>
            <a:ext cx="1527048"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2022-06-30</a:t>
            </a:r>
            <a:endParaRPr lang="en-US" sz="1050" dirty="0"/>
          </a:p>
        </p:txBody>
      </p:sp>
      <p:sp>
        <p:nvSpPr>
          <p:cNvPr id="26" name="Text 23"/>
          <p:cNvSpPr txBox="1"/>
          <p:nvPr/>
        </p:nvSpPr>
        <p:spPr>
          <a:xfrm>
            <a:off x="9432798" y="3448050"/>
            <a:ext cx="711708"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37</a:t>
            </a:r>
            <a:endParaRPr lang="en-US" sz="1050" dirty="0"/>
          </a:p>
        </p:txBody>
      </p:sp>
      <p:sp>
        <p:nvSpPr>
          <p:cNvPr id="27" name="Text 24"/>
          <p:cNvSpPr txBox="1"/>
          <p:nvPr/>
        </p:nvSpPr>
        <p:spPr>
          <a:xfrm>
            <a:off x="10411206" y="3448050"/>
            <a:ext cx="1037844"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666</a:t>
            </a:r>
            <a:endParaRPr lang="en-US" sz="1050" dirty="0"/>
          </a:p>
        </p:txBody>
      </p:sp>
      <p:sp>
        <p:nvSpPr>
          <p:cNvPr id="28" name="Shape 25"/>
          <p:cNvSpPr/>
          <p:nvPr/>
        </p:nvSpPr>
        <p:spPr>
          <a:xfrm>
            <a:off x="7639050" y="3733800"/>
            <a:ext cx="3810000" cy="9525"/>
          </a:xfrm>
          <a:prstGeom prst="rect">
            <a:avLst/>
          </a:prstGeom>
          <a:solidFill>
            <a:srgbClr val="EAECF0"/>
          </a:solidFill>
          <a:ln/>
        </p:spPr>
        <p:txBody>
          <a:bodyPr/>
          <a:lstStyle/>
          <a:p>
            <a:endParaRPr lang="ko-KR" altLang="en-US"/>
          </a:p>
        </p:txBody>
      </p:sp>
      <p:sp>
        <p:nvSpPr>
          <p:cNvPr id="29" name="Text 26"/>
          <p:cNvSpPr txBox="1"/>
          <p:nvPr/>
        </p:nvSpPr>
        <p:spPr>
          <a:xfrm>
            <a:off x="7639050" y="3733800"/>
            <a:ext cx="1527048" cy="28575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2024-06-30</a:t>
            </a:r>
            <a:endParaRPr lang="en-US" sz="1050" dirty="0"/>
          </a:p>
        </p:txBody>
      </p:sp>
      <p:sp>
        <p:nvSpPr>
          <p:cNvPr id="30" name="Text 27"/>
          <p:cNvSpPr txBox="1"/>
          <p:nvPr/>
        </p:nvSpPr>
        <p:spPr>
          <a:xfrm>
            <a:off x="9432798" y="3733800"/>
            <a:ext cx="711708"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45</a:t>
            </a:r>
            <a:endParaRPr lang="en-US" sz="1050" dirty="0"/>
          </a:p>
        </p:txBody>
      </p:sp>
      <p:sp>
        <p:nvSpPr>
          <p:cNvPr id="31" name="Text 28"/>
          <p:cNvSpPr txBox="1"/>
          <p:nvPr/>
        </p:nvSpPr>
        <p:spPr>
          <a:xfrm>
            <a:off x="10411206" y="3733800"/>
            <a:ext cx="1037844" cy="285750"/>
          </a:xfrm>
          <a:prstGeom prst="rect">
            <a:avLst/>
          </a:prstGeom>
          <a:noFill/>
          <a:ln/>
        </p:spPr>
        <p:txBody>
          <a:bodyPr wrap="square" lIns="0" tIns="0" rIns="0" bIns="0" rtlCol="0" anchor="ctr"/>
          <a:lstStyle/>
          <a:p>
            <a:pPr marL="0" indent="0" algn="r">
              <a:buNone/>
            </a:pPr>
            <a:r>
              <a:rPr lang="en-US" sz="1050" dirty="0">
                <a:solidFill>
                  <a:srgbClr val="0A0A0A"/>
                </a:solidFill>
                <a:latin typeface="Malgun Gothic" pitchFamily="34" charset="0"/>
                <a:ea typeface="Malgun Gothic" pitchFamily="34" charset="-122"/>
                <a:cs typeface="Malgun Gothic" pitchFamily="34" charset="-120"/>
              </a:rPr>
              <a:t>810</a:t>
            </a:r>
            <a:endParaRPr lang="en-US" sz="1050" dirty="0"/>
          </a:p>
        </p:txBody>
      </p:sp>
      <p:sp>
        <p:nvSpPr>
          <p:cNvPr id="32" name="Shape 29"/>
          <p:cNvSpPr/>
          <p:nvPr/>
        </p:nvSpPr>
        <p:spPr>
          <a:xfrm>
            <a:off x="7639050" y="4019550"/>
            <a:ext cx="3810000" cy="9525"/>
          </a:xfrm>
          <a:prstGeom prst="rect">
            <a:avLst/>
          </a:prstGeom>
          <a:solidFill>
            <a:srgbClr val="EAECF0"/>
          </a:solidFill>
          <a:ln/>
        </p:spPr>
        <p:txBody>
          <a:bodyPr/>
          <a:lstStyle/>
          <a:p>
            <a:endParaRPr lang="ko-KR" altLang="en-US"/>
          </a:p>
        </p:txBody>
      </p:sp>
      <p:sp>
        <p:nvSpPr>
          <p:cNvPr id="33" name="Text 30"/>
          <p:cNvSpPr txBox="1"/>
          <p:nvPr/>
        </p:nvSpPr>
        <p:spPr>
          <a:xfrm>
            <a:off x="7639050" y="4019550"/>
            <a:ext cx="1527048" cy="285750"/>
          </a:xfrm>
          <a:prstGeom prst="rect">
            <a:avLst/>
          </a:prstGeom>
          <a:noFill/>
          <a:ln/>
        </p:spPr>
        <p:txBody>
          <a:bodyPr wrap="square" lIns="0" tIns="0" rIns="0" bIns="0" rtlCol="0" anchor="ctr"/>
          <a:lstStyle/>
          <a:p>
            <a:pPr marL="0" indent="0" algn="l">
              <a:buNone/>
            </a:pPr>
            <a:r>
              <a:rPr lang="en-US" sz="1050" b="1" dirty="0">
                <a:solidFill>
                  <a:srgbClr val="0A0A0A"/>
                </a:solidFill>
                <a:latin typeface="Malgun Gothic" pitchFamily="34" charset="0"/>
                <a:ea typeface="Malgun Gothic" pitchFamily="34" charset="-122"/>
                <a:cs typeface="Malgun Gothic" pitchFamily="34" charset="-120"/>
              </a:rPr>
              <a:t>합계</a:t>
            </a:r>
            <a:endParaRPr lang="en-US" sz="1050" dirty="0"/>
          </a:p>
        </p:txBody>
      </p:sp>
      <p:sp>
        <p:nvSpPr>
          <p:cNvPr id="34" name="Text 31"/>
          <p:cNvSpPr txBox="1"/>
          <p:nvPr/>
        </p:nvSpPr>
        <p:spPr>
          <a:xfrm>
            <a:off x="9432798" y="4019550"/>
            <a:ext cx="711708" cy="285750"/>
          </a:xfrm>
          <a:prstGeom prst="rect">
            <a:avLst/>
          </a:prstGeom>
          <a:noFill/>
          <a:ln/>
        </p:spPr>
        <p:txBody>
          <a:bodyPr wrap="square" lIns="0" tIns="0" rIns="0" bIns="0" rtlCol="0" anchor="ctr"/>
          <a:lstStyle/>
          <a:p>
            <a:pPr marL="0" indent="0" algn="r">
              <a:buNone/>
            </a:pPr>
            <a:r>
              <a:rPr lang="en-US" sz="1050" b="1" dirty="0">
                <a:solidFill>
                  <a:srgbClr val="0A0A0A"/>
                </a:solidFill>
                <a:latin typeface="Malgun Gothic" pitchFamily="34" charset="0"/>
                <a:ea typeface="Malgun Gothic" pitchFamily="34" charset="-122"/>
                <a:cs typeface="Malgun Gothic" pitchFamily="34" charset="-120"/>
              </a:rPr>
              <a:t>—</a:t>
            </a:r>
            <a:endParaRPr lang="en-US" sz="1050" dirty="0"/>
          </a:p>
        </p:txBody>
      </p:sp>
      <p:sp>
        <p:nvSpPr>
          <p:cNvPr id="35" name="Text 32"/>
          <p:cNvSpPr txBox="1"/>
          <p:nvPr/>
        </p:nvSpPr>
        <p:spPr>
          <a:xfrm>
            <a:off x="10411206" y="4019550"/>
            <a:ext cx="1037844" cy="285750"/>
          </a:xfrm>
          <a:prstGeom prst="rect">
            <a:avLst/>
          </a:prstGeom>
          <a:noFill/>
          <a:ln/>
        </p:spPr>
        <p:txBody>
          <a:bodyPr wrap="square" lIns="0" tIns="0" rIns="0" bIns="0" rtlCol="0" anchor="ctr"/>
          <a:lstStyle/>
          <a:p>
            <a:pPr marL="0" indent="0" algn="r">
              <a:buNone/>
            </a:pPr>
            <a:r>
              <a:rPr lang="en-US" sz="1050" b="1" dirty="0">
                <a:solidFill>
                  <a:srgbClr val="0A0A0A"/>
                </a:solidFill>
                <a:latin typeface="Malgun Gothic" pitchFamily="34" charset="0"/>
                <a:ea typeface="Malgun Gothic" pitchFamily="34" charset="-122"/>
                <a:cs typeface="Malgun Gothic" pitchFamily="34" charset="-120"/>
              </a:rPr>
              <a:t>2,160</a:t>
            </a:r>
            <a:endParaRPr lang="en-US" sz="1050" dirty="0"/>
          </a:p>
        </p:txBody>
      </p:sp>
      <p:sp>
        <p:nvSpPr>
          <p:cNvPr id="36" name="Shape 33"/>
          <p:cNvSpPr/>
          <p:nvPr/>
        </p:nvSpPr>
        <p:spPr>
          <a:xfrm>
            <a:off x="7505700" y="4362450"/>
            <a:ext cx="4076700" cy="1428750"/>
          </a:xfrm>
          <a:prstGeom prst="roundRect">
            <a:avLst>
              <a:gd name="adj" fmla="val 21333"/>
            </a:avLst>
          </a:prstGeom>
          <a:solidFill>
            <a:srgbClr val="0A0A0A"/>
          </a:solidFill>
          <a:ln/>
        </p:spPr>
        <p:txBody>
          <a:bodyPr/>
          <a:lstStyle/>
          <a:p>
            <a:endParaRPr lang="ko-KR" altLang="en-US"/>
          </a:p>
        </p:txBody>
      </p:sp>
      <p:sp>
        <p:nvSpPr>
          <p:cNvPr id="37" name="Text 34"/>
          <p:cNvSpPr txBox="1"/>
          <p:nvPr/>
        </p:nvSpPr>
        <p:spPr>
          <a:xfrm>
            <a:off x="7810500" y="4591050"/>
            <a:ext cx="3467100" cy="190500"/>
          </a:xfrm>
          <a:prstGeom prst="rect">
            <a:avLst/>
          </a:prstGeom>
          <a:noFill/>
          <a:ln/>
        </p:spPr>
        <p:txBody>
          <a:bodyPr wrap="square" lIns="0" tIns="0" rIns="0" bIns="0" rtlCol="0" anchor="ctr"/>
          <a:lstStyle/>
          <a:p>
            <a:pPr marL="0" indent="0">
              <a:buNone/>
            </a:pPr>
            <a:r>
              <a:rPr lang="en-US" sz="975" b="1" dirty="0">
                <a:solidFill>
                  <a:srgbClr val="FF5530"/>
                </a:solidFill>
                <a:latin typeface="Malgun Gothic" pitchFamily="34" charset="0"/>
                <a:ea typeface="Malgun Gothic" pitchFamily="34" charset="-122"/>
                <a:cs typeface="Malgun Gothic" pitchFamily="34" charset="-120"/>
              </a:rPr>
              <a:t>가장 강한 증거</a:t>
            </a:r>
            <a:endParaRPr lang="en-US" sz="975" dirty="0"/>
          </a:p>
        </p:txBody>
      </p:sp>
      <p:sp>
        <p:nvSpPr>
          <p:cNvPr id="38" name="Text 35"/>
          <p:cNvSpPr txBox="1"/>
          <p:nvPr/>
        </p:nvSpPr>
        <p:spPr>
          <a:xfrm>
            <a:off x="7810500" y="4857750"/>
            <a:ext cx="3467100" cy="762000"/>
          </a:xfrm>
          <a:prstGeom prst="rect">
            <a:avLst/>
          </a:prstGeom>
          <a:noFill/>
          <a:ln/>
        </p:spPr>
        <p:txBody>
          <a:bodyPr wrap="square" lIns="0" tIns="0" rIns="0" bIns="0" rtlCol="0" anchor="t"/>
          <a:lstStyle/>
          <a:p>
            <a:pPr marL="0" indent="0">
              <a:lnSpc>
                <a:spcPct val="140000"/>
              </a:lnSpc>
              <a:buNone/>
            </a:pPr>
            <a:r>
              <a:rPr lang="en-US" sz="1425" b="1" dirty="0">
                <a:solidFill>
                  <a:srgbClr val="FFFFFF"/>
                </a:solidFill>
                <a:latin typeface="Malgun Gothic" pitchFamily="34" charset="0"/>
                <a:ea typeface="Malgun Gothic" pitchFamily="34" charset="-122"/>
                <a:cs typeface="Malgun Gothic" pitchFamily="34" charset="-120"/>
              </a:rPr>
              <a:t>2,160행 전부 동일하고</a:t>
            </a:r>
            <a:endParaRPr lang="en-US" sz="1425" dirty="0"/>
          </a:p>
          <a:p>
            <a:pPr marL="0" indent="0">
              <a:lnSpc>
                <a:spcPct val="140000"/>
              </a:lnSpc>
              <a:buNone/>
            </a:pPr>
            <a:r>
              <a:rPr lang="en-US" sz="1425" b="1" dirty="0">
                <a:solidFill>
                  <a:srgbClr val="FFFFFF"/>
                </a:solidFill>
                <a:latin typeface="Malgun Gothic" pitchFamily="34" charset="0"/>
                <a:ea typeface="Malgun Gothic" pitchFamily="34" charset="-122"/>
                <a:cs typeface="Malgun Gothic" pitchFamily="34" charset="-120"/>
              </a:rPr>
              <a:t>weights · thresholds 는</a:t>
            </a:r>
            <a:endParaRPr lang="en-US" sz="1425" dirty="0"/>
          </a:p>
          <a:p>
            <a:pPr marL="0" indent="0">
              <a:lnSpc>
                <a:spcPct val="140000"/>
              </a:lnSpc>
              <a:buNone/>
            </a:pPr>
            <a:r>
              <a:rPr lang="en-US" sz="1425" b="1" dirty="0">
                <a:solidFill>
                  <a:srgbClr val="FFFFFF"/>
                </a:solidFill>
                <a:latin typeface="Malgun Gothic" pitchFamily="34" charset="0"/>
                <a:ea typeface="Malgun Gothic" pitchFamily="34" charset="-122"/>
                <a:cs typeface="Malgun Gothic" pitchFamily="34" charset="-120"/>
              </a:rPr>
              <a:t>해시까지 일치합니다.</a:t>
            </a:r>
            <a:endParaRPr lang="en-US" sz="1425" dirty="0"/>
          </a:p>
        </p:txBody>
      </p:sp>
      <p:sp>
        <p:nvSpPr>
          <p:cNvPr id="39" name="Text 36"/>
          <p:cNvSpPr txBox="1"/>
          <p:nvPr/>
        </p:nvSpPr>
        <p:spPr>
          <a:xfrm>
            <a:off x="609600" y="5810250"/>
            <a:ext cx="66675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06_코드/backtest_long/figures/11_PIT무결성.png · out/integrity_test.json</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결정론성</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같은 입력으로 3회 재실행 → 산출 164파일 결합해시가 전부 동일합니다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A4</a:t>
            </a:r>
            <a:endParaRPr lang="en-US" sz="900" dirty="0"/>
          </a:p>
        </p:txBody>
      </p:sp>
      <p:sp>
        <p:nvSpPr>
          <p:cNvPr id="9" name="Shape 7"/>
          <p:cNvSpPr/>
          <p:nvPr/>
        </p:nvSpPr>
        <p:spPr>
          <a:xfrm>
            <a:off x="609600" y="2590800"/>
            <a:ext cx="10972800" cy="1809750"/>
          </a:xfrm>
          <a:prstGeom prst="roundRect">
            <a:avLst>
              <a:gd name="adj" fmla="val 16842"/>
            </a:avLst>
          </a:prstGeom>
          <a:solidFill>
            <a:srgbClr val="0A0A0A"/>
          </a:solidFill>
          <a:ln/>
        </p:spPr>
        <p:txBody>
          <a:bodyPr/>
          <a:lstStyle/>
          <a:p>
            <a:endParaRPr lang="ko-KR" altLang="en-US"/>
          </a:p>
        </p:txBody>
      </p:sp>
      <p:sp>
        <p:nvSpPr>
          <p:cNvPr id="10" name="Text 8"/>
          <p:cNvSpPr txBox="1"/>
          <p:nvPr/>
        </p:nvSpPr>
        <p:spPr>
          <a:xfrm>
            <a:off x="1066800" y="2933700"/>
            <a:ext cx="10058400" cy="228600"/>
          </a:xfrm>
          <a:prstGeom prst="rect">
            <a:avLst/>
          </a:prstGeom>
          <a:noFill/>
          <a:ln/>
        </p:spPr>
        <p:txBody>
          <a:bodyPr wrap="square" lIns="0" tIns="0" rIns="0" bIns="0" rtlCol="0" anchor="ctr"/>
          <a:lstStyle/>
          <a:p>
            <a:pPr marL="0" indent="0">
              <a:buNone/>
            </a:pPr>
            <a:r>
              <a:rPr lang="en-US" sz="1125" b="1" dirty="0">
                <a:solidFill>
                  <a:srgbClr val="FF5530"/>
                </a:solidFill>
                <a:latin typeface="Malgun Gothic" pitchFamily="34" charset="0"/>
                <a:ea typeface="Malgun Gothic" pitchFamily="34" charset="-122"/>
                <a:cs typeface="Malgun Gothic" pitchFamily="34" charset="-120"/>
              </a:rPr>
              <a:t>3회 재실행 · 산출 164파일 결합해시</a:t>
            </a:r>
            <a:endParaRPr lang="en-US" sz="1125" dirty="0"/>
          </a:p>
        </p:txBody>
      </p:sp>
      <p:sp>
        <p:nvSpPr>
          <p:cNvPr id="11" name="Text 9"/>
          <p:cNvSpPr txBox="1"/>
          <p:nvPr/>
        </p:nvSpPr>
        <p:spPr>
          <a:xfrm>
            <a:off x="1066800" y="3257550"/>
            <a:ext cx="10058400" cy="685800"/>
          </a:xfrm>
          <a:prstGeom prst="rect">
            <a:avLst/>
          </a:prstGeom>
          <a:noFill/>
          <a:ln/>
        </p:spPr>
        <p:txBody>
          <a:bodyPr wrap="square" lIns="0" tIns="0" rIns="0" bIns="0" rtlCol="0" anchor="ctr"/>
          <a:lstStyle/>
          <a:p>
            <a:pPr marL="0" indent="0">
              <a:buNone/>
            </a:pPr>
            <a:r>
              <a:rPr lang="en-US" sz="4200" b="1" kern="0" spc="200" dirty="0">
                <a:solidFill>
                  <a:srgbClr val="FFFFFF"/>
                </a:solidFill>
                <a:latin typeface="Malgun Gothic" pitchFamily="34" charset="0"/>
                <a:ea typeface="Malgun Gothic" pitchFamily="34" charset="-122"/>
                <a:cs typeface="Malgun Gothic" pitchFamily="34" charset="-120"/>
              </a:rPr>
              <a:t>c73c972971fe288d</a:t>
            </a:r>
            <a:endParaRPr lang="en-US" sz="4200" dirty="0"/>
          </a:p>
        </p:txBody>
      </p:sp>
      <p:sp>
        <p:nvSpPr>
          <p:cNvPr id="12" name="Text 10"/>
          <p:cNvSpPr txBox="1"/>
          <p:nvPr/>
        </p:nvSpPr>
        <p:spPr>
          <a:xfrm>
            <a:off x="1066800" y="3962400"/>
            <a:ext cx="10058400" cy="228600"/>
          </a:xfrm>
          <a:prstGeom prst="rect">
            <a:avLst/>
          </a:prstGeom>
          <a:noFill/>
          <a:ln/>
        </p:spPr>
        <p:txBody>
          <a:bodyPr wrap="square" lIns="0" tIns="0" rIns="0" bIns="0" rtlCol="0" anchor="ctr"/>
          <a:lstStyle/>
          <a:p>
            <a:pPr marL="0" indent="0">
              <a:buNone/>
            </a:pPr>
            <a:r>
              <a:rPr lang="en-US" sz="1125" dirty="0">
                <a:solidFill>
                  <a:srgbClr val="C9CBD1"/>
                </a:solidFill>
                <a:latin typeface="Malgun Gothic" pitchFamily="34" charset="0"/>
                <a:ea typeface="Malgun Gothic" pitchFamily="34" charset="-122"/>
                <a:cs typeface="Malgun Gothic" pitchFamily="34" charset="-120"/>
              </a:rPr>
              <a:t>세 번 모두 동일</a:t>
            </a:r>
            <a:endParaRPr lang="en-US" sz="1125" dirty="0"/>
          </a:p>
        </p:txBody>
      </p:sp>
      <p:sp>
        <p:nvSpPr>
          <p:cNvPr id="13" name="Shape 11"/>
          <p:cNvSpPr/>
          <p:nvPr/>
        </p:nvSpPr>
        <p:spPr>
          <a:xfrm>
            <a:off x="609600" y="4629150"/>
            <a:ext cx="3505200" cy="1162050"/>
          </a:xfrm>
          <a:prstGeom prst="roundRect">
            <a:avLst>
              <a:gd name="adj" fmla="val 13115"/>
            </a:avLst>
          </a:prstGeom>
          <a:solidFill>
            <a:srgbClr val="F7F8FA"/>
          </a:solidFill>
          <a:ln w="12700">
            <a:solidFill>
              <a:srgbClr val="E5E7EB"/>
            </a:solidFill>
            <a:prstDash val="solid"/>
          </a:ln>
        </p:spPr>
        <p:txBody>
          <a:bodyPr/>
          <a:lstStyle/>
          <a:p>
            <a:endParaRPr lang="ko-KR" altLang="en-US"/>
          </a:p>
        </p:txBody>
      </p:sp>
      <p:sp>
        <p:nvSpPr>
          <p:cNvPr id="14" name="Text 12"/>
          <p:cNvSpPr txBox="1"/>
          <p:nvPr/>
        </p:nvSpPr>
        <p:spPr>
          <a:xfrm>
            <a:off x="800100" y="478155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재실행 횟수</a:t>
            </a:r>
            <a:endParaRPr lang="en-US" sz="975" dirty="0"/>
          </a:p>
        </p:txBody>
      </p:sp>
      <p:sp>
        <p:nvSpPr>
          <p:cNvPr id="15" name="Text 13"/>
          <p:cNvSpPr txBox="1"/>
          <p:nvPr/>
        </p:nvSpPr>
        <p:spPr>
          <a:xfrm>
            <a:off x="800100" y="497205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3회</a:t>
            </a:r>
            <a:endParaRPr lang="en-US" sz="2250" dirty="0"/>
          </a:p>
        </p:txBody>
      </p:sp>
      <p:sp>
        <p:nvSpPr>
          <p:cNvPr id="16" name="Text 14"/>
          <p:cNvSpPr txBox="1"/>
          <p:nvPr/>
        </p:nvSpPr>
        <p:spPr>
          <a:xfrm>
            <a:off x="800100" y="5314950"/>
            <a:ext cx="3124200" cy="4191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동일 입력 · 동일 rule_version</a:t>
            </a:r>
            <a:endParaRPr lang="en-US" sz="975" dirty="0"/>
          </a:p>
        </p:txBody>
      </p:sp>
      <p:sp>
        <p:nvSpPr>
          <p:cNvPr id="17" name="Shape 15"/>
          <p:cNvSpPr/>
          <p:nvPr/>
        </p:nvSpPr>
        <p:spPr>
          <a:xfrm>
            <a:off x="4343400" y="4629150"/>
            <a:ext cx="3505200" cy="1162050"/>
          </a:xfrm>
          <a:prstGeom prst="roundRect">
            <a:avLst>
              <a:gd name="adj" fmla="val 13115"/>
            </a:avLst>
          </a:prstGeom>
          <a:solidFill>
            <a:srgbClr val="F7F8FA"/>
          </a:solidFill>
          <a:ln w="12700">
            <a:solidFill>
              <a:srgbClr val="E5E7EB"/>
            </a:solidFill>
            <a:prstDash val="solid"/>
          </a:ln>
        </p:spPr>
        <p:txBody>
          <a:bodyPr/>
          <a:lstStyle/>
          <a:p>
            <a:endParaRPr lang="ko-KR" altLang="en-US"/>
          </a:p>
        </p:txBody>
      </p:sp>
      <p:sp>
        <p:nvSpPr>
          <p:cNvPr id="18" name="Text 16"/>
          <p:cNvSpPr txBox="1"/>
          <p:nvPr/>
        </p:nvSpPr>
        <p:spPr>
          <a:xfrm>
            <a:off x="4533900" y="478155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대조 산출 파일</a:t>
            </a:r>
            <a:endParaRPr lang="en-US" sz="975" dirty="0"/>
          </a:p>
        </p:txBody>
      </p:sp>
      <p:sp>
        <p:nvSpPr>
          <p:cNvPr id="19" name="Text 17"/>
          <p:cNvSpPr txBox="1"/>
          <p:nvPr/>
        </p:nvSpPr>
        <p:spPr>
          <a:xfrm>
            <a:off x="4533900" y="4972050"/>
            <a:ext cx="3124200" cy="361950"/>
          </a:xfrm>
          <a:prstGeom prst="rect">
            <a:avLst/>
          </a:prstGeom>
          <a:noFill/>
          <a:ln/>
        </p:spPr>
        <p:txBody>
          <a:bodyPr wrap="square" lIns="0" tIns="0" rIns="0" bIns="0" rtlCol="0" anchor="ctr"/>
          <a:lstStyle/>
          <a:p>
            <a:pPr marL="0" indent="0">
              <a:buNone/>
            </a:pPr>
            <a:r>
              <a:rPr lang="en-US" sz="2250" b="1" kern="0" spc="-80" dirty="0">
                <a:solidFill>
                  <a:srgbClr val="0A0A0A"/>
                </a:solidFill>
                <a:latin typeface="Malgun Gothic" pitchFamily="34" charset="0"/>
                <a:ea typeface="Malgun Gothic" pitchFamily="34" charset="-122"/>
                <a:cs typeface="Malgun Gothic" pitchFamily="34" charset="-120"/>
              </a:rPr>
              <a:t>164개</a:t>
            </a:r>
            <a:endParaRPr lang="en-US" sz="2250" dirty="0"/>
          </a:p>
        </p:txBody>
      </p:sp>
      <p:sp>
        <p:nvSpPr>
          <p:cNvPr id="20" name="Text 18"/>
          <p:cNvSpPr txBox="1"/>
          <p:nvPr/>
        </p:nvSpPr>
        <p:spPr>
          <a:xfrm>
            <a:off x="4533900" y="5314950"/>
            <a:ext cx="3124200" cy="4191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constituents · weights · index</a:t>
            </a:r>
            <a:endParaRPr lang="en-US" sz="975" dirty="0"/>
          </a:p>
        </p:txBody>
      </p:sp>
      <p:sp>
        <p:nvSpPr>
          <p:cNvPr id="21" name="Shape 19"/>
          <p:cNvSpPr/>
          <p:nvPr/>
        </p:nvSpPr>
        <p:spPr>
          <a:xfrm>
            <a:off x="8077200" y="4629150"/>
            <a:ext cx="3505200" cy="1162050"/>
          </a:xfrm>
          <a:prstGeom prst="roundRect">
            <a:avLst>
              <a:gd name="adj" fmla="val 13115"/>
            </a:avLst>
          </a:prstGeom>
          <a:solidFill>
            <a:srgbClr val="F7F8FA"/>
          </a:solidFill>
          <a:ln w="12700">
            <a:solidFill>
              <a:srgbClr val="E5E7EB"/>
            </a:solidFill>
            <a:prstDash val="solid"/>
          </a:ln>
        </p:spPr>
        <p:txBody>
          <a:bodyPr/>
          <a:lstStyle/>
          <a:p>
            <a:endParaRPr lang="ko-KR" altLang="en-US"/>
          </a:p>
        </p:txBody>
      </p:sp>
      <p:sp>
        <p:nvSpPr>
          <p:cNvPr id="22" name="Text 20"/>
          <p:cNvSpPr txBox="1"/>
          <p:nvPr/>
        </p:nvSpPr>
        <p:spPr>
          <a:xfrm>
            <a:off x="8267700" y="4781550"/>
            <a:ext cx="3124200" cy="17145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해시 불일치</a:t>
            </a:r>
            <a:endParaRPr lang="en-US" sz="975" dirty="0"/>
          </a:p>
        </p:txBody>
      </p:sp>
      <p:sp>
        <p:nvSpPr>
          <p:cNvPr id="23" name="Text 21"/>
          <p:cNvSpPr txBox="1"/>
          <p:nvPr/>
        </p:nvSpPr>
        <p:spPr>
          <a:xfrm>
            <a:off x="8267700" y="4972050"/>
            <a:ext cx="3124200" cy="361950"/>
          </a:xfrm>
          <a:prstGeom prst="rect">
            <a:avLst/>
          </a:prstGeom>
          <a:noFill/>
          <a:ln/>
        </p:spPr>
        <p:txBody>
          <a:bodyPr wrap="square" lIns="0" tIns="0" rIns="0" bIns="0" rtlCol="0" anchor="ctr"/>
          <a:lstStyle/>
          <a:p>
            <a:pPr marL="0" indent="0">
              <a:buNone/>
            </a:pPr>
            <a:r>
              <a:rPr lang="en-US" sz="2250" b="1" kern="0" spc="-80" dirty="0">
                <a:solidFill>
                  <a:srgbClr val="1BA673"/>
                </a:solidFill>
                <a:latin typeface="Malgun Gothic" pitchFamily="34" charset="0"/>
                <a:ea typeface="Malgun Gothic" pitchFamily="34" charset="-122"/>
                <a:cs typeface="Malgun Gothic" pitchFamily="34" charset="-120"/>
              </a:rPr>
              <a:t>0건</a:t>
            </a:r>
            <a:endParaRPr lang="en-US" sz="2250" dirty="0"/>
          </a:p>
        </p:txBody>
      </p:sp>
      <p:sp>
        <p:nvSpPr>
          <p:cNvPr id="24" name="Text 22"/>
          <p:cNvSpPr txBox="1"/>
          <p:nvPr/>
        </p:nvSpPr>
        <p:spPr>
          <a:xfrm>
            <a:off x="8267700" y="5314950"/>
            <a:ext cx="3124200" cy="419100"/>
          </a:xfrm>
          <a:prstGeom prst="rect">
            <a:avLst/>
          </a:prstGeom>
          <a:noFill/>
          <a:ln/>
        </p:spPr>
        <p:txBody>
          <a:bodyPr wrap="square" lIns="0" tIns="0" rIns="0" bIns="0" rtlCol="0" anchor="t"/>
          <a:lstStyle/>
          <a:p>
            <a:pPr marL="0" indent="0">
              <a:lnSpc>
                <a:spcPct val="130000"/>
              </a:lnSpc>
              <a:buNone/>
            </a:pPr>
            <a:r>
              <a:rPr lang="en-US" sz="975" dirty="0">
                <a:solidFill>
                  <a:srgbClr val="8E8E93"/>
                </a:solidFill>
                <a:latin typeface="Malgun Gothic" pitchFamily="34" charset="0"/>
                <a:ea typeface="Malgun Gothic" pitchFamily="34" charset="-122"/>
                <a:cs typeface="Malgun Gothic" pitchFamily="34" charset="-120"/>
              </a:rPr>
              <a:t>난수·시각 의존 코드 없음</a:t>
            </a:r>
            <a:endParaRPr lang="en-US" sz="975" dirty="0"/>
          </a:p>
        </p:txBody>
      </p:sp>
      <p:sp>
        <p:nvSpPr>
          <p:cNvPr id="25" name="Text 23"/>
          <p:cNvSpPr txBox="1"/>
          <p:nvPr/>
        </p:nvSpPr>
        <p:spPr>
          <a:xfrm>
            <a:off x="609600" y="5905500"/>
            <a:ext cx="10972800" cy="171450"/>
          </a:xfrm>
          <a:prstGeom prst="rect">
            <a:avLst/>
          </a:prstGeom>
          <a:noFill/>
          <a:ln/>
        </p:spPr>
        <p:txBody>
          <a:bodyPr wrap="square" lIns="0" tIns="0" rIns="0" bIns="0" rtlCol="0" anchor="ctr"/>
          <a:lstStyle/>
          <a:p>
            <a:pPr marL="0" indent="0">
              <a:buNone/>
            </a:pPr>
            <a:r>
              <a:rPr lang="en-US" sz="900" dirty="0">
                <a:solidFill>
                  <a:srgbClr val="A8AAB2"/>
                </a:solidFill>
                <a:latin typeface="Malgun Gothic" pitchFamily="34" charset="0"/>
                <a:ea typeface="Malgun Gothic" pitchFamily="34" charset="-122"/>
                <a:cs typeface="Malgun Gothic" pitchFamily="34" charset="-120"/>
              </a:rPr>
              <a:t>06_코드/backtest_long/out/integrity_test.json</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알려진 결함 10건</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성과를 본 뒤이므로 이번 산출에는 적용하지 않았습니다 (R3)</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A5</a:t>
            </a:r>
            <a:endParaRPr lang="en-US" sz="900" dirty="0"/>
          </a:p>
        </p:txBody>
      </p:sp>
      <p:sp>
        <p:nvSpPr>
          <p:cNvPr id="9" name="Shape 7"/>
          <p:cNvSpPr/>
          <p:nvPr/>
        </p:nvSpPr>
        <p:spPr>
          <a:xfrm>
            <a:off x="609600" y="2590800"/>
            <a:ext cx="10972800" cy="2952750"/>
          </a:xfrm>
          <a:prstGeom prst="roundRect">
            <a:avLst>
              <a:gd name="adj" fmla="val 2581"/>
            </a:avLst>
          </a:prstGeom>
          <a:solidFill>
            <a:srgbClr val="FFFFFF"/>
          </a:solidFill>
          <a:ln w="12700">
            <a:solidFill>
              <a:srgbClr val="E5E7EB"/>
            </a:solidFill>
            <a:prstDash val="solid"/>
          </a:ln>
        </p:spPr>
        <p:txBody>
          <a:bodyPr/>
          <a:lstStyle/>
          <a:p>
            <a:endParaRPr lang="ko-KR" altLang="en-US"/>
          </a:p>
        </p:txBody>
      </p:sp>
      <p:sp>
        <p:nvSpPr>
          <p:cNvPr id="10" name="Shape 8"/>
          <p:cNvSpPr/>
          <p:nvPr/>
        </p:nvSpPr>
        <p:spPr>
          <a:xfrm>
            <a:off x="609600" y="2590800"/>
            <a:ext cx="10972800" cy="285750"/>
          </a:xfrm>
          <a:prstGeom prst="rect">
            <a:avLst/>
          </a:prstGeom>
          <a:solidFill>
            <a:srgbClr val="F7F8FA"/>
          </a:solidFill>
          <a:ln/>
        </p:spPr>
        <p:txBody>
          <a:bodyPr/>
          <a:lstStyle/>
          <a:p>
            <a:endParaRPr lang="ko-KR" altLang="en-US"/>
          </a:p>
        </p:txBody>
      </p:sp>
      <p:sp>
        <p:nvSpPr>
          <p:cNvPr id="11" name="Shape 9"/>
          <p:cNvSpPr/>
          <p:nvPr/>
        </p:nvSpPr>
        <p:spPr>
          <a:xfrm>
            <a:off x="609600" y="2876550"/>
            <a:ext cx="10972800" cy="9525"/>
          </a:xfrm>
          <a:prstGeom prst="rect">
            <a:avLst/>
          </a:prstGeom>
          <a:solidFill>
            <a:srgbClr val="E5E7EB"/>
          </a:solidFill>
          <a:ln/>
        </p:spPr>
        <p:txBody>
          <a:bodyPr/>
          <a:lstStyle/>
          <a:p>
            <a:endParaRPr lang="ko-KR" altLang="en-US"/>
          </a:p>
        </p:txBody>
      </p:sp>
      <p:sp>
        <p:nvSpPr>
          <p:cNvPr id="12" name="Text 10"/>
          <p:cNvSpPr txBox="1"/>
          <p:nvPr/>
        </p:nvSpPr>
        <p:spPr>
          <a:xfrm>
            <a:off x="742950" y="2590800"/>
            <a:ext cx="391668" cy="28575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a:t>
            </a:r>
            <a:endParaRPr lang="en-US" sz="938" dirty="0"/>
          </a:p>
        </p:txBody>
      </p:sp>
      <p:sp>
        <p:nvSpPr>
          <p:cNvPr id="13" name="Text 11"/>
          <p:cNvSpPr txBox="1"/>
          <p:nvPr/>
        </p:nvSpPr>
        <p:spPr>
          <a:xfrm>
            <a:off x="1401318" y="2590800"/>
            <a:ext cx="5439156" cy="28575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결함</a:t>
            </a:r>
            <a:endParaRPr lang="en-US" sz="938" dirty="0"/>
          </a:p>
        </p:txBody>
      </p:sp>
      <p:sp>
        <p:nvSpPr>
          <p:cNvPr id="14" name="Text 12"/>
          <p:cNvSpPr txBox="1"/>
          <p:nvPr/>
        </p:nvSpPr>
        <p:spPr>
          <a:xfrm>
            <a:off x="7107174" y="2590800"/>
            <a:ext cx="4341876" cy="28575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개선안</a:t>
            </a:r>
            <a:endParaRPr lang="en-US" sz="938" dirty="0"/>
          </a:p>
        </p:txBody>
      </p:sp>
      <p:sp>
        <p:nvSpPr>
          <p:cNvPr id="15" name="Text 13"/>
          <p:cNvSpPr txBox="1"/>
          <p:nvPr/>
        </p:nvSpPr>
        <p:spPr>
          <a:xfrm>
            <a:off x="742950" y="28765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1</a:t>
            </a:r>
            <a:endParaRPr lang="en-US" sz="1013" dirty="0"/>
          </a:p>
        </p:txBody>
      </p:sp>
      <p:sp>
        <p:nvSpPr>
          <p:cNvPr id="16" name="Text 14"/>
          <p:cNvSpPr txBox="1"/>
          <p:nvPr/>
        </p:nvSpPr>
        <p:spPr>
          <a:xfrm>
            <a:off x="1401318" y="28765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최하위 1종목 강제 탈락 (h &lt; 1)</a:t>
            </a:r>
            <a:endParaRPr lang="en-US" sz="1013" dirty="0"/>
          </a:p>
        </p:txBody>
      </p:sp>
      <p:sp>
        <p:nvSpPr>
          <p:cNvPr id="17" name="Text 15"/>
          <p:cNvSpPr txBox="1"/>
          <p:nvPr/>
        </p:nvSpPr>
        <p:spPr>
          <a:xfrm>
            <a:off x="7107174" y="28765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절대 하한 병용</a:t>
            </a:r>
            <a:endParaRPr lang="en-US" sz="1013" dirty="0"/>
          </a:p>
        </p:txBody>
      </p:sp>
      <p:sp>
        <p:nvSpPr>
          <p:cNvPr id="18" name="Shape 16"/>
          <p:cNvSpPr/>
          <p:nvPr/>
        </p:nvSpPr>
        <p:spPr>
          <a:xfrm>
            <a:off x="742950" y="3143250"/>
            <a:ext cx="10706100" cy="9525"/>
          </a:xfrm>
          <a:prstGeom prst="rect">
            <a:avLst/>
          </a:prstGeom>
          <a:solidFill>
            <a:srgbClr val="EAECF0"/>
          </a:solidFill>
          <a:ln/>
        </p:spPr>
        <p:txBody>
          <a:bodyPr/>
          <a:lstStyle/>
          <a:p>
            <a:endParaRPr lang="ko-KR" altLang="en-US"/>
          </a:p>
        </p:txBody>
      </p:sp>
      <p:sp>
        <p:nvSpPr>
          <p:cNvPr id="19" name="Text 17"/>
          <p:cNvSpPr txBox="1"/>
          <p:nvPr/>
        </p:nvSpPr>
        <p:spPr>
          <a:xfrm>
            <a:off x="742950" y="31432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2</a:t>
            </a:r>
            <a:endParaRPr lang="en-US" sz="1013" dirty="0"/>
          </a:p>
        </p:txBody>
      </p:sp>
      <p:sp>
        <p:nvSpPr>
          <p:cNvPr id="20" name="Text 18"/>
          <p:cNvSpPr txBox="1"/>
          <p:nvPr/>
        </p:nvSpPr>
        <p:spPr>
          <a:xfrm>
            <a:off x="1401318" y="31432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개별종목 상한 없음</a:t>
            </a:r>
            <a:endParaRPr lang="en-US" sz="1013" dirty="0"/>
          </a:p>
        </p:txBody>
      </p:sp>
      <p:sp>
        <p:nvSpPr>
          <p:cNvPr id="21" name="Text 19"/>
          <p:cNvSpPr txBox="1"/>
          <p:nvPr/>
        </p:nvSpPr>
        <p:spPr>
          <a:xfrm>
            <a:off x="7107174" y="31432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상한 + 초과분 재배분</a:t>
            </a:r>
            <a:endParaRPr lang="en-US" sz="1013" dirty="0"/>
          </a:p>
        </p:txBody>
      </p:sp>
      <p:sp>
        <p:nvSpPr>
          <p:cNvPr id="22" name="Shape 20"/>
          <p:cNvSpPr/>
          <p:nvPr/>
        </p:nvSpPr>
        <p:spPr>
          <a:xfrm>
            <a:off x="742950" y="3409950"/>
            <a:ext cx="10706100" cy="9525"/>
          </a:xfrm>
          <a:prstGeom prst="rect">
            <a:avLst/>
          </a:prstGeom>
          <a:solidFill>
            <a:srgbClr val="EAECF0"/>
          </a:solidFill>
          <a:ln/>
        </p:spPr>
        <p:txBody>
          <a:bodyPr/>
          <a:lstStyle/>
          <a:p>
            <a:endParaRPr lang="ko-KR" altLang="en-US"/>
          </a:p>
        </p:txBody>
      </p:sp>
      <p:sp>
        <p:nvSpPr>
          <p:cNvPr id="23" name="Text 21"/>
          <p:cNvSpPr txBox="1"/>
          <p:nvPr/>
        </p:nvSpPr>
        <p:spPr>
          <a:xfrm>
            <a:off x="742950" y="34099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3</a:t>
            </a:r>
            <a:endParaRPr lang="en-US" sz="1013" dirty="0"/>
          </a:p>
        </p:txBody>
      </p:sp>
      <p:sp>
        <p:nvSpPr>
          <p:cNvPr id="24" name="Text 22"/>
          <p:cNvSpPr txBox="1"/>
          <p:nvPr/>
        </p:nvSpPr>
        <p:spPr>
          <a:xfrm>
            <a:off x="1401318" y="34099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셀 최소 종목수 없음</a:t>
            </a:r>
            <a:endParaRPr lang="en-US" sz="1013" dirty="0"/>
          </a:p>
        </p:txBody>
      </p:sp>
      <p:sp>
        <p:nvSpPr>
          <p:cNvPr id="25" name="Text 23"/>
          <p:cNvSpPr txBox="1"/>
          <p:nvPr/>
        </p:nvSpPr>
        <p:spPr>
          <a:xfrm>
            <a:off x="7107174" y="34099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최소 2종목</a:t>
            </a:r>
            <a:endParaRPr lang="en-US" sz="1013" dirty="0"/>
          </a:p>
        </p:txBody>
      </p:sp>
      <p:sp>
        <p:nvSpPr>
          <p:cNvPr id="26" name="Shape 24"/>
          <p:cNvSpPr/>
          <p:nvPr/>
        </p:nvSpPr>
        <p:spPr>
          <a:xfrm>
            <a:off x="742950" y="3676650"/>
            <a:ext cx="10706100" cy="9525"/>
          </a:xfrm>
          <a:prstGeom prst="rect">
            <a:avLst/>
          </a:prstGeom>
          <a:solidFill>
            <a:srgbClr val="EAECF0"/>
          </a:solidFill>
          <a:ln/>
        </p:spPr>
        <p:txBody>
          <a:bodyPr/>
          <a:lstStyle/>
          <a:p>
            <a:endParaRPr lang="ko-KR" altLang="en-US"/>
          </a:p>
        </p:txBody>
      </p:sp>
      <p:sp>
        <p:nvSpPr>
          <p:cNvPr id="27" name="Text 25"/>
          <p:cNvSpPr txBox="1"/>
          <p:nvPr/>
        </p:nvSpPr>
        <p:spPr>
          <a:xfrm>
            <a:off x="742950" y="36766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4</a:t>
            </a:r>
            <a:endParaRPr lang="en-US" sz="1013" dirty="0"/>
          </a:p>
        </p:txBody>
      </p:sp>
      <p:sp>
        <p:nvSpPr>
          <p:cNvPr id="28" name="Text 26"/>
          <p:cNvSpPr txBox="1"/>
          <p:nvPr/>
        </p:nvSpPr>
        <p:spPr>
          <a:xfrm>
            <a:off x="1401318" y="36766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수시변경 규칙 없음</a:t>
            </a:r>
            <a:endParaRPr lang="en-US" sz="1013" dirty="0"/>
          </a:p>
        </p:txBody>
      </p:sp>
      <p:sp>
        <p:nvSpPr>
          <p:cNvPr id="29" name="Text 27"/>
          <p:cNvSpPr txBox="1"/>
          <p:nvPr/>
        </p:nvSpPr>
        <p:spPr>
          <a:xfrm>
            <a:off x="7107174" y="36766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안건 G</a:t>
            </a:r>
            <a:endParaRPr lang="en-US" sz="1013" dirty="0"/>
          </a:p>
        </p:txBody>
      </p:sp>
      <p:sp>
        <p:nvSpPr>
          <p:cNvPr id="30" name="Shape 28"/>
          <p:cNvSpPr/>
          <p:nvPr/>
        </p:nvSpPr>
        <p:spPr>
          <a:xfrm>
            <a:off x="742950" y="3943350"/>
            <a:ext cx="10706100" cy="9525"/>
          </a:xfrm>
          <a:prstGeom prst="rect">
            <a:avLst/>
          </a:prstGeom>
          <a:solidFill>
            <a:srgbClr val="EAECF0"/>
          </a:solidFill>
          <a:ln/>
        </p:spPr>
        <p:txBody>
          <a:bodyPr/>
          <a:lstStyle/>
          <a:p>
            <a:endParaRPr lang="ko-KR" altLang="en-US"/>
          </a:p>
        </p:txBody>
      </p:sp>
      <p:sp>
        <p:nvSpPr>
          <p:cNvPr id="31" name="Text 29"/>
          <p:cNvSpPr txBox="1"/>
          <p:nvPr/>
        </p:nvSpPr>
        <p:spPr>
          <a:xfrm>
            <a:off x="742950" y="39433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5</a:t>
            </a:r>
            <a:endParaRPr lang="en-US" sz="1013" dirty="0"/>
          </a:p>
        </p:txBody>
      </p:sp>
      <p:sp>
        <p:nvSpPr>
          <p:cNvPr id="32" name="Text 30"/>
          <p:cNvSpPr txBox="1"/>
          <p:nvPr/>
        </p:nvSpPr>
        <p:spPr>
          <a:xfrm>
            <a:off x="1401318" y="39433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재무 게이트 미구현</a:t>
            </a:r>
            <a:endParaRPr lang="en-US" sz="1013" dirty="0"/>
          </a:p>
        </p:txBody>
      </p:sp>
      <p:sp>
        <p:nvSpPr>
          <p:cNvPr id="33" name="Text 31"/>
          <p:cNvSpPr txBox="1"/>
          <p:nvPr/>
        </p:nvSpPr>
        <p:spPr>
          <a:xfrm>
            <a:off x="7107174" y="39433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안건 F</a:t>
            </a:r>
            <a:endParaRPr lang="en-US" sz="1013" dirty="0"/>
          </a:p>
        </p:txBody>
      </p:sp>
      <p:sp>
        <p:nvSpPr>
          <p:cNvPr id="34" name="Shape 32"/>
          <p:cNvSpPr/>
          <p:nvPr/>
        </p:nvSpPr>
        <p:spPr>
          <a:xfrm>
            <a:off x="742950" y="4210050"/>
            <a:ext cx="10706100" cy="9525"/>
          </a:xfrm>
          <a:prstGeom prst="rect">
            <a:avLst/>
          </a:prstGeom>
          <a:solidFill>
            <a:srgbClr val="EAECF0"/>
          </a:solidFill>
          <a:ln/>
        </p:spPr>
        <p:txBody>
          <a:bodyPr/>
          <a:lstStyle/>
          <a:p>
            <a:endParaRPr lang="ko-KR" altLang="en-US"/>
          </a:p>
        </p:txBody>
      </p:sp>
      <p:sp>
        <p:nvSpPr>
          <p:cNvPr id="35" name="Text 33"/>
          <p:cNvSpPr txBox="1"/>
          <p:nvPr/>
        </p:nvSpPr>
        <p:spPr>
          <a:xfrm>
            <a:off x="742950" y="42100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6</a:t>
            </a:r>
            <a:endParaRPr lang="en-US" sz="1013" dirty="0"/>
          </a:p>
        </p:txBody>
      </p:sp>
      <p:sp>
        <p:nvSpPr>
          <p:cNvPr id="36" name="Text 34"/>
          <p:cNvSpPr txBox="1"/>
          <p:nvPr/>
        </p:nvSpPr>
        <p:spPr>
          <a:xfrm>
            <a:off x="1401318" y="42100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테마 판정 기준 미명문</a:t>
            </a:r>
            <a:endParaRPr lang="en-US" sz="1013" dirty="0"/>
          </a:p>
        </p:txBody>
      </p:sp>
      <p:sp>
        <p:nvSpPr>
          <p:cNvPr id="37" name="Text 35"/>
          <p:cNvSpPr txBox="1"/>
          <p:nvPr/>
        </p:nvSpPr>
        <p:spPr>
          <a:xfrm>
            <a:off x="7107174" y="42100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안건 D</a:t>
            </a:r>
            <a:endParaRPr lang="en-US" sz="1013" dirty="0"/>
          </a:p>
        </p:txBody>
      </p:sp>
      <p:sp>
        <p:nvSpPr>
          <p:cNvPr id="38" name="Shape 36"/>
          <p:cNvSpPr/>
          <p:nvPr/>
        </p:nvSpPr>
        <p:spPr>
          <a:xfrm>
            <a:off x="742950" y="4476750"/>
            <a:ext cx="10706100" cy="9525"/>
          </a:xfrm>
          <a:prstGeom prst="rect">
            <a:avLst/>
          </a:prstGeom>
          <a:solidFill>
            <a:srgbClr val="EAECF0"/>
          </a:solidFill>
          <a:ln/>
        </p:spPr>
        <p:txBody>
          <a:bodyPr/>
          <a:lstStyle/>
          <a:p>
            <a:endParaRPr lang="ko-KR" altLang="en-US"/>
          </a:p>
        </p:txBody>
      </p:sp>
      <p:sp>
        <p:nvSpPr>
          <p:cNvPr id="39" name="Text 37"/>
          <p:cNvSpPr txBox="1"/>
          <p:nvPr/>
        </p:nvSpPr>
        <p:spPr>
          <a:xfrm>
            <a:off x="742950" y="44767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7</a:t>
            </a:r>
            <a:endParaRPr lang="en-US" sz="1013" dirty="0"/>
          </a:p>
        </p:txBody>
      </p:sp>
      <p:sp>
        <p:nvSpPr>
          <p:cNvPr id="40" name="Text 38"/>
          <p:cNvSpPr txBox="1"/>
          <p:nvPr/>
        </p:nvSpPr>
        <p:spPr>
          <a:xfrm>
            <a:off x="1401318" y="44767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편입 0개 시 엔진 크래시</a:t>
            </a:r>
            <a:endParaRPr lang="en-US" sz="1013" dirty="0"/>
          </a:p>
        </p:txBody>
      </p:sp>
      <p:sp>
        <p:nvSpPr>
          <p:cNvPr id="41" name="Text 39"/>
          <p:cNvSpPr txBox="1"/>
          <p:nvPr/>
        </p:nvSpPr>
        <p:spPr>
          <a:xfrm>
            <a:off x="7107174" y="44767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빈 케이스 처리</a:t>
            </a:r>
            <a:endParaRPr lang="en-US" sz="1013" dirty="0"/>
          </a:p>
        </p:txBody>
      </p:sp>
      <p:sp>
        <p:nvSpPr>
          <p:cNvPr id="42" name="Shape 40"/>
          <p:cNvSpPr/>
          <p:nvPr/>
        </p:nvSpPr>
        <p:spPr>
          <a:xfrm>
            <a:off x="742950" y="4743450"/>
            <a:ext cx="10706100" cy="9525"/>
          </a:xfrm>
          <a:prstGeom prst="rect">
            <a:avLst/>
          </a:prstGeom>
          <a:solidFill>
            <a:srgbClr val="EAECF0"/>
          </a:solidFill>
          <a:ln/>
        </p:spPr>
        <p:txBody>
          <a:bodyPr/>
          <a:lstStyle/>
          <a:p>
            <a:endParaRPr lang="ko-KR" altLang="en-US"/>
          </a:p>
        </p:txBody>
      </p:sp>
      <p:sp>
        <p:nvSpPr>
          <p:cNvPr id="43" name="Text 41"/>
          <p:cNvSpPr txBox="1"/>
          <p:nvPr/>
        </p:nvSpPr>
        <p:spPr>
          <a:xfrm>
            <a:off x="742950" y="47434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8</a:t>
            </a:r>
            <a:endParaRPr lang="en-US" sz="1013" dirty="0"/>
          </a:p>
        </p:txBody>
      </p:sp>
      <p:sp>
        <p:nvSpPr>
          <p:cNvPr id="44" name="Text 42"/>
          <p:cNvSpPr txBox="1"/>
          <p:nvPr/>
        </p:nvSpPr>
        <p:spPr>
          <a:xfrm>
            <a:off x="1401318" y="47434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백분위 보간 방법 조문 없음</a:t>
            </a:r>
            <a:endParaRPr lang="en-US" sz="1013" dirty="0"/>
          </a:p>
        </p:txBody>
      </p:sp>
      <p:sp>
        <p:nvSpPr>
          <p:cNvPr id="45" name="Text 43"/>
          <p:cNvSpPr txBox="1"/>
          <p:nvPr/>
        </p:nvSpPr>
        <p:spPr>
          <a:xfrm>
            <a:off x="7107174" y="47434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데이터사전 명문화</a:t>
            </a:r>
            <a:endParaRPr lang="en-US" sz="1013" dirty="0"/>
          </a:p>
        </p:txBody>
      </p:sp>
      <p:sp>
        <p:nvSpPr>
          <p:cNvPr id="46" name="Shape 44"/>
          <p:cNvSpPr/>
          <p:nvPr/>
        </p:nvSpPr>
        <p:spPr>
          <a:xfrm>
            <a:off x="742950" y="5010150"/>
            <a:ext cx="10706100" cy="9525"/>
          </a:xfrm>
          <a:prstGeom prst="rect">
            <a:avLst/>
          </a:prstGeom>
          <a:solidFill>
            <a:srgbClr val="EAECF0"/>
          </a:solidFill>
          <a:ln/>
        </p:spPr>
        <p:txBody>
          <a:bodyPr/>
          <a:lstStyle/>
          <a:p>
            <a:endParaRPr lang="ko-KR" altLang="en-US"/>
          </a:p>
        </p:txBody>
      </p:sp>
      <p:sp>
        <p:nvSpPr>
          <p:cNvPr id="47" name="Text 45"/>
          <p:cNvSpPr txBox="1"/>
          <p:nvPr/>
        </p:nvSpPr>
        <p:spPr>
          <a:xfrm>
            <a:off x="742950" y="50101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9</a:t>
            </a:r>
            <a:endParaRPr lang="en-US" sz="1013" dirty="0"/>
          </a:p>
        </p:txBody>
      </p:sp>
      <p:sp>
        <p:nvSpPr>
          <p:cNvPr id="48" name="Text 46"/>
          <p:cNvSpPr txBox="1"/>
          <p:nvPr/>
        </p:nvSpPr>
        <p:spPr>
          <a:xfrm>
            <a:off x="1401318" y="50101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수집 창 &lt; 산출 창</a:t>
            </a:r>
            <a:endParaRPr lang="en-US" sz="1013" dirty="0"/>
          </a:p>
        </p:txBody>
      </p:sp>
      <p:sp>
        <p:nvSpPr>
          <p:cNvPr id="49" name="Text 47"/>
          <p:cNvSpPr txBox="1"/>
          <p:nvPr/>
        </p:nvSpPr>
        <p:spPr>
          <a:xfrm>
            <a:off x="7107174" y="50101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규칙 명문화</a:t>
            </a:r>
            <a:endParaRPr lang="en-US" sz="1013" dirty="0"/>
          </a:p>
        </p:txBody>
      </p:sp>
      <p:sp>
        <p:nvSpPr>
          <p:cNvPr id="50" name="Shape 48"/>
          <p:cNvSpPr/>
          <p:nvPr/>
        </p:nvSpPr>
        <p:spPr>
          <a:xfrm>
            <a:off x="742950" y="5276850"/>
            <a:ext cx="10706100" cy="9525"/>
          </a:xfrm>
          <a:prstGeom prst="rect">
            <a:avLst/>
          </a:prstGeom>
          <a:solidFill>
            <a:srgbClr val="EAECF0"/>
          </a:solidFill>
          <a:ln/>
        </p:spPr>
        <p:txBody>
          <a:bodyPr/>
          <a:lstStyle/>
          <a:p>
            <a:endParaRPr lang="ko-KR" altLang="en-US"/>
          </a:p>
        </p:txBody>
      </p:sp>
      <p:sp>
        <p:nvSpPr>
          <p:cNvPr id="51" name="Text 49"/>
          <p:cNvSpPr txBox="1"/>
          <p:nvPr/>
        </p:nvSpPr>
        <p:spPr>
          <a:xfrm>
            <a:off x="742950" y="5276850"/>
            <a:ext cx="391668"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10</a:t>
            </a:r>
            <a:endParaRPr lang="en-US" sz="1013" dirty="0"/>
          </a:p>
        </p:txBody>
      </p:sp>
      <p:sp>
        <p:nvSpPr>
          <p:cNvPr id="52" name="Text 50"/>
          <p:cNvSpPr txBox="1"/>
          <p:nvPr/>
        </p:nvSpPr>
        <p:spPr>
          <a:xfrm>
            <a:off x="1401318" y="5276850"/>
            <a:ext cx="543915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ADTV90_nan 미정의 코드 생성</a:t>
            </a:r>
            <a:endParaRPr lang="en-US" sz="1013" dirty="0"/>
          </a:p>
        </p:txBody>
      </p:sp>
      <p:sp>
        <p:nvSpPr>
          <p:cNvPr id="53" name="Text 51"/>
          <p:cNvSpPr txBox="1"/>
          <p:nvPr/>
        </p:nvSpPr>
        <p:spPr>
          <a:xfrm>
            <a:off x="7107174" y="5276850"/>
            <a:ext cx="4341876" cy="2667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NaN 가드</a:t>
            </a:r>
            <a:endParaRPr lang="en-US" sz="1013" dirty="0"/>
          </a:p>
        </p:txBody>
      </p:sp>
      <p:sp>
        <p:nvSpPr>
          <p:cNvPr id="54" name="Shape 52"/>
          <p:cNvSpPr/>
          <p:nvPr/>
        </p:nvSpPr>
        <p:spPr>
          <a:xfrm>
            <a:off x="609600" y="5676900"/>
            <a:ext cx="10972800" cy="457200"/>
          </a:xfrm>
          <a:prstGeom prst="roundRect">
            <a:avLst>
              <a:gd name="adj" fmla="val 25000"/>
            </a:avLst>
          </a:prstGeom>
          <a:solidFill>
            <a:srgbClr val="FFF4EC"/>
          </a:solidFill>
          <a:ln/>
        </p:spPr>
        <p:txBody>
          <a:bodyPr/>
          <a:lstStyle/>
          <a:p>
            <a:endParaRPr lang="ko-KR" altLang="en-US"/>
          </a:p>
        </p:txBody>
      </p:sp>
      <p:sp>
        <p:nvSpPr>
          <p:cNvPr id="55" name="Text 53"/>
          <p:cNvSpPr txBox="1"/>
          <p:nvPr/>
        </p:nvSpPr>
        <p:spPr>
          <a:xfrm>
            <a:off x="838200" y="5676900"/>
            <a:ext cx="10515600" cy="457200"/>
          </a:xfrm>
          <a:prstGeom prst="rect">
            <a:avLst/>
          </a:prstGeom>
          <a:noFill/>
          <a:ln/>
        </p:spPr>
        <p:txBody>
          <a:bodyPr wrap="square" lIns="0" tIns="0" rIns="0" bIns="0" rtlCol="0" anchor="ctr"/>
          <a:lstStyle/>
          <a:p>
            <a:pPr marL="0" indent="0" algn="l">
              <a:lnSpc>
                <a:spcPct val="130000"/>
              </a:lnSpc>
              <a:buNone/>
            </a:pPr>
            <a:r>
              <a:rPr lang="en-US" sz="1200" b="1" dirty="0">
                <a:solidFill>
                  <a:srgbClr val="C23B14"/>
                </a:solidFill>
                <a:latin typeface="Malgun Gothic" pitchFamily="34" charset="0"/>
                <a:ea typeface="Malgun Gothic" pitchFamily="34" charset="-122"/>
                <a:cs typeface="Malgun Gothic" pitchFamily="34" charset="-120"/>
              </a:rPr>
              <a:t>결함을 찾은 것이 성과를 본 뒤였습니다 — 그래서 고치지 않고 기록만 남겼습니다 (R3)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미결 안건</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무엇이 아직 정해지지 않았는지 명시적으로 남깁니다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A6</a:t>
            </a:r>
            <a:endParaRPr lang="en-US" sz="900" dirty="0"/>
          </a:p>
        </p:txBody>
      </p:sp>
      <p:sp>
        <p:nvSpPr>
          <p:cNvPr id="9" name="Shape 7"/>
          <p:cNvSpPr/>
          <p:nvPr/>
        </p:nvSpPr>
        <p:spPr>
          <a:xfrm>
            <a:off x="609600" y="2590800"/>
            <a:ext cx="10972800" cy="2838450"/>
          </a:xfrm>
          <a:prstGeom prst="roundRect">
            <a:avLst>
              <a:gd name="adj" fmla="val 2685"/>
            </a:avLst>
          </a:prstGeom>
          <a:solidFill>
            <a:srgbClr val="FFFFFF"/>
          </a:solidFill>
          <a:ln w="12700">
            <a:solidFill>
              <a:srgbClr val="E5E7EB"/>
            </a:solidFill>
            <a:prstDash val="solid"/>
          </a:ln>
        </p:spPr>
        <p:txBody>
          <a:bodyPr/>
          <a:lstStyle/>
          <a:p>
            <a:endParaRPr lang="ko-KR" altLang="en-US"/>
          </a:p>
        </p:txBody>
      </p:sp>
      <p:sp>
        <p:nvSpPr>
          <p:cNvPr id="10" name="Shape 8"/>
          <p:cNvSpPr/>
          <p:nvPr/>
        </p:nvSpPr>
        <p:spPr>
          <a:xfrm>
            <a:off x="609600" y="2590800"/>
            <a:ext cx="10972800" cy="323850"/>
          </a:xfrm>
          <a:prstGeom prst="rect">
            <a:avLst/>
          </a:prstGeom>
          <a:solidFill>
            <a:srgbClr val="F7F8FA"/>
          </a:solidFill>
          <a:ln/>
        </p:spPr>
        <p:txBody>
          <a:bodyPr/>
          <a:lstStyle/>
          <a:p>
            <a:endParaRPr lang="ko-KR" altLang="en-US"/>
          </a:p>
        </p:txBody>
      </p:sp>
      <p:sp>
        <p:nvSpPr>
          <p:cNvPr id="11" name="Shape 9"/>
          <p:cNvSpPr/>
          <p:nvPr/>
        </p:nvSpPr>
        <p:spPr>
          <a:xfrm>
            <a:off x="609600" y="2914650"/>
            <a:ext cx="10972800" cy="9525"/>
          </a:xfrm>
          <a:prstGeom prst="rect">
            <a:avLst/>
          </a:prstGeom>
          <a:solidFill>
            <a:srgbClr val="E5E7EB"/>
          </a:solidFill>
          <a:ln/>
        </p:spPr>
        <p:txBody>
          <a:bodyPr/>
          <a:lstStyle/>
          <a:p>
            <a:endParaRPr lang="ko-KR" altLang="en-US"/>
          </a:p>
        </p:txBody>
      </p:sp>
      <p:sp>
        <p:nvSpPr>
          <p:cNvPr id="12" name="Text 10"/>
          <p:cNvSpPr txBox="1"/>
          <p:nvPr/>
        </p:nvSpPr>
        <p:spPr>
          <a:xfrm>
            <a:off x="742950" y="2590800"/>
            <a:ext cx="720852" cy="32385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안건</a:t>
            </a:r>
            <a:endParaRPr lang="en-US" sz="938" dirty="0"/>
          </a:p>
        </p:txBody>
      </p:sp>
      <p:sp>
        <p:nvSpPr>
          <p:cNvPr id="13" name="Text 11"/>
          <p:cNvSpPr txBox="1"/>
          <p:nvPr/>
        </p:nvSpPr>
        <p:spPr>
          <a:xfrm>
            <a:off x="1730502" y="2590800"/>
            <a:ext cx="5548884" cy="32385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내용</a:t>
            </a:r>
            <a:endParaRPr lang="en-US" sz="938" dirty="0"/>
          </a:p>
        </p:txBody>
      </p:sp>
      <p:sp>
        <p:nvSpPr>
          <p:cNvPr id="14" name="Text 12"/>
          <p:cNvSpPr txBox="1"/>
          <p:nvPr/>
        </p:nvSpPr>
        <p:spPr>
          <a:xfrm>
            <a:off x="7546086" y="2590800"/>
            <a:ext cx="3902964" cy="32385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영향</a:t>
            </a:r>
            <a:endParaRPr lang="en-US" sz="938" dirty="0"/>
          </a:p>
        </p:txBody>
      </p:sp>
      <p:sp>
        <p:nvSpPr>
          <p:cNvPr id="15" name="Text 13"/>
          <p:cNvSpPr txBox="1"/>
          <p:nvPr/>
        </p:nvSpPr>
        <p:spPr>
          <a:xfrm>
            <a:off x="742950" y="2914650"/>
            <a:ext cx="720852"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A</a:t>
            </a:r>
            <a:endParaRPr lang="en-US" sz="1050" dirty="0"/>
          </a:p>
        </p:txBody>
      </p:sp>
      <p:sp>
        <p:nvSpPr>
          <p:cNvPr id="16" name="Text 14"/>
          <p:cNvSpPr txBox="1"/>
          <p:nvPr/>
        </p:nvSpPr>
        <p:spPr>
          <a:xfrm>
            <a:off x="1730502" y="2914650"/>
            <a:ext cx="554888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MACD 인정 여부</a:t>
            </a:r>
            <a:endParaRPr lang="en-US" sz="1050" dirty="0"/>
          </a:p>
        </p:txBody>
      </p:sp>
      <p:sp>
        <p:nvSpPr>
          <p:cNvPr id="17" name="Text 15"/>
          <p:cNvSpPr txBox="1"/>
          <p:nvPr/>
        </p:nvSpPr>
        <p:spPr>
          <a:xfrm>
            <a:off x="7546086" y="2914650"/>
            <a:ext cx="390296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강사 확인 대기</a:t>
            </a:r>
            <a:endParaRPr lang="en-US" sz="1050" dirty="0"/>
          </a:p>
        </p:txBody>
      </p:sp>
      <p:sp>
        <p:nvSpPr>
          <p:cNvPr id="18" name="Shape 16"/>
          <p:cNvSpPr/>
          <p:nvPr/>
        </p:nvSpPr>
        <p:spPr>
          <a:xfrm>
            <a:off x="742950" y="3333750"/>
            <a:ext cx="10706100" cy="9525"/>
          </a:xfrm>
          <a:prstGeom prst="rect">
            <a:avLst/>
          </a:prstGeom>
          <a:solidFill>
            <a:srgbClr val="EAECF0"/>
          </a:solidFill>
          <a:ln/>
        </p:spPr>
        <p:txBody>
          <a:bodyPr/>
          <a:lstStyle/>
          <a:p>
            <a:endParaRPr lang="ko-KR" altLang="en-US"/>
          </a:p>
        </p:txBody>
      </p:sp>
      <p:sp>
        <p:nvSpPr>
          <p:cNvPr id="19" name="Text 17"/>
          <p:cNvSpPr txBox="1"/>
          <p:nvPr/>
        </p:nvSpPr>
        <p:spPr>
          <a:xfrm>
            <a:off x="742950" y="3333750"/>
            <a:ext cx="720852"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B</a:t>
            </a:r>
            <a:endParaRPr lang="en-US" sz="1050" dirty="0"/>
          </a:p>
        </p:txBody>
      </p:sp>
      <p:sp>
        <p:nvSpPr>
          <p:cNvPr id="20" name="Text 18"/>
          <p:cNvSpPr txBox="1"/>
          <p:nvPr/>
        </p:nvSpPr>
        <p:spPr>
          <a:xfrm>
            <a:off x="1730502" y="3333750"/>
            <a:ext cx="554888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과거 상장상태 원출처</a:t>
            </a:r>
            <a:endParaRPr lang="en-US" sz="1050" dirty="0"/>
          </a:p>
        </p:txBody>
      </p:sp>
      <p:sp>
        <p:nvSpPr>
          <p:cNvPr id="21" name="Text 19"/>
          <p:cNvSpPr txBox="1"/>
          <p:nvPr/>
        </p:nvSpPr>
        <p:spPr>
          <a:xfrm>
            <a:off x="7546086" y="3333750"/>
            <a:ext cx="390296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전체시장 유니버스의 전제</a:t>
            </a:r>
            <a:endParaRPr lang="en-US" sz="1050" dirty="0"/>
          </a:p>
        </p:txBody>
      </p:sp>
      <p:sp>
        <p:nvSpPr>
          <p:cNvPr id="22" name="Shape 20"/>
          <p:cNvSpPr/>
          <p:nvPr/>
        </p:nvSpPr>
        <p:spPr>
          <a:xfrm>
            <a:off x="742950" y="3752850"/>
            <a:ext cx="10706100" cy="9525"/>
          </a:xfrm>
          <a:prstGeom prst="rect">
            <a:avLst/>
          </a:prstGeom>
          <a:solidFill>
            <a:srgbClr val="EAECF0"/>
          </a:solidFill>
          <a:ln/>
        </p:spPr>
        <p:txBody>
          <a:bodyPr/>
          <a:lstStyle/>
          <a:p>
            <a:endParaRPr lang="ko-KR" altLang="en-US"/>
          </a:p>
        </p:txBody>
      </p:sp>
      <p:sp>
        <p:nvSpPr>
          <p:cNvPr id="23" name="Text 21"/>
          <p:cNvSpPr txBox="1"/>
          <p:nvPr/>
        </p:nvSpPr>
        <p:spPr>
          <a:xfrm>
            <a:off x="742950" y="3752850"/>
            <a:ext cx="720852"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D</a:t>
            </a:r>
            <a:endParaRPr lang="en-US" sz="1050" dirty="0"/>
          </a:p>
        </p:txBody>
      </p:sp>
      <p:sp>
        <p:nvSpPr>
          <p:cNvPr id="24" name="Text 22"/>
          <p:cNvSpPr txBox="1"/>
          <p:nvPr/>
        </p:nvSpPr>
        <p:spPr>
          <a:xfrm>
            <a:off x="1730502" y="3752850"/>
            <a:ext cx="554888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테마 범위표 내용 작성</a:t>
            </a:r>
            <a:endParaRPr lang="en-US" sz="1050" dirty="0"/>
          </a:p>
        </p:txBody>
      </p:sp>
      <p:sp>
        <p:nvSpPr>
          <p:cNvPr id="25" name="Text 23"/>
          <p:cNvSpPr txBox="1"/>
          <p:nvPr/>
        </p:nvSpPr>
        <p:spPr>
          <a:xfrm>
            <a:off x="7546086" y="3752850"/>
            <a:ext cx="390296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① 테마 게이트 기준</a:t>
            </a:r>
            <a:endParaRPr lang="en-US" sz="1050" dirty="0"/>
          </a:p>
        </p:txBody>
      </p:sp>
      <p:sp>
        <p:nvSpPr>
          <p:cNvPr id="26" name="Shape 24"/>
          <p:cNvSpPr/>
          <p:nvPr/>
        </p:nvSpPr>
        <p:spPr>
          <a:xfrm>
            <a:off x="742950" y="4171950"/>
            <a:ext cx="10706100" cy="9525"/>
          </a:xfrm>
          <a:prstGeom prst="rect">
            <a:avLst/>
          </a:prstGeom>
          <a:solidFill>
            <a:srgbClr val="EAECF0"/>
          </a:solidFill>
          <a:ln/>
        </p:spPr>
        <p:txBody>
          <a:bodyPr/>
          <a:lstStyle/>
          <a:p>
            <a:endParaRPr lang="ko-KR" altLang="en-US"/>
          </a:p>
        </p:txBody>
      </p:sp>
      <p:sp>
        <p:nvSpPr>
          <p:cNvPr id="27" name="Text 25"/>
          <p:cNvSpPr txBox="1"/>
          <p:nvPr/>
        </p:nvSpPr>
        <p:spPr>
          <a:xfrm>
            <a:off x="742950" y="4171950"/>
            <a:ext cx="720852"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F</a:t>
            </a:r>
            <a:endParaRPr lang="en-US" sz="1050" dirty="0"/>
          </a:p>
        </p:txBody>
      </p:sp>
      <p:sp>
        <p:nvSpPr>
          <p:cNvPr id="28" name="Text 26"/>
          <p:cNvSpPr txBox="1"/>
          <p:nvPr/>
        </p:nvSpPr>
        <p:spPr>
          <a:xfrm>
            <a:off x="1730502" y="4171950"/>
            <a:ext cx="554888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ADTV90 절대하한 · 당좌비율 확인표</a:t>
            </a:r>
            <a:endParaRPr lang="en-US" sz="1050" dirty="0"/>
          </a:p>
        </p:txBody>
      </p:sp>
      <p:sp>
        <p:nvSpPr>
          <p:cNvPr id="29" name="Text 27"/>
          <p:cNvSpPr txBox="1"/>
          <p:nvPr/>
        </p:nvSpPr>
        <p:spPr>
          <a:xfrm>
            <a:off x="7546086" y="4171950"/>
            <a:ext cx="390296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③ 유동성 · ④ 재무 게이트</a:t>
            </a:r>
            <a:endParaRPr lang="en-US" sz="1050" dirty="0"/>
          </a:p>
        </p:txBody>
      </p:sp>
      <p:sp>
        <p:nvSpPr>
          <p:cNvPr id="30" name="Shape 28"/>
          <p:cNvSpPr/>
          <p:nvPr/>
        </p:nvSpPr>
        <p:spPr>
          <a:xfrm>
            <a:off x="742950" y="4591050"/>
            <a:ext cx="10706100" cy="9525"/>
          </a:xfrm>
          <a:prstGeom prst="rect">
            <a:avLst/>
          </a:prstGeom>
          <a:solidFill>
            <a:srgbClr val="EAECF0"/>
          </a:solidFill>
          <a:ln/>
        </p:spPr>
        <p:txBody>
          <a:bodyPr/>
          <a:lstStyle/>
          <a:p>
            <a:endParaRPr lang="ko-KR" altLang="en-US"/>
          </a:p>
        </p:txBody>
      </p:sp>
      <p:sp>
        <p:nvSpPr>
          <p:cNvPr id="31" name="Text 29"/>
          <p:cNvSpPr txBox="1"/>
          <p:nvPr/>
        </p:nvSpPr>
        <p:spPr>
          <a:xfrm>
            <a:off x="742950" y="4591050"/>
            <a:ext cx="720852"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G</a:t>
            </a:r>
            <a:endParaRPr lang="en-US" sz="1050" dirty="0"/>
          </a:p>
        </p:txBody>
      </p:sp>
      <p:sp>
        <p:nvSpPr>
          <p:cNvPr id="32" name="Text 30"/>
          <p:cNvSpPr txBox="1"/>
          <p:nvPr/>
        </p:nvSpPr>
        <p:spPr>
          <a:xfrm>
            <a:off x="1730502" y="4591050"/>
            <a:ext cx="554888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셀 최소 N · 수시변경 · 예외절차</a:t>
            </a:r>
            <a:endParaRPr lang="en-US" sz="1050" dirty="0"/>
          </a:p>
        </p:txBody>
      </p:sp>
      <p:sp>
        <p:nvSpPr>
          <p:cNvPr id="33" name="Text 31"/>
          <p:cNvSpPr txBox="1"/>
          <p:nvPr/>
        </p:nvSpPr>
        <p:spPr>
          <a:xfrm>
            <a:off x="7546086" y="4591050"/>
            <a:ext cx="390296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구성 예외 처리</a:t>
            </a:r>
            <a:endParaRPr lang="en-US" sz="1050" dirty="0"/>
          </a:p>
        </p:txBody>
      </p:sp>
      <p:sp>
        <p:nvSpPr>
          <p:cNvPr id="34" name="Shape 32"/>
          <p:cNvSpPr/>
          <p:nvPr/>
        </p:nvSpPr>
        <p:spPr>
          <a:xfrm>
            <a:off x="742950" y="5010150"/>
            <a:ext cx="10706100" cy="9525"/>
          </a:xfrm>
          <a:prstGeom prst="rect">
            <a:avLst/>
          </a:prstGeom>
          <a:solidFill>
            <a:srgbClr val="EAECF0"/>
          </a:solidFill>
          <a:ln/>
        </p:spPr>
        <p:txBody>
          <a:bodyPr/>
          <a:lstStyle/>
          <a:p>
            <a:endParaRPr lang="ko-KR" altLang="en-US"/>
          </a:p>
        </p:txBody>
      </p:sp>
      <p:sp>
        <p:nvSpPr>
          <p:cNvPr id="35" name="Text 33"/>
          <p:cNvSpPr txBox="1"/>
          <p:nvPr/>
        </p:nvSpPr>
        <p:spPr>
          <a:xfrm>
            <a:off x="742950" y="5010150"/>
            <a:ext cx="720852"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H</a:t>
            </a:r>
            <a:endParaRPr lang="en-US" sz="1050" dirty="0"/>
          </a:p>
        </p:txBody>
      </p:sp>
      <p:sp>
        <p:nvSpPr>
          <p:cNvPr id="36" name="Text 34"/>
          <p:cNvSpPr txBox="1"/>
          <p:nvPr/>
        </p:nvSpPr>
        <p:spPr>
          <a:xfrm>
            <a:off x="1730502" y="5010150"/>
            <a:ext cx="554888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가중 방식 확정 · 종목/산업 상한</a:t>
            </a:r>
            <a:endParaRPr lang="en-US" sz="1050" dirty="0"/>
          </a:p>
        </p:txBody>
      </p:sp>
      <p:sp>
        <p:nvSpPr>
          <p:cNvPr id="37" name="Text 35"/>
          <p:cNvSpPr txBox="1"/>
          <p:nvPr/>
        </p:nvSpPr>
        <p:spPr>
          <a:xfrm>
            <a:off x="7546086" y="5010150"/>
            <a:ext cx="3902964" cy="419100"/>
          </a:xfrm>
          <a:prstGeom prst="rect">
            <a:avLst/>
          </a:prstGeom>
          <a:noFill/>
          <a:ln/>
        </p:spPr>
        <p:txBody>
          <a:bodyPr wrap="square" lIns="0" tIns="0" rIns="0" bIns="0" rtlCol="0" anchor="ctr"/>
          <a:lstStyle/>
          <a:p>
            <a:pPr marL="0" indent="0" algn="l">
              <a:buNone/>
            </a:pPr>
            <a:r>
              <a:rPr lang="en-US" sz="1050" dirty="0">
                <a:solidFill>
                  <a:srgbClr val="0A0A0A"/>
                </a:solidFill>
                <a:latin typeface="Malgun Gothic" pitchFamily="34" charset="0"/>
                <a:ea typeface="Malgun Gothic" pitchFamily="34" charset="-122"/>
                <a:cs typeface="Malgun Gothic" pitchFamily="34" charset="-120"/>
              </a:rPr>
              <a:t>비중 산출</a:t>
            </a:r>
            <a:endParaRPr lang="en-US" sz="1050" dirty="0"/>
          </a:p>
        </p:txBody>
      </p:sp>
      <p:sp>
        <p:nvSpPr>
          <p:cNvPr id="38" name="Shape 36"/>
          <p:cNvSpPr/>
          <p:nvPr/>
        </p:nvSpPr>
        <p:spPr>
          <a:xfrm>
            <a:off x="609600" y="5581650"/>
            <a:ext cx="10972800" cy="552450"/>
          </a:xfrm>
          <a:prstGeom prst="roundRect">
            <a:avLst>
              <a:gd name="adj" fmla="val 27586"/>
            </a:avLst>
          </a:prstGeom>
          <a:solidFill>
            <a:srgbClr val="F7F8FA"/>
          </a:solidFill>
          <a:ln/>
        </p:spPr>
        <p:txBody>
          <a:bodyPr/>
          <a:lstStyle/>
          <a:p>
            <a:endParaRPr lang="ko-KR" altLang="en-US"/>
          </a:p>
        </p:txBody>
      </p:sp>
      <p:sp>
        <p:nvSpPr>
          <p:cNvPr id="39" name="Text 37"/>
          <p:cNvSpPr txBox="1"/>
          <p:nvPr/>
        </p:nvSpPr>
        <p:spPr>
          <a:xfrm>
            <a:off x="800100" y="5772150"/>
            <a:ext cx="10591800" cy="209550"/>
          </a:xfrm>
          <a:prstGeom prst="rect">
            <a:avLst/>
          </a:prstGeom>
          <a:noFill/>
          <a:ln/>
        </p:spPr>
        <p:txBody>
          <a:bodyPr wrap="square" lIns="0" tIns="0" rIns="0" bIns="0" rtlCol="0" anchor="t"/>
          <a:lstStyle/>
          <a:p>
            <a:pPr marL="0" indent="0">
              <a:lnSpc>
                <a:spcPct val="142000"/>
              </a:lnSpc>
              <a:buNone/>
            </a:pPr>
            <a:r>
              <a:rPr lang="en-US" sz="1125" dirty="0">
                <a:solidFill>
                  <a:srgbClr val="222222"/>
                </a:solidFill>
                <a:latin typeface="Malgun Gothic" pitchFamily="34" charset="0"/>
                <a:ea typeface="Malgun Gothic" pitchFamily="34" charset="-122"/>
                <a:cs typeface="Malgun Gothic" pitchFamily="34" charset="-120"/>
              </a:rPr>
              <a:t>미결 항목은 임의의 숫자로 채우지 않고, 필요한 자료와 담당자를 남긴 상태로 둡니다.</a:t>
            </a:r>
            <a:endParaRPr lang="en-US" sz="112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09600" y="323850"/>
            <a:ext cx="2857500" cy="247650"/>
          </a:xfrm>
          <a:prstGeom prst="rect">
            <a:avLst/>
          </a:prstGeom>
          <a:noFill/>
          <a:ln/>
        </p:spPr>
        <p:txBody>
          <a:bodyPr wrap="square" lIns="0" tIns="0" rIns="0" bIns="0" rtlCol="0" anchor="ctr"/>
          <a:lstStyle/>
          <a:p>
            <a:pPr marL="0" indent="0">
              <a:buNone/>
            </a:pPr>
            <a:r>
              <a:rPr lang="en-US" sz="1275" b="1" kern="0" spc="-50" dirty="0">
                <a:solidFill>
                  <a:srgbClr val="0A0A0A"/>
                </a:solidFill>
                <a:latin typeface="Malgun Gothic" pitchFamily="34" charset="0"/>
                <a:ea typeface="Malgun Gothic" pitchFamily="34" charset="-122"/>
                <a:cs typeface="Malgun Gothic" pitchFamily="34" charset="-120"/>
              </a:rPr>
              <a:t>AI 퀀트 3기</a:t>
            </a:r>
            <a:endParaRPr lang="en-US" sz="1275" dirty="0"/>
          </a:p>
        </p:txBody>
      </p:sp>
      <p:sp>
        <p:nvSpPr>
          <p:cNvPr id="3" name="Text 1"/>
          <p:cNvSpPr txBox="1"/>
          <p:nvPr/>
        </p:nvSpPr>
        <p:spPr>
          <a:xfrm>
            <a:off x="609600" y="914400"/>
            <a:ext cx="9525000" cy="190500"/>
          </a:xfrm>
          <a:prstGeom prst="rect">
            <a:avLst/>
          </a:prstGeom>
          <a:noFill/>
          <a:ln/>
        </p:spPr>
        <p:txBody>
          <a:bodyPr wrap="square" lIns="0" tIns="0" rIns="0" bIns="0" rtlCol="0" anchor="ctr"/>
          <a:lstStyle/>
          <a:p>
            <a:pPr marL="0" indent="0">
              <a:buNone/>
            </a:pPr>
            <a:r>
              <a:rPr lang="en-US" sz="975" b="1" dirty="0">
                <a:solidFill>
                  <a:srgbClr val="5F5F5F"/>
                </a:solidFill>
                <a:latin typeface="Malgun Gothic" pitchFamily="34" charset="0"/>
                <a:ea typeface="Malgun Gothic" pitchFamily="34" charset="-122"/>
                <a:cs typeface="Malgun Gothic" pitchFamily="34" charset="-120"/>
              </a:rPr>
              <a:t>부록 · QA 김민호</a:t>
            </a:r>
            <a:endParaRPr lang="en-US" sz="975" dirty="0"/>
          </a:p>
        </p:txBody>
      </p:sp>
      <p:sp>
        <p:nvSpPr>
          <p:cNvPr id="4" name="Text 2"/>
          <p:cNvSpPr txBox="1"/>
          <p:nvPr/>
        </p:nvSpPr>
        <p:spPr>
          <a:xfrm>
            <a:off x="609600" y="1257300"/>
            <a:ext cx="9525000" cy="495300"/>
          </a:xfrm>
          <a:prstGeom prst="rect">
            <a:avLst/>
          </a:prstGeom>
          <a:noFill/>
          <a:ln/>
        </p:spPr>
        <p:txBody>
          <a:bodyPr wrap="square" lIns="0" tIns="0" rIns="0" bIns="0" rtlCol="0" anchor="ctr"/>
          <a:lstStyle/>
          <a:p>
            <a:pPr marL="0" indent="0">
              <a:buNone/>
            </a:pPr>
            <a:r>
              <a:rPr lang="en-US" sz="2850" b="1" kern="0" spc="-100" dirty="0">
                <a:solidFill>
                  <a:srgbClr val="0A0A0A"/>
                </a:solidFill>
                <a:latin typeface="Malgun Gothic" pitchFamily="34" charset="0"/>
                <a:ea typeface="Malgun Gothic" pitchFamily="34" charset="-122"/>
                <a:cs typeface="Malgun Gothic" pitchFamily="34" charset="-120"/>
              </a:rPr>
              <a:t>재현 방법</a:t>
            </a:r>
            <a:endParaRPr lang="en-US" sz="2850" dirty="0"/>
          </a:p>
        </p:txBody>
      </p:sp>
      <p:sp>
        <p:nvSpPr>
          <p:cNvPr id="5" name="Text 3"/>
          <p:cNvSpPr txBox="1"/>
          <p:nvPr/>
        </p:nvSpPr>
        <p:spPr>
          <a:xfrm>
            <a:off x="609600" y="1866900"/>
            <a:ext cx="9525000" cy="285750"/>
          </a:xfrm>
          <a:prstGeom prst="rect">
            <a:avLst/>
          </a:prstGeom>
          <a:noFill/>
          <a:ln/>
        </p:spPr>
        <p:txBody>
          <a:bodyPr wrap="square" lIns="0" tIns="0" rIns="0" bIns="0" rtlCol="0" anchor="ctr"/>
          <a:lstStyle/>
          <a:p>
            <a:pPr marL="0" indent="0">
              <a:buNone/>
            </a:pPr>
            <a:r>
              <a:rPr lang="en-US" sz="1275" dirty="0">
                <a:solidFill>
                  <a:srgbClr val="5F5F5F"/>
                </a:solidFill>
                <a:latin typeface="Malgun Gothic" pitchFamily="34" charset="0"/>
                <a:ea typeface="Malgun Gothic" pitchFamily="34" charset="-122"/>
                <a:cs typeface="Malgun Gothic" pitchFamily="34" charset="-120"/>
              </a:rPr>
              <a:t>같은 명령으로 같은 값이 나옵니다</a:t>
            </a:r>
            <a:endParaRPr lang="en-US" sz="1275" dirty="0"/>
          </a:p>
        </p:txBody>
      </p:sp>
      <p:sp>
        <p:nvSpPr>
          <p:cNvPr id="6" name="Shape 4"/>
          <p:cNvSpPr/>
          <p:nvPr/>
        </p:nvSpPr>
        <p:spPr>
          <a:xfrm>
            <a:off x="609600" y="2286000"/>
            <a:ext cx="10972800" cy="9525"/>
          </a:xfrm>
          <a:prstGeom prst="rect">
            <a:avLst/>
          </a:prstGeom>
          <a:solidFill>
            <a:srgbClr val="E5E7EB"/>
          </a:solidFill>
          <a:ln/>
        </p:spPr>
        <p:txBody>
          <a:bodyPr/>
          <a:lstStyle/>
          <a:p>
            <a:endParaRPr lang="ko-KR" altLang="en-US"/>
          </a:p>
        </p:txBody>
      </p:sp>
      <p:sp>
        <p:nvSpPr>
          <p:cNvPr id="7" name="Shape 5"/>
          <p:cNvSpPr/>
          <p:nvPr/>
        </p:nvSpPr>
        <p:spPr>
          <a:xfrm>
            <a:off x="609600" y="6324600"/>
            <a:ext cx="10972800" cy="9525"/>
          </a:xfrm>
          <a:prstGeom prst="rect">
            <a:avLst/>
          </a:prstGeom>
          <a:solidFill>
            <a:srgbClr val="E5E7EB"/>
          </a:solidFill>
          <a:ln/>
        </p:spPr>
        <p:txBody>
          <a:bodyPr/>
          <a:lstStyle/>
          <a:p>
            <a:endParaRPr lang="ko-KR" altLang="en-US"/>
          </a:p>
        </p:txBody>
      </p:sp>
      <p:sp>
        <p:nvSpPr>
          <p:cNvPr id="8" name="Text 6"/>
          <p:cNvSpPr txBox="1"/>
          <p:nvPr/>
        </p:nvSpPr>
        <p:spPr>
          <a:xfrm>
            <a:off x="10629900" y="6400800"/>
            <a:ext cx="952500" cy="171450"/>
          </a:xfrm>
          <a:prstGeom prst="rect">
            <a:avLst/>
          </a:prstGeom>
          <a:noFill/>
          <a:ln/>
        </p:spPr>
        <p:txBody>
          <a:bodyPr wrap="square" lIns="0" tIns="0" rIns="0" bIns="0" rtlCol="0" anchor="ctr"/>
          <a:lstStyle/>
          <a:p>
            <a:pPr marL="0" indent="0" algn="r">
              <a:buNone/>
            </a:pPr>
            <a:r>
              <a:rPr lang="en-US" sz="900" dirty="0">
                <a:solidFill>
                  <a:srgbClr val="A8AAB2"/>
                </a:solidFill>
                <a:latin typeface="Malgun Gothic" pitchFamily="34" charset="0"/>
                <a:ea typeface="Malgun Gothic" pitchFamily="34" charset="-122"/>
                <a:cs typeface="Malgun Gothic" pitchFamily="34" charset="-120"/>
              </a:rPr>
              <a:t>A7</a:t>
            </a:r>
            <a:endParaRPr lang="en-US" sz="900" dirty="0"/>
          </a:p>
        </p:txBody>
      </p:sp>
      <p:sp>
        <p:nvSpPr>
          <p:cNvPr id="9" name="Shape 7"/>
          <p:cNvSpPr/>
          <p:nvPr/>
        </p:nvSpPr>
        <p:spPr>
          <a:xfrm>
            <a:off x="609600" y="2590800"/>
            <a:ext cx="5372100" cy="1905000"/>
          </a:xfrm>
          <a:prstGeom prst="roundRect">
            <a:avLst>
              <a:gd name="adj" fmla="val 8000"/>
            </a:avLst>
          </a:prstGeom>
          <a:solidFill>
            <a:srgbClr val="F7F8FA"/>
          </a:solidFill>
          <a:ln/>
        </p:spPr>
        <p:txBody>
          <a:bodyPr/>
          <a:lstStyle/>
          <a:p>
            <a:endParaRPr lang="ko-KR" altLang="en-US"/>
          </a:p>
        </p:txBody>
      </p:sp>
      <p:sp>
        <p:nvSpPr>
          <p:cNvPr id="10" name="Text 8"/>
          <p:cNvSpPr txBox="1"/>
          <p:nvPr/>
        </p:nvSpPr>
        <p:spPr>
          <a:xfrm>
            <a:off x="8001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장기 백테스트</a:t>
            </a:r>
            <a:endParaRPr lang="en-US" sz="1425" dirty="0"/>
          </a:p>
        </p:txBody>
      </p:sp>
      <p:sp>
        <p:nvSpPr>
          <p:cNvPr id="11" name="Text 9"/>
          <p:cNvSpPr txBox="1"/>
          <p:nvPr/>
        </p:nvSpPr>
        <p:spPr>
          <a:xfrm>
            <a:off x="800100" y="3086100"/>
            <a:ext cx="4991100" cy="1257300"/>
          </a:xfrm>
          <a:prstGeom prst="rect">
            <a:avLst/>
          </a:prstGeom>
          <a:noFill/>
          <a:ln/>
        </p:spPr>
        <p:txBody>
          <a:bodyPr wrap="square" lIns="0" tIns="0" rIns="0" bIns="0" rtlCol="0" anchor="t"/>
          <a:lstStyle/>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cd 06_코드/backtest_long</a:t>
            </a:r>
            <a:endParaRPr lang="en-US" sz="1050" dirty="0"/>
          </a:p>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python run_long_backtest.py</a:t>
            </a:r>
            <a:endParaRPr lang="en-US" sz="1050" dirty="0"/>
          </a:p>
          <a:p>
            <a:pPr marL="0" indent="0">
              <a:lnSpc>
                <a:spcPct val="142000"/>
              </a:lnSpc>
              <a:buNone/>
            </a:pPr>
            <a:r>
              <a:rPr lang="en-US" sz="1050" dirty="0">
                <a:solidFill>
                  <a:srgbClr val="1D4ED8"/>
                </a:solidFill>
                <a:latin typeface="Malgun Gothic" pitchFamily="34" charset="0"/>
                <a:ea typeface="Malgun Gothic" pitchFamily="34" charset="-122"/>
                <a:cs typeface="Malgun Gothic" pitchFamily="34" charset="-120"/>
              </a:rPr>
              <a:t>    --start 2013-01-01 --end 2026-07-24</a:t>
            </a:r>
            <a:endParaRPr lang="en-US" sz="1050" dirty="0"/>
          </a:p>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python make_figures.py</a:t>
            </a:r>
            <a:endParaRPr lang="en-US" sz="1050" dirty="0"/>
          </a:p>
          <a:p>
            <a:pPr marL="0" indent="0">
              <a:lnSpc>
                <a:spcPct val="142000"/>
              </a:lnSpc>
              <a:buNone/>
            </a:pP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기간만 바꿔 재실행할 수 있습니다.</a:t>
            </a:r>
            <a:endParaRPr lang="en-US" sz="1050" dirty="0"/>
          </a:p>
        </p:txBody>
      </p:sp>
      <p:sp>
        <p:nvSpPr>
          <p:cNvPr id="12" name="Shape 10"/>
          <p:cNvSpPr/>
          <p:nvPr/>
        </p:nvSpPr>
        <p:spPr>
          <a:xfrm>
            <a:off x="6210300" y="2590800"/>
            <a:ext cx="5372100" cy="1905000"/>
          </a:xfrm>
          <a:prstGeom prst="roundRect">
            <a:avLst>
              <a:gd name="adj" fmla="val 8000"/>
            </a:avLst>
          </a:prstGeom>
          <a:solidFill>
            <a:srgbClr val="F7F8FA"/>
          </a:solidFill>
          <a:ln/>
        </p:spPr>
        <p:txBody>
          <a:bodyPr/>
          <a:lstStyle/>
          <a:p>
            <a:endParaRPr lang="ko-KR" altLang="en-US"/>
          </a:p>
        </p:txBody>
      </p:sp>
      <p:sp>
        <p:nvSpPr>
          <p:cNvPr id="13" name="Text 11"/>
          <p:cNvSpPr txBox="1"/>
          <p:nvPr/>
        </p:nvSpPr>
        <p:spPr>
          <a:xfrm>
            <a:off x="6400800" y="2781300"/>
            <a:ext cx="4991100" cy="228600"/>
          </a:xfrm>
          <a:prstGeom prst="rect">
            <a:avLst/>
          </a:prstGeom>
          <a:noFill/>
          <a:ln/>
        </p:spPr>
        <p:txBody>
          <a:bodyPr wrap="square" lIns="0" tIns="0" rIns="0" bIns="0" rtlCol="0" anchor="ctr"/>
          <a:lstStyle/>
          <a:p>
            <a:pPr marL="0" indent="0">
              <a:buNone/>
            </a:pPr>
            <a:r>
              <a:rPr lang="en-US" sz="1425" b="1" dirty="0">
                <a:solidFill>
                  <a:srgbClr val="0A0A0A"/>
                </a:solidFill>
                <a:latin typeface="Malgun Gothic" pitchFamily="34" charset="0"/>
                <a:ea typeface="Malgun Gothic" pitchFamily="34" charset="-122"/>
                <a:cs typeface="Malgun Gothic" pitchFamily="34" charset="-120"/>
              </a:rPr>
              <a:t>검증</a:t>
            </a:r>
            <a:endParaRPr lang="en-US" sz="1425" dirty="0"/>
          </a:p>
        </p:txBody>
      </p:sp>
      <p:sp>
        <p:nvSpPr>
          <p:cNvPr id="14" name="Text 12"/>
          <p:cNvSpPr txBox="1"/>
          <p:nvPr/>
        </p:nvSpPr>
        <p:spPr>
          <a:xfrm>
            <a:off x="6400800" y="3086100"/>
            <a:ext cx="4991100" cy="1257300"/>
          </a:xfrm>
          <a:prstGeom prst="rect">
            <a:avLst/>
          </a:prstGeom>
          <a:noFill/>
          <a:ln/>
        </p:spPr>
        <p:txBody>
          <a:bodyPr wrap="square" lIns="0" tIns="0" rIns="0" bIns="0" rtlCol="0" anchor="t"/>
          <a:lstStyle/>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python integrity_test.py</a:t>
            </a:r>
            <a:endParaRPr lang="en-US" sz="1050" dirty="0"/>
          </a:p>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python random_basket.py</a:t>
            </a:r>
            <a:endParaRPr lang="en-US" sz="1050" dirty="0"/>
          </a:p>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python factor_attribution.py</a:t>
            </a:r>
            <a:endParaRPr lang="en-US" sz="1050" dirty="0"/>
          </a:p>
          <a:p>
            <a:pPr marL="0" indent="0">
              <a:lnSpc>
                <a:spcPct val="142000"/>
              </a:lnSpc>
              <a:buNone/>
            </a:pPr>
            <a:r>
              <a:rPr lang="en-US" sz="1050" b="1" dirty="0">
                <a:solidFill>
                  <a:srgbClr val="1D4ED8"/>
                </a:solidFill>
                <a:latin typeface="Malgun Gothic" pitchFamily="34" charset="0"/>
                <a:ea typeface="Malgun Gothic" pitchFamily="34" charset="-122"/>
                <a:cs typeface="Malgun Gothic" pitchFamily="34" charset="-120"/>
              </a:rPr>
              <a:t>python turnover_cost.py</a:t>
            </a:r>
            <a:endParaRPr lang="en-US" sz="1050" dirty="0"/>
          </a:p>
          <a:p>
            <a:pPr marL="0" indent="0">
              <a:lnSpc>
                <a:spcPct val="142000"/>
              </a:lnSpc>
              <a:buNone/>
            </a:pPr>
            <a:endParaRPr lang="en-US" sz="1050" dirty="0"/>
          </a:p>
          <a:p>
            <a:pPr marL="0" indent="0">
              <a:lnSpc>
                <a:spcPct val="142000"/>
              </a:lnSpc>
              <a:buNone/>
            </a:pPr>
            <a:r>
              <a:rPr lang="en-US" sz="1050" dirty="0">
                <a:solidFill>
                  <a:srgbClr val="222222"/>
                </a:solidFill>
                <a:latin typeface="Malgun Gothic" pitchFamily="34" charset="0"/>
                <a:ea typeface="Malgun Gothic" pitchFamily="34" charset="-122"/>
                <a:cs typeface="Malgun Gothic" pitchFamily="34" charset="-120"/>
              </a:rPr>
              <a:t>PIT · 결정론성 · 플라시보 · 팩터 · 비용.</a:t>
            </a:r>
            <a:endParaRPr lang="en-US" sz="1050" dirty="0"/>
          </a:p>
        </p:txBody>
      </p:sp>
      <p:sp>
        <p:nvSpPr>
          <p:cNvPr id="15" name="Shape 13"/>
          <p:cNvSpPr/>
          <p:nvPr/>
        </p:nvSpPr>
        <p:spPr>
          <a:xfrm>
            <a:off x="609600" y="4724400"/>
            <a:ext cx="10972800" cy="1219200"/>
          </a:xfrm>
          <a:prstGeom prst="roundRect">
            <a:avLst>
              <a:gd name="adj" fmla="val 6250"/>
            </a:avLst>
          </a:prstGeom>
          <a:solidFill>
            <a:srgbClr val="FFFFFF"/>
          </a:solidFill>
          <a:ln w="12700">
            <a:solidFill>
              <a:srgbClr val="E5E7EB"/>
            </a:solidFill>
            <a:prstDash val="solid"/>
          </a:ln>
        </p:spPr>
        <p:txBody>
          <a:bodyPr/>
          <a:lstStyle/>
          <a:p>
            <a:endParaRPr lang="ko-KR" altLang="en-US"/>
          </a:p>
        </p:txBody>
      </p:sp>
      <p:sp>
        <p:nvSpPr>
          <p:cNvPr id="16" name="Shape 14"/>
          <p:cNvSpPr/>
          <p:nvPr/>
        </p:nvSpPr>
        <p:spPr>
          <a:xfrm>
            <a:off x="609600" y="4724400"/>
            <a:ext cx="10972800" cy="304800"/>
          </a:xfrm>
          <a:prstGeom prst="rect">
            <a:avLst/>
          </a:prstGeom>
          <a:solidFill>
            <a:srgbClr val="F7F8FA"/>
          </a:solidFill>
          <a:ln/>
        </p:spPr>
        <p:txBody>
          <a:bodyPr/>
          <a:lstStyle/>
          <a:p>
            <a:endParaRPr lang="ko-KR" altLang="en-US"/>
          </a:p>
        </p:txBody>
      </p:sp>
      <p:sp>
        <p:nvSpPr>
          <p:cNvPr id="17" name="Shape 15"/>
          <p:cNvSpPr/>
          <p:nvPr/>
        </p:nvSpPr>
        <p:spPr>
          <a:xfrm>
            <a:off x="609600" y="5029200"/>
            <a:ext cx="10972800" cy="9525"/>
          </a:xfrm>
          <a:prstGeom prst="rect">
            <a:avLst/>
          </a:prstGeom>
          <a:solidFill>
            <a:srgbClr val="E5E7EB"/>
          </a:solidFill>
          <a:ln/>
        </p:spPr>
        <p:txBody>
          <a:bodyPr/>
          <a:lstStyle/>
          <a:p>
            <a:endParaRPr lang="ko-KR" altLang="en-US"/>
          </a:p>
        </p:txBody>
      </p:sp>
      <p:sp>
        <p:nvSpPr>
          <p:cNvPr id="18" name="Text 16"/>
          <p:cNvSpPr txBox="1"/>
          <p:nvPr/>
        </p:nvSpPr>
        <p:spPr>
          <a:xfrm>
            <a:off x="742950" y="4724400"/>
            <a:ext cx="3464052" cy="30480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발표 수치의 출처</a:t>
            </a:r>
            <a:endParaRPr lang="en-US" sz="938" dirty="0"/>
          </a:p>
        </p:txBody>
      </p:sp>
      <p:sp>
        <p:nvSpPr>
          <p:cNvPr id="19" name="Text 17"/>
          <p:cNvSpPr txBox="1"/>
          <p:nvPr/>
        </p:nvSpPr>
        <p:spPr>
          <a:xfrm>
            <a:off x="4473702" y="4724400"/>
            <a:ext cx="6975348" cy="304800"/>
          </a:xfrm>
          <a:prstGeom prst="rect">
            <a:avLst/>
          </a:prstGeom>
          <a:noFill/>
          <a:ln/>
        </p:spPr>
        <p:txBody>
          <a:bodyPr wrap="square" lIns="0" tIns="0" rIns="0" bIns="0" rtlCol="0" anchor="ctr"/>
          <a:lstStyle/>
          <a:p>
            <a:pPr marL="0" indent="0" algn="l">
              <a:buNone/>
            </a:pPr>
            <a:r>
              <a:rPr lang="en-US" sz="938" b="1" dirty="0">
                <a:solidFill>
                  <a:srgbClr val="5F5F5F"/>
                </a:solidFill>
                <a:latin typeface="Malgun Gothic" pitchFamily="34" charset="0"/>
                <a:ea typeface="Malgun Gothic" pitchFamily="34" charset="-122"/>
                <a:cs typeface="Malgun Gothic" pitchFamily="34" charset="-120"/>
              </a:rPr>
              <a:t>파일</a:t>
            </a:r>
            <a:endParaRPr lang="en-US" sz="938" dirty="0"/>
          </a:p>
        </p:txBody>
      </p:sp>
      <p:sp>
        <p:nvSpPr>
          <p:cNvPr id="20" name="Text 18"/>
          <p:cNvSpPr txBox="1"/>
          <p:nvPr/>
        </p:nvSpPr>
        <p:spPr>
          <a:xfrm>
            <a:off x="742950" y="5029200"/>
            <a:ext cx="3464052" cy="3048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성과 · 구간 · 회차</a:t>
            </a:r>
            <a:endParaRPr lang="en-US" sz="1013" dirty="0"/>
          </a:p>
        </p:txBody>
      </p:sp>
      <p:sp>
        <p:nvSpPr>
          <p:cNvPr id="21" name="Text 19"/>
          <p:cNvSpPr txBox="1"/>
          <p:nvPr/>
        </p:nvSpPr>
        <p:spPr>
          <a:xfrm>
            <a:off x="4473702" y="5029200"/>
            <a:ext cx="6975348" cy="3048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out/long_run_meta.json</a:t>
            </a:r>
            <a:endParaRPr lang="en-US" sz="1013" dirty="0"/>
          </a:p>
        </p:txBody>
      </p:sp>
      <p:sp>
        <p:nvSpPr>
          <p:cNvPr id="22" name="Shape 20"/>
          <p:cNvSpPr/>
          <p:nvPr/>
        </p:nvSpPr>
        <p:spPr>
          <a:xfrm>
            <a:off x="742950" y="5334000"/>
            <a:ext cx="10706100" cy="9525"/>
          </a:xfrm>
          <a:prstGeom prst="rect">
            <a:avLst/>
          </a:prstGeom>
          <a:solidFill>
            <a:srgbClr val="EAECF0"/>
          </a:solidFill>
          <a:ln/>
        </p:spPr>
        <p:txBody>
          <a:bodyPr/>
          <a:lstStyle/>
          <a:p>
            <a:endParaRPr lang="ko-KR" altLang="en-US"/>
          </a:p>
        </p:txBody>
      </p:sp>
      <p:sp>
        <p:nvSpPr>
          <p:cNvPr id="23" name="Text 21"/>
          <p:cNvSpPr txBox="1"/>
          <p:nvPr/>
        </p:nvSpPr>
        <p:spPr>
          <a:xfrm>
            <a:off x="742950" y="5334000"/>
            <a:ext cx="3464052" cy="3048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PIT 무결성 · 결정론성</a:t>
            </a:r>
            <a:endParaRPr lang="en-US" sz="1013" dirty="0"/>
          </a:p>
        </p:txBody>
      </p:sp>
      <p:sp>
        <p:nvSpPr>
          <p:cNvPr id="24" name="Text 22"/>
          <p:cNvSpPr txBox="1"/>
          <p:nvPr/>
        </p:nvSpPr>
        <p:spPr>
          <a:xfrm>
            <a:off x="4473702" y="5334000"/>
            <a:ext cx="6975348" cy="3048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out/integrity_test.json</a:t>
            </a:r>
            <a:endParaRPr lang="en-US" sz="1013" dirty="0"/>
          </a:p>
        </p:txBody>
      </p:sp>
      <p:sp>
        <p:nvSpPr>
          <p:cNvPr id="25" name="Shape 23"/>
          <p:cNvSpPr/>
          <p:nvPr/>
        </p:nvSpPr>
        <p:spPr>
          <a:xfrm>
            <a:off x="742950" y="5638800"/>
            <a:ext cx="10706100" cy="9525"/>
          </a:xfrm>
          <a:prstGeom prst="rect">
            <a:avLst/>
          </a:prstGeom>
          <a:solidFill>
            <a:srgbClr val="EAECF0"/>
          </a:solidFill>
          <a:ln/>
        </p:spPr>
        <p:txBody>
          <a:bodyPr/>
          <a:lstStyle/>
          <a:p>
            <a:endParaRPr lang="ko-KR" altLang="en-US"/>
          </a:p>
        </p:txBody>
      </p:sp>
      <p:sp>
        <p:nvSpPr>
          <p:cNvPr id="26" name="Text 24"/>
          <p:cNvSpPr txBox="1"/>
          <p:nvPr/>
        </p:nvSpPr>
        <p:spPr>
          <a:xfrm>
            <a:off x="742950" y="5638800"/>
            <a:ext cx="3464052" cy="3048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랜덤 바스켓 · 팩터 귀속 · 회전율</a:t>
            </a:r>
            <a:endParaRPr lang="en-US" sz="1013" dirty="0"/>
          </a:p>
        </p:txBody>
      </p:sp>
      <p:sp>
        <p:nvSpPr>
          <p:cNvPr id="27" name="Text 25"/>
          <p:cNvSpPr txBox="1"/>
          <p:nvPr/>
        </p:nvSpPr>
        <p:spPr>
          <a:xfrm>
            <a:off x="4473702" y="5638800"/>
            <a:ext cx="6975348" cy="304800"/>
          </a:xfrm>
          <a:prstGeom prst="rect">
            <a:avLst/>
          </a:prstGeom>
          <a:noFill/>
          <a:ln/>
        </p:spPr>
        <p:txBody>
          <a:bodyPr wrap="square" lIns="0" tIns="0" rIns="0" bIns="0" rtlCol="0" anchor="ctr"/>
          <a:lstStyle/>
          <a:p>
            <a:pPr marL="0" indent="0" algn="l">
              <a:buNone/>
            </a:pPr>
            <a:r>
              <a:rPr lang="en-US" sz="1013" dirty="0">
                <a:solidFill>
                  <a:srgbClr val="0A0A0A"/>
                </a:solidFill>
                <a:latin typeface="Malgun Gothic" pitchFamily="34" charset="0"/>
                <a:ea typeface="Malgun Gothic" pitchFamily="34" charset="-122"/>
                <a:cs typeface="Malgun Gothic" pitchFamily="34" charset="-120"/>
              </a:rPr>
              <a:t>out/random_basket.json · factor_attribution.json · turnover_cost.json</a:t>
            </a:r>
            <a:endParaRPr lang="en-US" sz="101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4344</Words>
  <Application>Microsoft Office PowerPoint</Application>
  <PresentationFormat>와이드스크린</PresentationFormat>
  <Paragraphs>944</Paragraphs>
  <Slides>35</Slides>
  <Notes>33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35</vt:i4>
      </vt:variant>
    </vt:vector>
  </HeadingPairs>
  <TitlesOfParts>
    <vt:vector size="40" baseType="lpstr">
      <vt:lpstr>Google Sans Text</vt:lpstr>
      <vt:lpstr>Malgun Gothic</vt: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규칙 기반 한·미 3테마 패시브 커스텀 인덱스</dc:title>
  <dc:subject>PptxGenJS Presentation</dc:subject>
  <dc:creator>AI 퀀트 3기</dc:creator>
  <cp:lastModifiedBy>추주원</cp:lastModifiedBy>
  <cp:revision>3</cp:revision>
  <dcterms:created xsi:type="dcterms:W3CDTF">2026-08-02T10:37:27Z</dcterms:created>
  <dcterms:modified xsi:type="dcterms:W3CDTF">2026-08-02T14:42:53Z</dcterms:modified>
</cp:coreProperties>
</file>