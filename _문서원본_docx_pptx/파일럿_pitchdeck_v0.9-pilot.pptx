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8"/>
    <p:sldId id="265" r:id="rId11"/>
    <p:sldId id="266" r:id="rId12"/>
  </p:sldIdLst>
  <p:notesMasterIdLst>
    <p:notesMasterId r:id="rId1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3조 한·미 우주·AI·에너지 테마형 지수 발표입니다. 종목을 추천하는 상품이 아니라, 규칙을 공개하고 기록으로 증명하는 테마 인덱스라는 점을 먼저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테마는 감이 아니라 5개 측정 가능한 기준으로 골랐습니다. 특히 공식 공시로 테마 경계를 판정할 수 있다는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테마 투자의 근본 문제는 신뢰입니다. 우리는 판정을 공식 공시와 사전 규칙에 맡기고, 성과 확인 전에 규칙을 동결해 사후 조작을 막습니다.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구조는 단순합니다. 테마 3개를 1:1:1, 지역을 한국·미국 50:50으로 나눠 6셀, 각 셀에 1/6을 배분합니다. 비교 기준은 KOSPI200과 Russell3000을 절반씩 섞은 공식 합성 BM입니다.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파이프라인은 유니버스에서 시작해 두 단계 게이트를 거쳐 6셀 가중, 지수와 BM을 동시에 산출합니다. 핵심은 이 엔진이 개념이 아니라 실제로 돌아가 수치를 냈다는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차별점은 세 가지 신뢰 장치입니다. 결정로그로 규칙을 동결하고, 데이터사전으로 재현성을 보장하고, GitHub로 전 과정을 공개합니다.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 지수는 27% 올랐지만 합성 BM은 42% 올라, 누적으로 147포인트 뒤졌습니다. 초반엔 앞서다 5월부터 벌어집니다. 다시 강조하면 이건 성과 판정이 아니라 파이프라인 검증입니다.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뒤진 이유는 다섯 가지 구조적 요인입니다. 핵심은 동일가중과 좁은 유니버스, 그리고 단일종목 집중입니다. 그런데 이 요인들은 전부 우리가 이미 미결로 남겨둔, 고칠 수 있는 파라미터입니다.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 레버는 여섯 가지입니다. 가장 큰 건 가중 방식과 상한 도입, 유니버스 확장입니다. 전부 이미 결정로그에 미결 안건 번호로 등록돼 있어서, 사후 조작이 아니라 예정된 검증이라는 점이 우리 방법론의 일관성입니다.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리스크는 테마 집중, 환율, 소수 종목 셀, 수주 변동성, PR 한계입니다. 전부 문서에 그대로 기록해 투명하게 공개합니다.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구조 확정, 데이터사전, 엔진 파일럿까지 끝냈고, 다음은 비교시험과 정식 백테스트를 거쳐 Mandate v1.0으로 갑니다. 4인 구간 담당으로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중간 점검 · 2026-07-24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우주·AI·에너지 테마형 지수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인덱스 엔진 기반 투자 상품화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“규칙이 고르고, 기록이 증명하는 테마 투자”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3조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조장 권보성 · 김근형 · 추주원 · 김민호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패시브 커스텀 인덱스 · 교육용 가상 상품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세 테마인가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공통으로 존재하는, 공식 공시로 경계를 판정할 수 있는 밸류체인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7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 · 방산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위성·발사체·방산 수주 산업. 한미 모두 상장 밸류체인 존재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7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07992" y="2395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로보틱스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07992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반도체·네트워크·자동화. 데이터·유동성 확보 용이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02752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7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02752" y="2395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· 전력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02752" y="2880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전력기기·인프라·원전. 정책·수요 구조 명확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5축 (D-04 확정)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solidFill>
            <a:srgbClr val="F4F6FB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데이터 확보 가능성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유동성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투자가능성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밸류체인 연결성  </a:t>
            </a:r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공식 공시로 판정 가능한 테마 경계 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‘유망·성장 전망’ 같은 시기 의존 표현이 아니라 측정 가능성 중심으로 테마를 정의합니다.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— 테마 투자의 신뢰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FBEBEA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테마 투자의 문제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분류가 재량적 — 사람마다 다른 편입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35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편입 근거가 불투명 — 왜 들어갔는지 모름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941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규칙 변경을 검증할 수 없음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3525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성과가 좋아 보이게 규칙을 바꿔도 확인 불가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EAF0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답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판정을 사람의 감이 아니라 공식 공시 + 사전 규칙으로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035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접수번호·원문 위치까지 기록 (PIT·역추적)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6941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확인 전에 규칙을 동결 (결정로그)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3525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5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같은 결과를 재현 (데이터사전 v0.2)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지수는 종목을 추천하지 않는다. 규칙을 공개한다.”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개요 — 6셀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1:1:1 × 지역 50:50 = 6셀, 각 1/6 동일 목표비중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37360" y="16916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837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  </a:t>
            </a:r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우주·방산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240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 = 16.7%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837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  </a:t>
            </a:r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AI·로보틱스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240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 = 16.7%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EAF0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18379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  </a:t>
            </a:r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에너지·전력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0" y="2240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 = 16.7%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737360" y="292608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BF3E6"/>
          </a:solidFill>
          <a:ln w="12700">
            <a:solidFill>
              <a:srgbClr val="B07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3072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  </a:t>
            </a:r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우주·방산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28800" y="3474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 = 16.7%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17720" y="292608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BF3E6"/>
          </a:solidFill>
          <a:ln w="12700">
            <a:solidFill>
              <a:srgbClr val="B07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072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  </a:t>
            </a:r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AI·로보틱스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3474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 = 16.7%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98080" y="292608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BF3E6"/>
          </a:solidFill>
          <a:ln w="12700">
            <a:solidFill>
              <a:srgbClr val="B07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072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  </a:t>
            </a:r>
            <a:pPr algn="ctr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에너지·전력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34747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1/6 = 16.7%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178308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" y="30175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11064240" cy="411480"/>
          </a:xfrm>
          <a:prstGeom prst="rect">
            <a:avLst/>
          </a:prstGeom>
          <a:solidFill>
            <a:srgbClr val="F4F6FB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방식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· 원화 · 무헤지 · 기준값 1,000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정기변경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 리밸런싱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5486400"/>
            <a:ext cx="11064240" cy="411480"/>
          </a:xfrm>
          <a:prstGeom prst="rect">
            <a:avLst/>
          </a:prstGeom>
          <a:solidFill>
            <a:srgbClr val="F4F6FB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비교지수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합성 BM = KOSPI200 PR 50% + Russell3000 PR 50%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성격  </a:t>
            </a:r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패시브 · 교육용 가상 상품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— 지수가 만들어지는 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유니버스에서 지수·BM 동시 산출까지, 재현 가능한 파이프라인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8288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유니버스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(한·미 보통주)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84832" y="18288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182880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14016" y="18288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적격성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05072" y="18288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4256" y="18288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게이트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시즈닝·ADTV90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25312" y="18288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8288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판정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6셀 배정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45552" y="18288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18288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가중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(1/6)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65792" y="1828800"/>
            <a:ext cx="292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7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058400" y="1828800"/>
            <a:ext cx="162763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94976" y="182880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지수·BM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산출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5532120" cy="2286000"/>
          </a:xfrm>
          <a:prstGeom prst="roundRect">
            <a:avLst>
              <a:gd name="adj" fmla="val 3600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장치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상태코드 6종 (거래·무거래·정지·휴장·결측·미상장)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22960" y="4663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 — 자료마감 이전 자료만 사용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5166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rule_version 일치 검사 · 원천값과 계산값 분리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172200" y="3520440"/>
            <a:ext cx="5532120" cy="2286000"/>
          </a:xfrm>
          <a:prstGeom prst="roundRect">
            <a:avLst>
              <a:gd name="adj" fmla="val 3600"/>
            </a:avLst>
          </a:prstGeom>
          <a:solidFill>
            <a:srgbClr val="EAF0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4652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엔진 v0 — 실제 실행 완료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6520" y="41605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18종목(한 9 + 미 9) 드라이런이 end-to-end로 완주해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지수·합성BM·구성내역·가중·ADTV90 원장을 실제로 산출했습니다.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BM은 KRX 공식 KOSPI200 반영.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— 투명성 · 재현성 · 추종가능성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프로세스 자랑이 아니라 ‘상품 신뢰의 근거’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4767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83794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결정로그 단일 원본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29514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D-01~D-13. 성과 확인 전 규칙 동결, 사후 유리한 변경 금지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31927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45920" y="320954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사전 v0.2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66674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필드·상태코드·산식의 단일 정의 — 누구나 같은 결과 재현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112471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69087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458114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공개 저장소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503834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방법론·결정 이력 전체 열람 + 위키 시각화 페이지 공개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투자자는 ‘왜 이 종목이 들어갔는지’를 직접 확인. 특성 비교군(ARKK·XLU 등 테마 ETF)과의 구성·노출도 비교는 정식 백테스트에서 제시합니다.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결과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2026-04-01 = 1,000 리베이스 · 리밸 2회 · rule_version v0.9-pilot(잠정)</a:t>
            </a:r>
            <a:endParaRPr lang="en-US" sz="1300" dirty="0"/>
          </a:p>
        </p:txBody>
      </p:sp>
      <p:pic>
        <p:nvPicPr>
          <p:cNvPr id="5" name="Image 0" descr="/tmp/chart_index_b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7589520" cy="37124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554480"/>
            <a:ext cx="34290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160934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1,271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0104120" y="1609344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지수 종가
</a:t>
            </a:r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+27.11%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75320" y="2496312"/>
            <a:ext cx="34290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0" y="2551176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07A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1,418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104120" y="2551176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BM 종가
</a:t>
            </a:r>
            <a:pPr algn="r" indent="0" marL="0">
              <a:buNone/>
            </a:pPr>
            <a:r>
              <a:rPr lang="en-US" sz="1100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+41.78%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75320" y="3438144"/>
            <a:ext cx="34290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12480" y="34930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2C2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-146.6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0104120" y="349300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alpha
</a:t>
            </a:r>
            <a:pPr algn="r" indent="0" marL="0">
              <a:buNone/>
            </a:pPr>
            <a:r>
              <a:rPr lang="en-US" sz="1100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대비 언더퍼폼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75320" y="4379976"/>
            <a:ext cx="342900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12480" y="4434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F3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/ 18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0104120" y="44348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종목
</a:t>
            </a:r>
            <a:pPr algn="r" indent="0" marL="0">
              <a:buNone/>
            </a:pPr>
            <a:r>
              <a:rPr lang="en-US" sz="1100" dirty="0">
                <a:solidFill>
                  <a:srgbClr val="1A7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6셀 모두 충족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파일럿은 잠정 규칙(v0.9-pilot)의 파이프라인 검증 산출물이며 정식 백테스트가 아닙니다. KRX 공식 BM은 야후 예비값과 180일 0.00% 일치.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해석 — 왜 합성 BM에 뒤졌나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언더퍼폼은 실패가 아니라 잠정 규칙의 ‘진단 신호’</a:t>
            </a:r>
            <a:endParaRPr lang="en-US" sz="1300" dirty="0"/>
          </a:p>
        </p:txBody>
      </p:sp>
      <p:pic>
        <p:nvPicPr>
          <p:cNvPr id="5" name="Image 0" descr="/tmp/chart_alp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669280" cy="18470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520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먼저, 성격의 차이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5623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BM은 ‘이기는 대상’이 아니라 비교 기준입니다. 수천 종목 시총가중 광의지수가 강세장에서 15종목 집중·동일가중 테마지수를 앞서는 건 구조적으로 예상되는 결과입니다.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1554480"/>
            <a:ext cx="5303520" cy="4343400"/>
          </a:xfrm>
          <a:prstGeom prst="roundRect">
            <a:avLst>
              <a:gd name="adj" fmla="val 1895"/>
            </a:avLst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 요인 (파일럿 근거)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29400" y="2240280"/>
            <a:ext cx="384048" cy="384048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0" y="21945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동일가중 vs 시총가중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강세 구간에서 대형 승자 비중이 희석됨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29400" y="2953512"/>
            <a:ext cx="384048" cy="384048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0" y="29077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유니버스(15) vs 광의 BM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밖 시장 승자를 담지 못함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29400" y="3666744"/>
            <a:ext cx="384048" cy="384048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132320" y="362102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유동성·시즈닝 제외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P10 절단·신규상장(SPCX)으로 상승 종목 일부 누락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29400" y="4379976"/>
            <a:ext cx="384048" cy="384048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32320" y="433425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 우주방산 1종목 16.7% 집중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종목 성과에 셀 전체가 좌우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29400" y="5093208"/>
            <a:ext cx="384048" cy="384048"/>
          </a:xfrm>
          <a:prstGeom prst="ellipse">
            <a:avLst/>
          </a:prstGeom>
          <a:solidFill>
            <a:srgbClr val="9B2C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132320" y="504748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지역·테마 고정비중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50:50·1:1:1 고정으로 상대강세 시장 비중 조정 불가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 — 이미 미결 안건으로 등록됨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96926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요인 하나하나가 정식 백테스트에서 검증할 결정 항목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56232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7282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 방식 정교화 (H)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셀 내 동일가중(잠정) → 유동성·시총 가중으로 승자 포착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856232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32320" y="17282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상한·최소 종목수 (CAP)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2130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단일종목 집중 완화, 셀 최소 종목수 요건 도입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26664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898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유니버스 확장 + 코스닥 검토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3009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시장 스크리닝으로 셀당 종목수 확보, 절단 손실 축소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2770632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026664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0" y="2898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하한 절대금액 전환 (#16)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330098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9종목 P10 기계적 절단 → 유동성 기준 정교화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197096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2588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리밸·시즈닝 창 조정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4714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성장주 편입 시점 개선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941064"/>
            <a:ext cx="55778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4197096"/>
            <a:ext cx="502920" cy="502920"/>
          </a:xfrm>
          <a:prstGeom prst="ellipse">
            <a:avLst/>
          </a:prstGeom>
          <a:solidFill>
            <a:srgbClr val="1A7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백테스트 튜닝 (#15·#19)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32320" y="44714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0반영 vs 분모제외·8시나리오 비교 — 사전 지정된 의결의 입력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solidFill>
            <a:srgbClr val="FBF3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메시지: 개선은 규칙을 사후에 바꾸는 게 아니라, 사전에 등록된 미결 안건을 정식 백테스트에서 검증·확정하는 것입니다.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한계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집중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 테마·종목 편중으로 분산 효과 제한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190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환율(무헤지)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762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원화 환산, 달러 변동이 그대로 반영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1363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 종목 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593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셀 종목수 부족 → 단일 종목 영향 확대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1363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유동성·수주 변동성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593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방산·우주 수주 산업 특유의 실적 변동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553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기준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0109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배당 미포함 — 총수익 대비 과소평가 가능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4553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백테스트 한계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50109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자료 기반, 미래 성과 보장 아님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한계는 숨기지 않고 간이투자설명서·결정로그에 그대로 기록합니다.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로드맵과 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30개 전 항목 구조 확정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데이터사전 v0.2 · 결정로그 D-01~13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v0 파일럿 완주 + KRX 공식 BM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시각화 페이지 위키 공개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· 필요 자원 (Ask)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#15·#19 비교시험 → 하한 절대금액 승인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시장 스크리닝 · 코스닥 포함 결정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가중(H)·상한 확정 → 정식 백테스트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▸"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 독립재현·수기검산 → Mandate v1.0 (필요: 전 시장 데이터·검증 시간·강사 피드백)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105156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담당 (작업담당표 v1.2)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2651760" cy="914400"/>
          </a:xfrm>
          <a:prstGeom prst="rect">
            <a:avLst/>
          </a:prstGeom>
          <a:solidFill>
            <a:srgbClr val="2730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김근형
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공시·PIT·검토도구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5074920"/>
            <a:ext cx="2651760" cy="914400"/>
          </a:xfrm>
          <a:prstGeom prst="rect">
            <a:avLst/>
          </a:prstGeom>
          <a:solidFill>
            <a:srgbClr val="2730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추주원
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인디케이터·테마 조사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5074920"/>
            <a:ext cx="2651760" cy="914400"/>
          </a:xfrm>
          <a:prstGeom prst="rect">
            <a:avLst/>
          </a:prstGeom>
          <a:solidFill>
            <a:srgbClr val="2730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권보성
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엔진·BM·산출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52560" y="5074920"/>
            <a:ext cx="2651760" cy="914400"/>
          </a:xfrm>
          <a:prstGeom prst="rect">
            <a:avLst/>
          </a:prstGeom>
          <a:solidFill>
            <a:srgbClr val="2730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김민호
</a:t>
            </a:r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QA·검증·발표 총괄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종목을 추천하지 않는다. 규칙을 공개한다.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70432" y="38404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규모와 비즈니스 모델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190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TAM — 글로벌 테마 ETF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테마 ETF·인덱스 시장 전체 [규모 수치: 조사 예정]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190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 — 테마 인덱스 상품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762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한·미 상장 테마 ETF와 지수 라이선스 시장 [조사 예정]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1363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SOM — 한·미 3테마 수요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593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우주·방산 / AI·로보틱스 / 에너지·전력 투자 수요 [조사 예정]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1363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 ① 지수 라이선스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593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상품사에 지수 사용료 과금 — 방법론·기록이 라이선스 가치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553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모델 ② 추종 ETF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50109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추종 상품 총보수 — 유사 테마 ETF 보수 참고치 비교 예정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389120"/>
            <a:ext cx="55778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76200" dist="25400" dir="5400000">
              <a:srgbClr val="AAB0BE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45537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 — 교육용 가상 상품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7960" y="501091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발행·판매·권유 아님 — 상품화 서사는 가상 설정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수치는 출처 확인 후 기입합니다 — 임의 숫자 금지 원칙(결정로그).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2026-07-24T02:34:05Z</dcterms:created>
  <dcterms:modified xsi:type="dcterms:W3CDTF">2026-07-24T02:34:05Z</dcterms:modified>
</cp:coreProperties>
</file>